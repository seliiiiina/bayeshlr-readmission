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gkvR3GR1+VosikRf1VqgcVH6d2G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8369FA3-FD99-444F-81C0-7513499D8BCF}">
  <a:tblStyle styleId="{B8369FA3-FD99-444F-81C0-7513499D8BC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582"/>
    <p:restoredTop sz="65638"/>
  </p:normalViewPr>
  <p:slideViewPr>
    <p:cSldViewPr snapToGrid="0">
      <p:cViewPr varScale="1">
        <p:scale>
          <a:sx n="76" d="100"/>
          <a:sy n="76" d="100"/>
        </p:scale>
        <p:origin x="1064" y="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900">
                <a:solidFill>
                  <a:schemeClr val="dk1"/>
                </a:solidFill>
                <a:latin typeface="Calibri"/>
                <a:ea typeface="Calibri"/>
                <a:cs typeface="Calibri"/>
                <a:sym typeface="Calibri"/>
              </a:rPr>
              <a:t>Hi everyone. Our project is on Bayesian Hierarchical Logistic Regression for 30-Day Hospital Readmission. Specifically, we're looking at the role of medical specialty among diabetic patients. My name is Selina, and this is my partner Zhouhan.</a:t>
            </a:r>
            <a:endParaRPr/>
          </a:p>
        </p:txBody>
      </p:sp>
      <p:sp>
        <p:nvSpPr>
          <p:cNvPr id="83" name="Google Shape;83;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900">
                <a:latin typeface="Calibri"/>
                <a:ea typeface="Calibri"/>
                <a:cs typeface="Calibri"/>
                <a:sym typeface="Calibri"/>
              </a:rPr>
              <a:t>First, I’ll introduce the motivation and research question.</a:t>
            </a:r>
            <a:endParaRPr sz="900">
              <a:latin typeface="Calibri"/>
              <a:ea typeface="Calibri"/>
              <a:cs typeface="Calibri"/>
              <a:sym typeface="Calibri"/>
            </a:endParaRPr>
          </a:p>
        </p:txBody>
      </p:sp>
      <p:sp>
        <p:nvSpPr>
          <p:cNvPr id="93" name="Google Shape;9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sz="900">
                <a:solidFill>
                  <a:schemeClr val="dk1"/>
                </a:solidFill>
                <a:latin typeface="Calibri"/>
                <a:ea typeface="Calibri"/>
                <a:cs typeface="Calibri"/>
                <a:sym typeface="Calibri"/>
              </a:rPr>
              <a:t>So why do we care about hospital readmissions? In the US, unplanned readmissions cost over 26 billion dollars annually. </a:t>
            </a:r>
            <a:r>
              <a:rPr lang="en-US" sz="900" b="1">
                <a:solidFill>
                  <a:schemeClr val="dk1"/>
                </a:solidFill>
                <a:latin typeface="Calibri"/>
                <a:ea typeface="Calibri"/>
                <a:cs typeface="Calibri"/>
                <a:sym typeface="Calibri"/>
              </a:rPr>
              <a:t>This is a huge burden on the healthcare system.</a:t>
            </a:r>
            <a:endParaRPr sz="900" b="1">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r>
              <a:rPr lang="en-US" sz="900">
                <a:solidFill>
                  <a:schemeClr val="dk1"/>
                </a:solidFill>
                <a:latin typeface="Calibri"/>
                <a:ea typeface="Calibri"/>
                <a:cs typeface="Calibri"/>
                <a:sym typeface="Calibri"/>
              </a:rPr>
              <a:t>Under the Centers for Medicare &amp; Medicaid Services Hospital Readmissions Reduction Program, hospitals face financial penalties for excess readmissions. As a result, the 30-day readmission rate has become a central quality metric tied to Medicare reimbursement. Among all patient populations, Diabetes Mellitus patients represent a particularly high-risk population, characterized by complex comorbidities, frequent hospitalizations, and care spanning multiple specialties </a:t>
            </a:r>
            <a:endParaRPr sz="900">
              <a:solidFill>
                <a:schemeClr val="dk1"/>
              </a:solidFill>
              <a:latin typeface="Calibri"/>
              <a:ea typeface="Calibri"/>
              <a:cs typeface="Calibri"/>
              <a:sym typeface="Calibri"/>
            </a:endParaRPr>
          </a:p>
          <a:p>
            <a:pPr marL="0" lvl="0" indent="0" algn="l" rtl="0">
              <a:lnSpc>
                <a:spcPct val="150000"/>
              </a:lnSpc>
              <a:spcBef>
                <a:spcPts val="1200"/>
              </a:spcBef>
              <a:spcAft>
                <a:spcPts val="0"/>
              </a:spcAft>
              <a:buNone/>
            </a:pPr>
            <a:r>
              <a:rPr lang="en-US" sz="900">
                <a:solidFill>
                  <a:schemeClr val="dk1"/>
                </a:solidFill>
                <a:latin typeface="Calibri"/>
                <a:ea typeface="Calibri"/>
                <a:cs typeface="Calibri"/>
                <a:sym typeface="Calibri"/>
              </a:rPr>
              <a:t>Among all patient populations, diabetic patients are particularly high-risk. They tend to have multiple comorbidities, require frequent hospitalizations, and their care often spans multiple medical specialties.</a:t>
            </a:r>
            <a:endParaRPr sz="900">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endParaRPr sz="900">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r>
              <a:rPr lang="en-US" sz="900" b="1">
                <a:solidFill>
                  <a:schemeClr val="dk1"/>
                </a:solidFill>
                <a:latin typeface="Calibri"/>
                <a:ea typeface="Calibri"/>
                <a:cs typeface="Calibri"/>
                <a:sym typeface="Calibri"/>
              </a:rPr>
              <a:t>This cross-specialty nature of diabetic care is what motivated our central question: does the admitting specialty itself affect whether a patient gets readmitted?</a:t>
            </a:r>
            <a:endParaRPr sz="900" b="1">
              <a:solidFill>
                <a:schemeClr val="dk1"/>
              </a:solidFill>
              <a:latin typeface="Calibri"/>
              <a:ea typeface="Calibri"/>
              <a:cs typeface="Calibri"/>
              <a:sym typeface="Calibri"/>
            </a:endParaRPr>
          </a:p>
        </p:txBody>
      </p:sp>
      <p:sp>
        <p:nvSpPr>
          <p:cNvPr id="101" name="Google Shape;10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900" b="1">
                <a:latin typeface="Calibri"/>
                <a:ea typeface="Calibri"/>
                <a:cs typeface="Calibri"/>
                <a:sym typeface="Calibri"/>
              </a:rPr>
              <a:t>We use a Bayesian hierarchical model for three main reasons:</a:t>
            </a:r>
            <a:endParaRPr sz="900" b="1">
              <a:latin typeface="Calibri"/>
              <a:ea typeface="Calibri"/>
              <a:cs typeface="Calibri"/>
              <a:sym typeface="Calibri"/>
            </a:endParaRPr>
          </a:p>
          <a:p>
            <a:pPr marL="0" lvl="0" indent="0" algn="l" rtl="0">
              <a:lnSpc>
                <a:spcPct val="115000"/>
              </a:lnSpc>
              <a:spcBef>
                <a:spcPts val="1200"/>
              </a:spcBef>
              <a:spcAft>
                <a:spcPts val="1200"/>
              </a:spcAft>
              <a:buNone/>
            </a:pPr>
            <a:r>
              <a:rPr lang="en-US" sz="900">
                <a:latin typeface="Calibri"/>
                <a:ea typeface="Calibri"/>
                <a:cs typeface="Calibri"/>
                <a:sym typeface="Calibri"/>
              </a:rPr>
              <a:t>Partial pooling stabilizes estimates for small specialties.</a:t>
            </a:r>
            <a:br>
              <a:rPr lang="en-US" sz="900">
                <a:latin typeface="Calibri"/>
                <a:ea typeface="Calibri"/>
                <a:cs typeface="Calibri"/>
                <a:sym typeface="Calibri"/>
              </a:rPr>
            </a:br>
            <a:r>
              <a:rPr lang="en-US" sz="900">
                <a:latin typeface="Calibri"/>
                <a:ea typeface="Calibri"/>
                <a:cs typeface="Calibri"/>
                <a:sym typeface="Calibri"/>
              </a:rPr>
              <a:t>It provides coherent uncertainty via posterior intervals.</a:t>
            </a:r>
            <a:br>
              <a:rPr lang="en-US" sz="900">
                <a:latin typeface="Calibri"/>
                <a:ea typeface="Calibri"/>
                <a:cs typeface="Calibri"/>
                <a:sym typeface="Calibri"/>
              </a:rPr>
            </a:br>
            <a:r>
              <a:rPr lang="en-US" sz="900">
                <a:latin typeface="Calibri"/>
                <a:ea typeface="Calibri"/>
                <a:cs typeface="Calibri"/>
                <a:sym typeface="Calibri"/>
              </a:rPr>
              <a:t>And also it enables principled model evaluation.</a:t>
            </a:r>
            <a:endParaRPr sz="900">
              <a:latin typeface="Calibri"/>
              <a:ea typeface="Calibri"/>
              <a:cs typeface="Calibri"/>
              <a:sym typeface="Calibri"/>
            </a:endParaRPr>
          </a:p>
        </p:txBody>
      </p:sp>
      <p:sp>
        <p:nvSpPr>
          <p:cNvPr id="113" name="Google Shape;11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sz="900" b="1">
                <a:solidFill>
                  <a:schemeClr val="dk1"/>
                </a:solidFill>
                <a:latin typeface="Calibri"/>
                <a:ea typeface="Calibri"/>
                <a:cs typeface="Calibri"/>
                <a:sym typeface="Calibri"/>
              </a:rPr>
              <a:t>This slide gives you the big picture of our entire analysis pipeline</a:t>
            </a:r>
            <a:r>
              <a:rPr lang="en-US" sz="900">
                <a:solidFill>
                  <a:schemeClr val="dk1"/>
                </a:solidFill>
                <a:latin typeface="Calibri"/>
                <a:ea typeface="Calibri"/>
                <a:cs typeface="Calibri"/>
                <a:sym typeface="Calibri"/>
              </a:rPr>
              <a:t> — from data cleaning through feature engineering, EDA, model specification, posterior derivation, MCMC sampling, diagnostics, inference, model evaluation, and finally sensitivity analysis.</a:t>
            </a:r>
            <a:r>
              <a:rPr lang="en-US" sz="900" b="1">
                <a:solidFill>
                  <a:schemeClr val="dk1"/>
                </a:solidFill>
                <a:latin typeface="Calibri"/>
                <a:ea typeface="Calibri"/>
                <a:cs typeface="Calibri"/>
                <a:sym typeface="Calibri"/>
              </a:rPr>
              <a:t> We'll walk through each of these in the following sections.</a:t>
            </a:r>
            <a:endParaRPr sz="900" b="1">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138" name="Google Shape;13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d18d3d823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900" b="1">
                <a:solidFill>
                  <a:schemeClr val="dk1"/>
                </a:solidFill>
                <a:latin typeface="Calibri"/>
                <a:ea typeface="Calibri"/>
                <a:cs typeface="Calibri"/>
                <a:sym typeface="Calibri"/>
              </a:rPr>
              <a:t>Our data comes from the UCI Diabetes 130-US Hospitals dataset, covering encounters from 1999 to 2008 across 130 hospitals. </a:t>
            </a:r>
            <a:br>
              <a:rPr lang="en-US" sz="900" b="1">
                <a:solidFill>
                  <a:schemeClr val="dk1"/>
                </a:solidFill>
                <a:latin typeface="Calibri"/>
                <a:ea typeface="Calibri"/>
                <a:cs typeface="Calibri"/>
                <a:sym typeface="Calibri"/>
              </a:rPr>
            </a:b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r>
              <a:rPr lang="en-US" sz="900" b="1">
                <a:solidFill>
                  <a:schemeClr val="dk1"/>
                </a:solidFill>
                <a:latin typeface="Calibri"/>
                <a:ea typeface="Calibri"/>
                <a:cs typeface="Calibri"/>
                <a:sym typeface="Calibri"/>
              </a:rPr>
              <a:t>Let me quickly walk through our data processing pipeline. We started with about 102,000 raw encounters. We removed duplicate encounter IDs, excluded patients who were discharged to hospice or expired, and excluded encounters with unknown specialty — that was about 45 percent of the data, which is a limitation we'll discuss later. We also dropped variables with very high missingness, like weight which was missing 97 percent of the time. For specialty regrouping, we consolidated 73 raw specialties into 19 groups using a threshold of at least 250 encounters per group. For feature engineering, we standardized 10 continuous variables to z-scores and created 33 binary and categorical features from demographics, ICD-9 diagnosis codes, and medication indicators. </a:t>
            </a: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Clr>
                <a:schemeClr val="dk1"/>
              </a:buClr>
              <a:buSzPts val="1100"/>
              <a:buFont typeface="Arial"/>
              <a:buNone/>
            </a:pPr>
            <a:r>
              <a:rPr lang="en-US" sz="900" b="1">
                <a:solidFill>
                  <a:schemeClr val="dk1"/>
                </a:solidFill>
                <a:latin typeface="Calibri"/>
                <a:ea typeface="Calibri"/>
                <a:cs typeface="Calibri"/>
                <a:sym typeface="Calibri"/>
              </a:rPr>
              <a:t>After cleaning, our analytic cohort has about 38,000 encounters, spread across 19 medical specialties, with 43 covariates. The overall 30-day readmission rate is around 9.6 percent. </a:t>
            </a:r>
            <a:endParaRPr sz="900" b="1">
              <a:solidFill>
                <a:schemeClr val="dk1"/>
              </a:solidFill>
              <a:latin typeface="Calibri"/>
              <a:ea typeface="Calibri"/>
              <a:cs typeface="Calibri"/>
              <a:sym typeface="Calibri"/>
            </a:endParaRPr>
          </a:p>
          <a:p>
            <a:pPr marL="0" lvl="0" indent="0" algn="l" rtl="0">
              <a:spcBef>
                <a:spcPts val="0"/>
              </a:spcBef>
              <a:spcAft>
                <a:spcPts val="0"/>
              </a:spcAft>
              <a:buNone/>
            </a:pPr>
            <a:endParaRPr sz="900" b="1">
              <a:solidFill>
                <a:schemeClr val="dk1"/>
              </a:solidFill>
              <a:latin typeface="Calibri"/>
              <a:ea typeface="Calibri"/>
              <a:cs typeface="Calibri"/>
              <a:sym typeface="Calibri"/>
            </a:endParaRPr>
          </a:p>
        </p:txBody>
      </p:sp>
      <p:sp>
        <p:nvSpPr>
          <p:cNvPr id="145" name="Google Shape;145;g3d18d3d8234_0_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900" b="1">
                <a:solidFill>
                  <a:srgbClr val="2C2C2C"/>
                </a:solidFill>
                <a:latin typeface="Calibri"/>
                <a:ea typeface="Calibri"/>
                <a:cs typeface="Calibri"/>
                <a:sym typeface="Calibri"/>
              </a:rPr>
              <a:t>A key observation is that readmission rates vary widely across specialties, but sample sizes are highly imbalanced. This motivates the use of a hierarchical model.</a:t>
            </a:r>
            <a:endParaRPr sz="900" b="1">
              <a:solidFill>
                <a:srgbClr val="2C2C2C"/>
              </a:solidFill>
              <a:latin typeface="Calibri"/>
              <a:ea typeface="Calibri"/>
              <a:cs typeface="Calibri"/>
              <a:sym typeface="Calibri"/>
            </a:endParaRPr>
          </a:p>
          <a:p>
            <a:pPr marL="0" lvl="0" indent="0" algn="l" rtl="0">
              <a:lnSpc>
                <a:spcPct val="130000"/>
              </a:lnSpc>
              <a:spcBef>
                <a:spcPts val="1200"/>
              </a:spcBef>
              <a:spcAft>
                <a:spcPts val="0"/>
              </a:spcAft>
              <a:buNone/>
            </a:pPr>
            <a:r>
              <a:rPr lang="en-US" sz="900" b="1">
                <a:solidFill>
                  <a:srgbClr val="2C2C2C"/>
                </a:solidFill>
                <a:latin typeface="Calibri"/>
                <a:ea typeface="Calibri"/>
                <a:cs typeface="Calibri"/>
                <a:sym typeface="Calibri"/>
              </a:rPr>
              <a:t>Direct comparison of raw rates is unreliable under such imbalance</a:t>
            </a:r>
            <a:endParaRPr sz="900" b="1">
              <a:solidFill>
                <a:schemeClr val="dk1"/>
              </a:solidFill>
              <a:latin typeface="Calibri"/>
              <a:ea typeface="Calibri"/>
              <a:cs typeface="Calibri"/>
              <a:sym typeface="Calibri"/>
            </a:endParaRPr>
          </a:p>
          <a:p>
            <a:pPr marL="0" lvl="0" indent="0" algn="l" rtl="0">
              <a:lnSpc>
                <a:spcPct val="130000"/>
              </a:lnSpc>
              <a:spcBef>
                <a:spcPts val="0"/>
              </a:spcBef>
              <a:spcAft>
                <a:spcPts val="0"/>
              </a:spcAft>
              <a:buClr>
                <a:schemeClr val="dk1"/>
              </a:buClr>
              <a:buFont typeface="Arial"/>
              <a:buNone/>
            </a:pPr>
            <a:r>
              <a:rPr lang="en-US" sz="900" b="1">
                <a:solidFill>
                  <a:srgbClr val="2C2C2C"/>
                </a:solidFill>
                <a:latin typeface="Calibri"/>
                <a:ea typeface="Calibri"/>
                <a:cs typeface="Calibri"/>
                <a:sym typeface="Calibri"/>
              </a:rPr>
              <a:t>We need a framework that borrows strength across groups while quantifying uncertainty</a:t>
            </a:r>
            <a:endParaRPr sz="900" b="1">
              <a:latin typeface="Calibri"/>
              <a:ea typeface="Calibri"/>
              <a:cs typeface="Calibri"/>
              <a:sym typeface="Calibri"/>
            </a:endParaRPr>
          </a:p>
        </p:txBody>
      </p:sp>
      <p:sp>
        <p:nvSpPr>
          <p:cNvPr id="191" name="Google Shape;19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d18d3d8234_1_309:notes"/>
          <p:cNvSpPr>
            <a:spLocks noGrp="1" noRot="1" noChangeAspect="1"/>
          </p:cNvSpPr>
          <p:nvPr>
            <p:ph type="sldImg" idx="2"/>
          </p:nvPr>
        </p:nvSpPr>
        <p:spPr>
          <a:xfrm>
            <a:off x="914497" y="1143000"/>
            <a:ext cx="73149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g3d18d3d8234_1_30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g3d18d3d8234_1_30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d18d3d8234_1_338:notes"/>
          <p:cNvSpPr>
            <a:spLocks noGrp="1" noRot="1" noChangeAspect="1"/>
          </p:cNvSpPr>
          <p:nvPr>
            <p:ph type="sldImg" idx="2"/>
          </p:nvPr>
        </p:nvSpPr>
        <p:spPr>
          <a:xfrm>
            <a:off x="914497" y="1143000"/>
            <a:ext cx="73149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g3d18d3d8234_1_33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g3d18d3d8234_1_33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d18d3d8234_1_7:notes"/>
          <p:cNvSpPr>
            <a:spLocks noGrp="1" noRot="1" noChangeAspect="1"/>
          </p:cNvSpPr>
          <p:nvPr>
            <p:ph type="sldImg" idx="2"/>
          </p:nvPr>
        </p:nvSpPr>
        <p:spPr>
          <a:xfrm>
            <a:off x="914497" y="1143000"/>
            <a:ext cx="73149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3d18d3d8234_1_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3d18d3d8234_1_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d18d3d8234_1_188:notes"/>
          <p:cNvSpPr>
            <a:spLocks noGrp="1" noRot="1" noChangeAspect="1"/>
          </p:cNvSpPr>
          <p:nvPr>
            <p:ph type="sldImg" idx="2"/>
          </p:nvPr>
        </p:nvSpPr>
        <p:spPr>
          <a:xfrm>
            <a:off x="914497" y="1143000"/>
            <a:ext cx="73149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g3d18d3d8234_1_18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g3d18d3d8234_1_18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d18d3d8234_1_205:notes"/>
          <p:cNvSpPr>
            <a:spLocks noGrp="1" noRot="1" noChangeAspect="1"/>
          </p:cNvSpPr>
          <p:nvPr>
            <p:ph type="sldImg" idx="2"/>
          </p:nvPr>
        </p:nvSpPr>
        <p:spPr>
          <a:xfrm>
            <a:off x="914497" y="1143000"/>
            <a:ext cx="73149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8" name="Google Shape;368;g3d18d3d8234_1_20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g3d18d3d8234_1_20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8" name="Google Shape;388;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d18d3d8234_1_227:notes"/>
          <p:cNvSpPr>
            <a:spLocks noGrp="1" noRot="1" noChangeAspect="1"/>
          </p:cNvSpPr>
          <p:nvPr>
            <p:ph type="sldImg" idx="2"/>
          </p:nvPr>
        </p:nvSpPr>
        <p:spPr>
          <a:xfrm>
            <a:off x="914497" y="1143000"/>
            <a:ext cx="73149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g3d18d3d8234_1_22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g3d18d3d8234_1_22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d18d3d8234_1_255:notes"/>
          <p:cNvSpPr>
            <a:spLocks noGrp="1" noRot="1" noChangeAspect="1"/>
          </p:cNvSpPr>
          <p:nvPr>
            <p:ph type="sldImg" idx="2"/>
          </p:nvPr>
        </p:nvSpPr>
        <p:spPr>
          <a:xfrm>
            <a:off x="914497" y="1143000"/>
            <a:ext cx="73149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9" name="Google Shape;449;g3d18d3d8234_1_25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g3d18d3d8234_1_25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d18d3d8234_1_277:notes"/>
          <p:cNvSpPr>
            <a:spLocks noGrp="1" noRot="1" noChangeAspect="1"/>
          </p:cNvSpPr>
          <p:nvPr>
            <p:ph type="sldImg" idx="2"/>
          </p:nvPr>
        </p:nvSpPr>
        <p:spPr>
          <a:xfrm>
            <a:off x="914497" y="1143000"/>
            <a:ext cx="73149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d18d3d8234_1_27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g3d18d3d8234_1_27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d18d3d8234_1_291:notes"/>
          <p:cNvSpPr>
            <a:spLocks noGrp="1" noRot="1" noChangeAspect="1"/>
          </p:cNvSpPr>
          <p:nvPr>
            <p:ph type="sldImg" idx="2"/>
          </p:nvPr>
        </p:nvSpPr>
        <p:spPr>
          <a:xfrm>
            <a:off x="914497" y="1143000"/>
            <a:ext cx="73149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g3d18d3d8234_1_29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1" name="Google Shape;481;g3d18d3d8234_1_29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3d18d3d8234_0_7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g3d18d3d8234_0_7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900">
                <a:latin typeface="Calibri"/>
                <a:ea typeface="Calibri"/>
                <a:cs typeface="Calibri"/>
                <a:sym typeface="Calibri"/>
              </a:rPr>
              <a:t>Now we move to the inferential results.</a:t>
            </a:r>
            <a:endParaRPr sz="900">
              <a:latin typeface="Calibri"/>
              <a:ea typeface="Calibri"/>
              <a:cs typeface="Calibri"/>
              <a:sym typeface="Calibri"/>
            </a:endParaRPr>
          </a:p>
        </p:txBody>
      </p:sp>
      <p:sp>
        <p:nvSpPr>
          <p:cNvPr id="499" name="Google Shape;499;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d18d3d8234_0_6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900" b="1" dirty="0">
                <a:solidFill>
                  <a:schemeClr val="dk1"/>
                </a:solidFill>
                <a:latin typeface="Calibri"/>
                <a:ea typeface="Calibri"/>
                <a:cs typeface="Calibri"/>
                <a:sym typeface="Calibri"/>
              </a:rPr>
              <a:t>This slide shows the key fixed effects from the hierarchical logistic model. Prior inpatient visits is the strongest predictor, with an OR of 1.22, indicating past utilization strongly predicts future readmission. Comorbid neoplasms has the largest effect (OR = 1.51), suggesting higher clinical complexity increases risk. A1C measurement and diabetes medication are also positively associated, but we interpret these as markers of disease severity rather than causal effects. Age shows a modest positive effect. In contrast, primary diagnoses of neoplasms and respiratory conditions are associated with lower readmission risk, likely reflecting differences in care pathways. Finally, sex, race, and insulin are not significant after adjustment.</a:t>
            </a:r>
            <a:endParaRPr sz="900" b="1" dirty="0">
              <a:solidFill>
                <a:schemeClr val="dk1"/>
              </a:solidFill>
              <a:latin typeface="Calibri"/>
              <a:ea typeface="Calibri"/>
              <a:cs typeface="Calibri"/>
              <a:sym typeface="Calibri"/>
            </a:endParaRPr>
          </a:p>
          <a:p>
            <a:pPr marL="0" lvl="0" indent="0" algn="l" rtl="0">
              <a:spcBef>
                <a:spcPts val="1200"/>
              </a:spcBef>
              <a:spcAft>
                <a:spcPts val="0"/>
              </a:spcAft>
              <a:buNone/>
            </a:pPr>
            <a:endParaRPr dirty="0"/>
          </a:p>
        </p:txBody>
      </p:sp>
      <p:sp>
        <p:nvSpPr>
          <p:cNvPr id="507" name="Google Shape;507;g3d18d3d8234_0_6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sz="900" b="1" dirty="0">
                <a:solidFill>
                  <a:schemeClr val="dk1"/>
                </a:solidFill>
                <a:latin typeface="Calibri"/>
                <a:ea typeface="Calibri"/>
                <a:cs typeface="Calibri"/>
                <a:sym typeface="Calibri"/>
              </a:rPr>
              <a:t>This forest plot shows the posterior means and 95 percent credible intervals for each specialty's random intercept </a:t>
            </a:r>
            <a:r>
              <a:rPr lang="en-US" sz="900" b="1" dirty="0" err="1">
                <a:solidFill>
                  <a:schemeClr val="dk1"/>
                </a:solidFill>
                <a:latin typeface="Calibri"/>
                <a:ea typeface="Calibri"/>
                <a:cs typeface="Calibri"/>
                <a:sym typeface="Calibri"/>
              </a:rPr>
              <a:t>u_j</a:t>
            </a:r>
            <a:r>
              <a:rPr lang="en-US" sz="900" b="1" dirty="0">
                <a:solidFill>
                  <a:schemeClr val="dk1"/>
                </a:solidFill>
                <a:latin typeface="Calibri"/>
                <a:ea typeface="Calibri"/>
                <a:cs typeface="Calibri"/>
                <a:sym typeface="Calibri"/>
              </a:rPr>
              <a:t>, which represents the deviation from the population-average log-odds.</a:t>
            </a:r>
            <a:endParaRPr sz="900" b="1" dirty="0">
              <a:solidFill>
                <a:schemeClr val="dk1"/>
              </a:solidFill>
              <a:latin typeface="Calibri"/>
              <a:ea typeface="Calibri"/>
              <a:cs typeface="Calibri"/>
              <a:sym typeface="Calibri"/>
            </a:endParaRPr>
          </a:p>
          <a:p>
            <a:pPr marL="0" lvl="0" indent="0" algn="l" rtl="0">
              <a:lnSpc>
                <a:spcPct val="150000"/>
              </a:lnSpc>
              <a:spcBef>
                <a:spcPts val="0"/>
              </a:spcBef>
              <a:spcAft>
                <a:spcPts val="0"/>
              </a:spcAft>
              <a:buClr>
                <a:schemeClr val="dk1"/>
              </a:buClr>
              <a:buSzPts val="1100"/>
              <a:buFont typeface="Arial"/>
              <a:buNone/>
            </a:pPr>
            <a:endParaRPr sz="900" b="1" dirty="0">
              <a:solidFill>
                <a:schemeClr val="dk1"/>
              </a:solidFill>
              <a:latin typeface="Calibri"/>
              <a:ea typeface="Calibri"/>
              <a:cs typeface="Calibri"/>
              <a:sym typeface="Calibri"/>
            </a:endParaRPr>
          </a:p>
          <a:p>
            <a:pPr marL="0" lvl="0" indent="0" algn="l" rtl="0">
              <a:lnSpc>
                <a:spcPct val="150000"/>
              </a:lnSpc>
              <a:spcBef>
                <a:spcPts val="0"/>
              </a:spcBef>
              <a:spcAft>
                <a:spcPts val="0"/>
              </a:spcAft>
              <a:buClr>
                <a:schemeClr val="dk1"/>
              </a:buClr>
              <a:buSzPts val="1100"/>
              <a:buFont typeface="Arial"/>
              <a:buNone/>
            </a:pPr>
            <a:r>
              <a:rPr lang="en-US" sz="900" b="1" dirty="0">
                <a:solidFill>
                  <a:schemeClr val="dk1"/>
                </a:solidFill>
                <a:latin typeface="Calibri"/>
                <a:ea typeface="Calibri"/>
                <a:cs typeface="Calibri"/>
                <a:sym typeface="Calibri"/>
              </a:rPr>
              <a:t>Physical Medicine and Rehabilitation has the highest random effect, around plus </a:t>
            </a:r>
            <a:r>
              <a:rPr lang="en-US" altLang="zh-CN" sz="900" b="1" dirty="0">
                <a:solidFill>
                  <a:schemeClr val="dk1"/>
                </a:solidFill>
                <a:latin typeface="Calibri"/>
                <a:ea typeface="Calibri"/>
                <a:cs typeface="Calibri"/>
                <a:sym typeface="Calibri"/>
              </a:rPr>
              <a:t>1.32</a:t>
            </a:r>
            <a:r>
              <a:rPr lang="en-US" sz="900" b="1" dirty="0">
                <a:solidFill>
                  <a:schemeClr val="dk1"/>
                </a:solidFill>
                <a:latin typeface="Calibri"/>
                <a:ea typeface="Calibri"/>
                <a:cs typeface="Calibri"/>
                <a:sym typeface="Calibri"/>
              </a:rPr>
              <a:t> on the logit scale. This means that, even after controlling for patient characteristics, patients admitted under this specialty have notably higher readmission risk. On the other end, Surgery-Cardiovascular/Thoracic and Obstetrics/Gynecology show negative random effects — lower risk, around minus 0.5 to minus 1.0.</a:t>
            </a:r>
            <a:endParaRPr sz="900" b="1" dirty="0">
              <a:solidFill>
                <a:schemeClr val="dk1"/>
              </a:solidFill>
              <a:latin typeface="Calibri"/>
              <a:ea typeface="Calibri"/>
              <a:cs typeface="Calibri"/>
              <a:sym typeface="Calibri"/>
            </a:endParaRPr>
          </a:p>
          <a:p>
            <a:pPr marL="0" lvl="0" indent="0" algn="l" rtl="0">
              <a:lnSpc>
                <a:spcPct val="150000"/>
              </a:lnSpc>
              <a:spcBef>
                <a:spcPts val="0"/>
              </a:spcBef>
              <a:spcAft>
                <a:spcPts val="0"/>
              </a:spcAft>
              <a:buClr>
                <a:schemeClr val="dk1"/>
              </a:buClr>
              <a:buSzPts val="1100"/>
              <a:buFont typeface="Arial"/>
              <a:buNone/>
            </a:pPr>
            <a:endParaRPr sz="900" b="1" dirty="0">
              <a:solidFill>
                <a:schemeClr val="dk1"/>
              </a:solidFill>
              <a:latin typeface="Calibri"/>
              <a:ea typeface="Calibri"/>
              <a:cs typeface="Calibri"/>
              <a:sym typeface="Calibri"/>
            </a:endParaRPr>
          </a:p>
          <a:p>
            <a:pPr marL="0" lvl="0" indent="0" algn="l" rtl="0">
              <a:lnSpc>
                <a:spcPct val="150000"/>
              </a:lnSpc>
              <a:spcBef>
                <a:spcPts val="0"/>
              </a:spcBef>
              <a:spcAft>
                <a:spcPts val="0"/>
              </a:spcAft>
              <a:buClr>
                <a:schemeClr val="dk1"/>
              </a:buClr>
              <a:buSzPts val="1100"/>
              <a:buFont typeface="Arial"/>
              <a:buNone/>
            </a:pPr>
            <a:r>
              <a:rPr lang="en-US" sz="900" b="1" dirty="0">
                <a:solidFill>
                  <a:schemeClr val="dk1"/>
                </a:solidFill>
                <a:latin typeface="Calibri"/>
                <a:ea typeface="Calibri"/>
                <a:cs typeface="Calibri"/>
                <a:sym typeface="Calibri"/>
              </a:rPr>
              <a:t>Notice the shrinkage effect. Specialties with smaller sample sizes have wider credible intervals and their point estimates are pulled closer to zero — closer to the population mean. This is partial pooling in action. The model doesn't naively trust the noisy raw rates from small groups; instead, it borrows information from the larger groups through the hierarchical structure.</a:t>
            </a:r>
            <a:endParaRPr sz="900" b="1" dirty="0">
              <a:solidFill>
                <a:schemeClr val="dk1"/>
              </a:solidFill>
              <a:latin typeface="Calibri"/>
              <a:ea typeface="Calibri"/>
              <a:cs typeface="Calibri"/>
              <a:sym typeface="Calibri"/>
            </a:endParaRPr>
          </a:p>
          <a:p>
            <a:pPr marL="0" lvl="0" indent="0" algn="l" rtl="0">
              <a:spcBef>
                <a:spcPts val="0"/>
              </a:spcBef>
              <a:spcAft>
                <a:spcPts val="0"/>
              </a:spcAft>
              <a:buNone/>
            </a:pPr>
            <a:endParaRPr sz="900" b="1" dirty="0">
              <a:solidFill>
                <a:schemeClr val="dk1"/>
              </a:solidFill>
              <a:latin typeface="Calibri"/>
              <a:ea typeface="Calibri"/>
              <a:cs typeface="Calibri"/>
              <a:sym typeface="Calibri"/>
            </a:endParaRPr>
          </a:p>
        </p:txBody>
      </p:sp>
      <p:sp>
        <p:nvSpPr>
          <p:cNvPr id="516" name="Google Shape;51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900" b="1">
                <a:latin typeface="Calibri"/>
                <a:ea typeface="Calibri"/>
                <a:cs typeface="Calibri"/>
                <a:sym typeface="Calibri"/>
              </a:rPr>
              <a:t>The estimated τ is 0.437, with the credible interval clearly away from zero.</a:t>
            </a:r>
            <a:endParaRPr sz="900" b="1">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sz="900" b="1">
                <a:latin typeface="Calibri"/>
                <a:ea typeface="Calibri"/>
                <a:cs typeface="Calibri"/>
                <a:sym typeface="Calibri"/>
              </a:rPr>
              <a:t>This indicates strong between-specialty heterogeneity.</a:t>
            </a:r>
            <a:endParaRPr sz="900" b="1">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sz="900" b="1">
                <a:latin typeface="Calibri"/>
                <a:ea typeface="Calibri"/>
                <a:cs typeface="Calibri"/>
                <a:sym typeface="Calibri"/>
              </a:rPr>
              <a:t>However, patient-level covariates remain the primary drivers.</a:t>
            </a:r>
            <a:endParaRPr sz="900" b="1">
              <a:latin typeface="Calibri"/>
              <a:ea typeface="Calibri"/>
              <a:cs typeface="Calibri"/>
              <a:sym typeface="Calibri"/>
            </a:endParaRPr>
          </a:p>
          <a:p>
            <a:pPr marL="0" lvl="0" indent="0" algn="l" rtl="0">
              <a:spcBef>
                <a:spcPts val="1200"/>
              </a:spcBef>
              <a:spcAft>
                <a:spcPts val="0"/>
              </a:spcAft>
              <a:buNone/>
            </a:pPr>
            <a:endParaRPr sz="900" b="1">
              <a:latin typeface="Calibri"/>
              <a:ea typeface="Calibri"/>
              <a:cs typeface="Calibri"/>
              <a:sym typeface="Calibri"/>
            </a:endParaRPr>
          </a:p>
        </p:txBody>
      </p:sp>
      <p:sp>
        <p:nvSpPr>
          <p:cNvPr id="525" name="Google Shape;525;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3d18d3d8234_0_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b="1">
                <a:latin typeface="Calibri"/>
                <a:ea typeface="Calibri"/>
                <a:cs typeface="Calibri"/>
                <a:sym typeface="Calibri"/>
              </a:rPr>
              <a:t>The hierarchical model has similar predictive performance as fixed effects,</a:t>
            </a:r>
            <a:br>
              <a:rPr lang="en-US" b="1">
                <a:latin typeface="Calibri"/>
                <a:ea typeface="Calibri"/>
                <a:cs typeface="Calibri"/>
                <a:sym typeface="Calibri"/>
              </a:rPr>
            </a:br>
            <a:r>
              <a:rPr lang="en-US" b="1">
                <a:latin typeface="Calibri"/>
                <a:ea typeface="Calibri"/>
                <a:cs typeface="Calibri"/>
                <a:sym typeface="Calibri"/>
              </a:rPr>
              <a:t> but provides better interpretability.</a:t>
            </a:r>
            <a:endParaRPr b="1">
              <a:latin typeface="Calibri"/>
              <a:ea typeface="Calibri"/>
              <a:cs typeface="Calibri"/>
              <a:sym typeface="Calibri"/>
            </a:endParaRPr>
          </a:p>
          <a:p>
            <a:pPr marL="0" lvl="0" indent="0" algn="l" rtl="0">
              <a:lnSpc>
                <a:spcPct val="115000"/>
              </a:lnSpc>
              <a:spcBef>
                <a:spcPts val="1200"/>
              </a:spcBef>
              <a:spcAft>
                <a:spcPts val="0"/>
              </a:spcAft>
              <a:buClr>
                <a:schemeClr val="dk1"/>
              </a:buClr>
              <a:buSzPts val="1100"/>
              <a:buFont typeface="Arial"/>
              <a:buNone/>
            </a:pPr>
            <a:r>
              <a:rPr lang="en-US" b="1">
                <a:latin typeface="Calibri"/>
                <a:ea typeface="Calibri"/>
                <a:cs typeface="Calibri"/>
                <a:sym typeface="Calibri"/>
              </a:rPr>
              <a:t>DIC also supports the hierarchical structure.</a:t>
            </a:r>
            <a:endParaRPr b="1">
              <a:latin typeface="Calibri"/>
              <a:ea typeface="Calibri"/>
              <a:cs typeface="Calibri"/>
              <a:sym typeface="Calibri"/>
            </a:endParaRPr>
          </a:p>
          <a:p>
            <a:pPr marL="0" lvl="0" indent="0" algn="l" rtl="0">
              <a:spcBef>
                <a:spcPts val="1200"/>
              </a:spcBef>
              <a:spcAft>
                <a:spcPts val="0"/>
              </a:spcAft>
              <a:buNone/>
            </a:pPr>
            <a:endParaRPr/>
          </a:p>
        </p:txBody>
      </p:sp>
      <p:sp>
        <p:nvSpPr>
          <p:cNvPr id="536" name="Google Shape;536;g3d18d3d8234_0_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3d18d3d8234_0_7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900" b="1">
                <a:latin typeface="Calibri"/>
                <a:ea typeface="Calibri"/>
                <a:cs typeface="Calibri"/>
                <a:sym typeface="Calibri"/>
              </a:rPr>
              <a:t>Posterior predictive checks show that the model captures both the overall rate and variability.</a:t>
            </a:r>
            <a:endParaRPr sz="900" b="1">
              <a:latin typeface="Calibri"/>
              <a:ea typeface="Calibri"/>
              <a:cs typeface="Calibri"/>
              <a:sym typeface="Calibri"/>
            </a:endParaRPr>
          </a:p>
        </p:txBody>
      </p:sp>
      <p:sp>
        <p:nvSpPr>
          <p:cNvPr id="547" name="Google Shape;547;g3d18d3d8234_0_75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4" name="Google Shape;554;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3d18d3d8234_0_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altLang="zh-CN" sz="1200" b="0" dirty="0">
                <a:effectLst/>
                <a:latin typeface="Helvetica Neue" panose="02000503000000020004" pitchFamily="2" charset="0"/>
              </a:rPr>
              <a:t>For sensitivity analysis, we re-ran the sampler under three alternative prior configurations.</a:t>
            </a:r>
          </a:p>
          <a:p>
            <a:pPr marL="158750" indent="0">
              <a:buNone/>
            </a:pPr>
            <a:endParaRPr lang="en-US" altLang="zh-CN" sz="1200" b="0" dirty="0">
              <a:effectLst/>
              <a:latin typeface="Helvetica Neue" panose="02000503000000020004" pitchFamily="2" charset="0"/>
            </a:endParaRPr>
          </a:p>
          <a:p>
            <a:pPr marL="158750" indent="0">
              <a:buNone/>
            </a:pPr>
            <a:r>
              <a:rPr lang="en-US" altLang="zh-CN" sz="1200" b="0" dirty="0">
                <a:effectLst/>
                <a:latin typeface="Helvetica Neue" panose="02000503000000020004" pitchFamily="2" charset="0"/>
              </a:rPr>
              <a:t>Our baseline uses a weakly informative prior, designed to prevent parameter divergence while avoiding overly restrictive assumptions on the data.</a:t>
            </a:r>
          </a:p>
          <a:p>
            <a:pPr marL="158750" indent="0">
              <a:buNone/>
            </a:pPr>
            <a:endParaRPr lang="en-US" altLang="zh-CN" sz="1200" b="0" dirty="0">
              <a:effectLst/>
              <a:latin typeface="Helvetica Neue" panose="02000503000000020004" pitchFamily="2" charset="0"/>
            </a:endParaRPr>
          </a:p>
          <a:p>
            <a:pPr marL="158750" indent="0">
              <a:buNone/>
            </a:pPr>
            <a:r>
              <a:rPr lang="en-US" altLang="zh-CN" sz="1200" b="0" dirty="0">
                <a:effectLst/>
                <a:latin typeface="Helvetica Neue" panose="02000503000000020004" pitchFamily="2" charset="0"/>
              </a:rPr>
              <a:t>In A1, we doubled the fixed-effect prior standard deviation from 2.5 to 5.0, making the beta priors even more diffuse.</a:t>
            </a:r>
          </a:p>
          <a:p>
            <a:pPr marL="158750" indent="0">
              <a:buNone/>
            </a:pPr>
            <a:endParaRPr lang="en-US" altLang="zh-CN" sz="1200" b="0" dirty="0">
              <a:effectLst/>
              <a:latin typeface="Helvetica Neue" panose="02000503000000020004" pitchFamily="2" charset="0"/>
            </a:endParaRPr>
          </a:p>
          <a:p>
            <a:pPr marL="158750" indent="0">
              <a:buNone/>
            </a:pPr>
            <a:r>
              <a:rPr lang="en-US" altLang="zh-CN" sz="1200" b="0" dirty="0">
                <a:effectLst/>
                <a:latin typeface="Helvetica Neue" panose="02000503000000020004" pitchFamily="2" charset="0"/>
              </a:rPr>
              <a:t>This allows us to assess whether the posterior is data-dominated or sensitive to prior specification; the near invariance of results suggests strong data dominance.</a:t>
            </a:r>
          </a:p>
          <a:p>
            <a:pPr marL="158750" indent="0">
              <a:buNone/>
            </a:pPr>
            <a:endParaRPr lang="en-US" altLang="zh-CN" sz="1200" b="0" dirty="0">
              <a:effectLst/>
              <a:latin typeface="Helvetica Neue" panose="02000503000000020004" pitchFamily="2" charset="0"/>
            </a:endParaRPr>
          </a:p>
          <a:p>
            <a:pPr marL="158750" indent="0">
              <a:buNone/>
            </a:pPr>
            <a:r>
              <a:rPr lang="en-US" altLang="zh-CN" sz="1200" b="0" dirty="0">
                <a:effectLst/>
                <a:latin typeface="Helvetica Neue" panose="02000503000000020004" pitchFamily="2" charset="0"/>
              </a:rPr>
              <a:t>In B1, we widened the tau hyperprior to Half-Normal with scale 2.5 instead of 1.0, thereby allowing for greater between-group variation.</a:t>
            </a:r>
          </a:p>
          <a:p>
            <a:pPr marL="158750" indent="0">
              <a:buNone/>
            </a:pPr>
            <a:endParaRPr lang="en-US" altLang="zh-CN" sz="1200" b="0" dirty="0">
              <a:effectLst/>
              <a:latin typeface="Helvetica Neue" panose="02000503000000020004" pitchFamily="2" charset="0"/>
            </a:endParaRPr>
          </a:p>
          <a:p>
            <a:pPr marL="158750" indent="0">
              <a:buNone/>
            </a:pPr>
            <a:r>
              <a:rPr lang="en-US" altLang="zh-CN" sz="1200" b="0" dirty="0">
                <a:effectLst/>
                <a:latin typeface="Helvetica Neue" panose="02000503000000020004" pitchFamily="2" charset="0"/>
              </a:rPr>
              <a:t>In B2, we switched the tau hyperprior to a Half-Cauchy distribution with scale 2.5, which has heavier tails and puts more prior mass on large values of tau.</a:t>
            </a:r>
          </a:p>
          <a:p>
            <a:pPr marL="158750" indent="0">
              <a:buNone/>
            </a:pPr>
            <a:endParaRPr lang="en-US" altLang="zh-CN" sz="1200" b="0" dirty="0">
              <a:effectLst/>
              <a:latin typeface="Helvetica Neue" panose="02000503000000020004" pitchFamily="2" charset="0"/>
            </a:endParaRPr>
          </a:p>
          <a:p>
            <a:pPr marL="158750" indent="0">
              <a:buNone/>
            </a:pPr>
            <a:endParaRPr lang="en-US" altLang="zh-CN" sz="1200" b="0" dirty="0">
              <a:effectLst/>
              <a:latin typeface="Helvetica Neue" panose="02000503000000020004" pitchFamily="2" charset="0"/>
            </a:endParaRPr>
          </a:p>
          <a:p>
            <a:pPr marL="158750" indent="0">
              <a:buNone/>
            </a:pPr>
            <a:r>
              <a:rPr lang="en-US" altLang="zh-CN" sz="1200" b="0" dirty="0">
                <a:effectLst/>
                <a:latin typeface="Helvetica Neue" panose="02000503000000020004" pitchFamily="2" charset="0"/>
              </a:rPr>
              <a:t>From the graph, you can see the tau posterior densities under all four configurations overlaid. They are nearly identical. The range of posterior means across configurations is less than 0.05 — essentially negligible.</a:t>
            </a:r>
          </a:p>
          <a:p>
            <a:pPr marL="158750" indent="0">
              <a:buNone/>
            </a:pPr>
            <a:endParaRPr lang="en-US" altLang="zh-CN" sz="1200" b="0" dirty="0">
              <a:effectLst/>
              <a:latin typeface="Helvetica Neue" panose="02000503000000020004" pitchFamily="2" charset="0"/>
            </a:endParaRPr>
          </a:p>
          <a:p>
            <a:pPr marL="158750" indent="0">
              <a:buNone/>
            </a:pPr>
            <a:r>
              <a:rPr lang="en-US" altLang="zh-CN" sz="1200" b="0" dirty="0">
                <a:effectLst/>
                <a:latin typeface="Helvetica Neue" panose="02000503000000020004" pitchFamily="2" charset="0"/>
              </a:rPr>
              <a:t>The key fixed-effect estimates also remain stable, with beta variation less than 0.02 across configs. And the specialty rankings — which specialty has the highest or lowest random effect — are highly consistent, with a Spearman correlation above 0.95.</a:t>
            </a:r>
          </a:p>
          <a:p>
            <a:pPr marL="158750" indent="0">
              <a:buNone/>
            </a:pPr>
            <a:endParaRPr lang="en-US" altLang="zh-CN" sz="1200" b="0" dirty="0">
              <a:effectLst/>
              <a:latin typeface="Helvetica Neue" panose="02000503000000020004" pitchFamily="2" charset="0"/>
            </a:endParaRPr>
          </a:p>
        </p:txBody>
      </p:sp>
      <p:sp>
        <p:nvSpPr>
          <p:cNvPr id="562" name="Google Shape;562;g3d18d3d8234_0_4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3d18d3d8234_0_4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900" b="1" dirty="0">
                <a:solidFill>
                  <a:schemeClr val="dk1"/>
                </a:solidFill>
                <a:latin typeface="Calibri"/>
                <a:ea typeface="Calibri"/>
                <a:cs typeface="Calibri"/>
                <a:sym typeface="Calibri"/>
              </a:rPr>
              <a:t>The conclusion is clear: our posterior is likelihood-dominated for all key parameters. The data, not the prior, is driving the results. Our findings are robust to the specific choice of prior.</a:t>
            </a:r>
            <a:endParaRPr dirty="0"/>
          </a:p>
        </p:txBody>
      </p:sp>
      <p:sp>
        <p:nvSpPr>
          <p:cNvPr id="579" name="Google Shape;579;g3d18d3d8234_0_49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7" name="Google Shape;597;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g3d18d3d8234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sz="900" b="1">
                <a:solidFill>
                  <a:schemeClr val="dk1"/>
                </a:solidFill>
                <a:latin typeface="Calibri"/>
                <a:ea typeface="Calibri"/>
                <a:cs typeface="Calibri"/>
                <a:sym typeface="Calibri"/>
              </a:rPr>
              <a:t>Let me summarize our main findings.</a:t>
            </a: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Clr>
                <a:schemeClr val="dk1"/>
              </a:buClr>
              <a:buSzPts val="1100"/>
              <a:buFont typeface="Arial"/>
              <a:buNone/>
            </a:pP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Clr>
                <a:schemeClr val="dk1"/>
              </a:buClr>
              <a:buSzPts val="1100"/>
              <a:buFont typeface="Arial"/>
              <a:buNone/>
            </a:pPr>
            <a:r>
              <a:rPr lang="en-US" sz="900" b="1">
                <a:solidFill>
                  <a:schemeClr val="dk1"/>
                </a:solidFill>
                <a:latin typeface="Calibri"/>
                <a:ea typeface="Calibri"/>
                <a:cs typeface="Calibri"/>
                <a:sym typeface="Calibri"/>
              </a:rPr>
              <a:t>First, specialty heterogeneity is real and reliably estimated. The posterior of tau is clearly bounded away from zero, providing strong Bayesian evidence of between-specialty variation in readmission risk.</a:t>
            </a: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Clr>
                <a:schemeClr val="dk1"/>
              </a:buClr>
              <a:buSzPts val="1100"/>
              <a:buFont typeface="Arial"/>
              <a:buNone/>
            </a:pPr>
            <a:r>
              <a:rPr lang="en-US" sz="900" b="1">
                <a:solidFill>
                  <a:schemeClr val="dk1"/>
                </a:solidFill>
                <a:latin typeface="Calibri"/>
                <a:ea typeface="Calibri"/>
                <a:cs typeface="Calibri"/>
                <a:sym typeface="Calibri"/>
              </a:rPr>
              <a:t>Second, Medical complexity drives readmission— particularly prior inpatient visits, comorbid neoplasms, diabetes medication use, and number of diagnoses — remain the primary drivers of readmission.</a:t>
            </a: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r>
              <a:rPr lang="en-US" sz="900" b="1">
                <a:solidFill>
                  <a:schemeClr val="dk1"/>
                </a:solidFill>
                <a:latin typeface="Calibri"/>
                <a:ea typeface="Calibri"/>
                <a:cs typeface="Calibri"/>
                <a:sym typeface="Calibri"/>
              </a:rPr>
              <a:t>Third, posterior predictive checks confirm that our model captures both the mean structure and the group-level variance. DIC favors the hierarchical model over the no-specialty baseline.</a:t>
            </a: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Clr>
                <a:schemeClr val="dk1"/>
              </a:buClr>
              <a:buSzPts val="1100"/>
              <a:buFont typeface="Arial"/>
              <a:buNone/>
            </a:pPr>
            <a:r>
              <a:rPr lang="en-US" sz="900" b="1">
                <a:solidFill>
                  <a:schemeClr val="dk1"/>
                </a:solidFill>
                <a:latin typeface="Calibri"/>
                <a:ea typeface="Calibri"/>
                <a:cs typeface="Calibri"/>
                <a:sym typeface="Calibri"/>
              </a:rPr>
              <a:t>Fourth, the hierarchical model achieves principled partial pooling. Small specialties benefit from shrinkage toward the population mean, giving us stable estimates even for groups with fewer than 300 observations.</a:t>
            </a:r>
            <a:endParaRPr sz="900" b="1">
              <a:solidFill>
                <a:schemeClr val="dk1"/>
              </a:solidFill>
              <a:latin typeface="Calibri"/>
              <a:ea typeface="Calibri"/>
              <a:cs typeface="Calibri"/>
              <a:sym typeface="Calibri"/>
            </a:endParaRPr>
          </a:p>
          <a:p>
            <a:pPr marL="0" lvl="0" indent="0" algn="l" rtl="0">
              <a:spcBef>
                <a:spcPts val="0"/>
              </a:spcBef>
              <a:spcAft>
                <a:spcPts val="0"/>
              </a:spcAft>
              <a:buNone/>
            </a:pPr>
            <a:endParaRPr sz="900" b="1">
              <a:solidFill>
                <a:schemeClr val="dk1"/>
              </a:solidFill>
              <a:latin typeface="Calibri"/>
              <a:ea typeface="Calibri"/>
              <a:cs typeface="Calibri"/>
              <a:sym typeface="Calibri"/>
            </a:endParaRPr>
          </a:p>
        </p:txBody>
      </p:sp>
      <p:sp>
        <p:nvSpPr>
          <p:cNvPr id="605" name="Google Shape;605;g3d18d3d8234_0_43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3d18d3d8234_0_4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sz="900" b="1">
                <a:solidFill>
                  <a:schemeClr val="dk1"/>
                </a:solidFill>
                <a:latin typeface="Calibri"/>
                <a:ea typeface="Calibri"/>
                <a:cs typeface="Calibri"/>
                <a:sym typeface="Calibri"/>
              </a:rPr>
              <a:t>We should acknowledge some limitations. The dataset is from 1999 to 2008, and clinical practices have evolved since then. The ICD-9 coding system has been replaced by ICD-10. So our specific coefficient estimates may not directly apply to current practice.</a:t>
            </a: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Clr>
                <a:schemeClr val="dk1"/>
              </a:buClr>
              <a:buSzPts val="1100"/>
              <a:buFont typeface="Arial"/>
              <a:buNone/>
            </a:pP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Clr>
                <a:schemeClr val="dk1"/>
              </a:buClr>
              <a:buSzPts val="1100"/>
              <a:buFont typeface="Arial"/>
              <a:buNone/>
            </a:pPr>
            <a:r>
              <a:rPr lang="en-US" sz="900" b="1">
                <a:solidFill>
                  <a:schemeClr val="dk1"/>
                </a:solidFill>
                <a:latin typeface="Calibri"/>
                <a:ea typeface="Calibri"/>
                <a:cs typeface="Calibri"/>
                <a:sym typeface="Calibri"/>
              </a:rPr>
              <a:t>We also excluded 45 percent of encounters with unknown specialty, which could introduce selection bias if the missing-specialty mechanism is non-random.</a:t>
            </a: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Clr>
                <a:schemeClr val="dk1"/>
              </a:buClr>
              <a:buSzPts val="1100"/>
              <a:buFont typeface="Arial"/>
              <a:buNone/>
            </a:pPr>
            <a:r>
              <a:rPr lang="en-US" sz="900" b="1">
                <a:solidFill>
                  <a:schemeClr val="dk1"/>
                </a:solidFill>
                <a:latin typeface="Calibri"/>
                <a:ea typeface="Calibri"/>
                <a:cs typeface="Calibri"/>
                <a:sym typeface="Calibri"/>
              </a:rPr>
              <a:t>And our model uses only random intercepts — it assumes the specialty effect is the same regardless of patient profile. A random-slopes model could capture, for example, whether age affects readmission risk differently across specialties.</a:t>
            </a: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None/>
            </a:pPr>
            <a:endParaRPr sz="900" b="1">
              <a:solidFill>
                <a:schemeClr val="dk1"/>
              </a:solidFill>
              <a:latin typeface="Calibri"/>
              <a:ea typeface="Calibri"/>
              <a:cs typeface="Calibri"/>
              <a:sym typeface="Calibri"/>
            </a:endParaRPr>
          </a:p>
          <a:p>
            <a:pPr marL="0" lvl="0" indent="0" algn="l" rtl="0">
              <a:lnSpc>
                <a:spcPct val="150000"/>
              </a:lnSpc>
              <a:spcBef>
                <a:spcPts val="0"/>
              </a:spcBef>
              <a:spcAft>
                <a:spcPts val="0"/>
              </a:spcAft>
              <a:buClr>
                <a:schemeClr val="dk1"/>
              </a:buClr>
              <a:buSzPts val="1100"/>
              <a:buFont typeface="Arial"/>
              <a:buNone/>
            </a:pPr>
            <a:r>
              <a:rPr lang="en-US" sz="900" b="1">
                <a:solidFill>
                  <a:schemeClr val="dk1"/>
                </a:solidFill>
                <a:latin typeface="Calibri"/>
                <a:ea typeface="Calibri"/>
                <a:cs typeface="Calibri"/>
                <a:sym typeface="Calibri"/>
              </a:rPr>
              <a:t>Thank you! We're happy to take any questions.</a:t>
            </a:r>
            <a:endParaRPr sz="900" b="1">
              <a:solidFill>
                <a:schemeClr val="dk1"/>
              </a:solidFill>
              <a:latin typeface="Calibri"/>
              <a:ea typeface="Calibri"/>
              <a:cs typeface="Calibri"/>
              <a:sym typeface="Calibri"/>
            </a:endParaRPr>
          </a:p>
          <a:p>
            <a:pPr marL="0" lvl="0" indent="0" algn="l" rtl="0">
              <a:spcBef>
                <a:spcPts val="0"/>
              </a:spcBef>
              <a:spcAft>
                <a:spcPts val="0"/>
              </a:spcAft>
              <a:buNone/>
            </a:pPr>
            <a:endParaRPr sz="900" b="1">
              <a:solidFill>
                <a:schemeClr val="dk1"/>
              </a:solidFill>
              <a:latin typeface="Calibri"/>
              <a:ea typeface="Calibri"/>
              <a:cs typeface="Calibri"/>
              <a:sym typeface="Calibri"/>
            </a:endParaRPr>
          </a:p>
        </p:txBody>
      </p:sp>
      <p:sp>
        <p:nvSpPr>
          <p:cNvPr id="628" name="Google Shape;628;g3d18d3d8234_0_40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4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4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4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1"/>
          <p:cNvSpPr>
            <a:spLocks noGrp="1"/>
          </p:cNvSpPr>
          <p:nvPr>
            <p:ph type="pic" idx="2"/>
          </p:nvPr>
        </p:nvSpPr>
        <p:spPr>
          <a:xfrm>
            <a:off x="1792288" y="612775"/>
            <a:ext cx="5486400" cy="4114800"/>
          </a:xfrm>
          <a:prstGeom prst="rect">
            <a:avLst/>
          </a:prstGeom>
          <a:noFill/>
          <a:ln>
            <a:noFill/>
          </a:ln>
        </p:spPr>
      </p:sp>
      <p:sp>
        <p:nvSpPr>
          <p:cNvPr id="64" name="Google Shape;64;p4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4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
          <p:cNvSpPr/>
          <p:nvPr/>
        </p:nvSpPr>
        <p:spPr>
          <a:xfrm>
            <a:off x="0" y="0"/>
            <a:ext cx="12191695" cy="6858000"/>
          </a:xfrm>
          <a:prstGeom prst="rect">
            <a:avLst/>
          </a:prstGeom>
          <a:solidFill>
            <a:srgbClr val="1B2A4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
          <p:cNvSpPr/>
          <p:nvPr/>
        </p:nvSpPr>
        <p:spPr>
          <a:xfrm>
            <a:off x="1097280" y="1828800"/>
            <a:ext cx="2743200" cy="64008"/>
          </a:xfrm>
          <a:prstGeom prst="rect">
            <a:avLst/>
          </a:prstGeom>
          <a:solidFill>
            <a:srgbClr val="3A7CA5"/>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
          <p:cNvSpPr txBox="1"/>
          <p:nvPr/>
        </p:nvSpPr>
        <p:spPr>
          <a:xfrm>
            <a:off x="1097280" y="2103120"/>
            <a:ext cx="10058400" cy="109728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600" b="1" i="0" u="none" strike="noStrike" cap="none">
                <a:solidFill>
                  <a:srgbClr val="FFFFFF"/>
                </a:solidFill>
                <a:latin typeface="Calibri"/>
                <a:ea typeface="Calibri"/>
                <a:cs typeface="Calibri"/>
                <a:sym typeface="Calibri"/>
              </a:rPr>
              <a:t>Bayesian Hierarchical Logistic Regression</a:t>
            </a:r>
            <a:br>
              <a:rPr lang="en-US" sz="3600" b="1" i="0" u="none" strike="noStrike" cap="none">
                <a:solidFill>
                  <a:srgbClr val="FFFFFF"/>
                </a:solidFill>
                <a:latin typeface="Calibri"/>
                <a:ea typeface="Calibri"/>
                <a:cs typeface="Calibri"/>
                <a:sym typeface="Calibri"/>
              </a:rPr>
            </a:br>
            <a:r>
              <a:rPr lang="en-US" sz="3600" b="1" i="0" u="none" strike="noStrike" cap="none">
                <a:solidFill>
                  <a:srgbClr val="FFFFFF"/>
                </a:solidFill>
                <a:latin typeface="Calibri"/>
                <a:ea typeface="Calibri"/>
                <a:cs typeface="Calibri"/>
                <a:sym typeface="Calibri"/>
              </a:rPr>
              <a:t>for 30-Day Hospital Readmission</a:t>
            </a:r>
            <a:endParaRPr/>
          </a:p>
        </p:txBody>
      </p:sp>
      <p:sp>
        <p:nvSpPr>
          <p:cNvPr id="88" name="Google Shape;88;p1"/>
          <p:cNvSpPr txBox="1"/>
          <p:nvPr/>
        </p:nvSpPr>
        <p:spPr>
          <a:xfrm>
            <a:off x="1097280" y="3474720"/>
            <a:ext cx="10058400" cy="64008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200" b="0" i="0" u="none" strike="noStrike" cap="none">
                <a:solidFill>
                  <a:srgbClr val="3A7CA5"/>
                </a:solidFill>
                <a:latin typeface="Calibri"/>
                <a:ea typeface="Calibri"/>
                <a:cs typeface="Calibri"/>
                <a:sym typeface="Calibri"/>
              </a:rPr>
              <a:t>The Role of Medical Specialty Among Diabetic Patients</a:t>
            </a:r>
            <a:endParaRPr/>
          </a:p>
        </p:txBody>
      </p:sp>
      <p:sp>
        <p:nvSpPr>
          <p:cNvPr id="89" name="Google Shape;89;p1"/>
          <p:cNvSpPr txBox="1"/>
          <p:nvPr/>
        </p:nvSpPr>
        <p:spPr>
          <a:xfrm>
            <a:off x="1097280" y="4572000"/>
            <a:ext cx="100584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000" b="0" i="0" u="none" strike="noStrike" cap="none">
                <a:solidFill>
                  <a:srgbClr val="FFFFFF"/>
                </a:solidFill>
                <a:latin typeface="Calibri"/>
                <a:ea typeface="Calibri"/>
                <a:cs typeface="Calibri"/>
                <a:sym typeface="Calibri"/>
              </a:rPr>
              <a:t>Selina You,  Zhouhan Qian</a:t>
            </a:r>
            <a:endParaRPr/>
          </a:p>
        </p:txBody>
      </p:sp>
      <p:sp>
        <p:nvSpPr>
          <p:cNvPr id="90" name="Google Shape;90;p1"/>
          <p:cNvSpPr txBox="1"/>
          <p:nvPr/>
        </p:nvSpPr>
        <p:spPr>
          <a:xfrm>
            <a:off x="1097280" y="5120640"/>
            <a:ext cx="100584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600" b="0" i="0" u="none" strike="noStrike" cap="none">
                <a:solidFill>
                  <a:srgbClr val="AABBCC"/>
                </a:solidFill>
                <a:latin typeface="Calibri"/>
                <a:ea typeface="Calibri"/>
                <a:cs typeface="Calibri"/>
                <a:sym typeface="Calibri"/>
              </a:rPr>
              <a:t>Introduction to Applied Bayesian Analysis  |  March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p:nvPr/>
        </p:nvSpPr>
        <p:spPr>
          <a:xfrm>
            <a:off x="0" y="0"/>
            <a:ext cx="12191695" cy="6858000"/>
          </a:xfrm>
          <a:prstGeom prst="rect">
            <a:avLst/>
          </a:prstGeom>
          <a:solidFill>
            <a:srgbClr val="233D6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 name="Google Shape;96;p2"/>
          <p:cNvSpPr/>
          <p:nvPr/>
        </p:nvSpPr>
        <p:spPr>
          <a:xfrm>
            <a:off x="1371600" y="2834640"/>
            <a:ext cx="1828800" cy="54864"/>
          </a:xfrm>
          <a:prstGeom prst="rect">
            <a:avLst/>
          </a:prstGeom>
          <a:solidFill>
            <a:srgbClr val="3A7CA5"/>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p2"/>
          <p:cNvSpPr txBox="1"/>
          <p:nvPr/>
        </p:nvSpPr>
        <p:spPr>
          <a:xfrm>
            <a:off x="1371600" y="3108960"/>
            <a:ext cx="9144000" cy="109728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600" b="1" i="0" u="none" strike="noStrike" cap="none">
                <a:solidFill>
                  <a:srgbClr val="FFFFFF"/>
                </a:solidFill>
                <a:latin typeface="Calibri"/>
                <a:ea typeface="Calibri"/>
                <a:cs typeface="Calibri"/>
                <a:sym typeface="Calibri"/>
              </a:rPr>
              <a:t>Part 1</a:t>
            </a:r>
            <a:endParaRPr/>
          </a:p>
        </p:txBody>
      </p:sp>
      <p:sp>
        <p:nvSpPr>
          <p:cNvPr id="98" name="Google Shape;98;p2"/>
          <p:cNvSpPr txBox="1"/>
          <p:nvPr/>
        </p:nvSpPr>
        <p:spPr>
          <a:xfrm>
            <a:off x="1371600" y="4023360"/>
            <a:ext cx="91440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000" b="0" i="0" u="none" strike="noStrike" cap="none">
                <a:solidFill>
                  <a:srgbClr val="3A7CA5"/>
                </a:solidFill>
                <a:latin typeface="Calibri"/>
                <a:ea typeface="Calibri"/>
                <a:cs typeface="Calibri"/>
                <a:sym typeface="Calibri"/>
              </a:rPr>
              <a:t>Motivation &amp; Research Question</a:t>
            </a:r>
            <a:endParaRPr sz="3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3"/>
          <p:cNvSpPr/>
          <p:nvPr/>
        </p:nvSpPr>
        <p:spPr>
          <a:xfrm>
            <a:off x="0" y="0"/>
            <a:ext cx="12191695" cy="1005840"/>
          </a:xfrm>
          <a:prstGeom prst="rect">
            <a:avLst/>
          </a:prstGeom>
          <a:solidFill>
            <a:srgbClr val="1B2A4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 name="Google Shape;104;p3"/>
          <p:cNvSpPr txBox="1"/>
          <p:nvPr/>
        </p:nvSpPr>
        <p:spPr>
          <a:xfrm>
            <a:off x="548640" y="137160"/>
            <a:ext cx="10972800" cy="523200"/>
          </a:xfrm>
          <a:prstGeom prst="rect">
            <a:avLst/>
          </a:prstGeom>
          <a:noFill/>
          <a:ln>
            <a:noFill/>
          </a:ln>
        </p:spPr>
        <p:txBody>
          <a:bodyPr spcFirstLastPara="1" wrap="square" lIns="91425" tIns="45700" rIns="91425" bIns="45700" anchor="t" anchorCtr="0">
            <a:spAutoFit/>
          </a:bodyPr>
          <a:lstStyle/>
          <a:p>
            <a:pPr marL="0" lvl="0" indent="0" algn="l" rtl="0">
              <a:lnSpc>
                <a:spcPct val="130000"/>
              </a:lnSpc>
              <a:spcBef>
                <a:spcPts val="0"/>
              </a:spcBef>
              <a:spcAft>
                <a:spcPts val="0"/>
              </a:spcAft>
              <a:buSzPts val="1100"/>
              <a:buNone/>
            </a:pPr>
            <a:r>
              <a:rPr lang="en-US" sz="2800" b="1">
                <a:solidFill>
                  <a:srgbClr val="FFFFFF"/>
                </a:solidFill>
                <a:latin typeface="Calibri"/>
                <a:ea typeface="Calibri"/>
                <a:cs typeface="Calibri"/>
                <a:sym typeface="Calibri"/>
              </a:rPr>
              <a:t>Why care about hospital readmissions?</a:t>
            </a:r>
            <a:endParaRPr sz="2800" b="1">
              <a:solidFill>
                <a:srgbClr val="FFFFFF"/>
              </a:solidFill>
              <a:latin typeface="Calibri"/>
              <a:ea typeface="Calibri"/>
              <a:cs typeface="Calibri"/>
              <a:sym typeface="Calibri"/>
            </a:endParaRPr>
          </a:p>
        </p:txBody>
      </p:sp>
      <p:sp>
        <p:nvSpPr>
          <p:cNvPr id="105" name="Google Shape;105;p3"/>
          <p:cNvSpPr txBox="1"/>
          <p:nvPr/>
        </p:nvSpPr>
        <p:spPr>
          <a:xfrm>
            <a:off x="3608175" y="1510350"/>
            <a:ext cx="7821900" cy="3075300"/>
          </a:xfrm>
          <a:prstGeom prst="rect">
            <a:avLst/>
          </a:prstGeom>
          <a:noFill/>
          <a:ln>
            <a:noFill/>
          </a:ln>
        </p:spPr>
        <p:txBody>
          <a:bodyPr spcFirstLastPara="1" wrap="square" lIns="91425" tIns="45700" rIns="91425" bIns="45700" anchor="t" anchorCtr="0">
            <a:spAutoFit/>
          </a:bodyPr>
          <a:lstStyle/>
          <a:p>
            <a:pPr marL="457200" lvl="0" indent="-304800" algn="l" rtl="0">
              <a:lnSpc>
                <a:spcPct val="115000"/>
              </a:lnSpc>
              <a:spcBef>
                <a:spcPts val="1200"/>
              </a:spcBef>
              <a:spcAft>
                <a:spcPts val="0"/>
              </a:spcAft>
              <a:buClr>
                <a:schemeClr val="dk1"/>
              </a:buClr>
              <a:buSzPts val="1200"/>
              <a:buChar char="●"/>
            </a:pPr>
            <a:r>
              <a:rPr lang="en-US" sz="1900">
                <a:solidFill>
                  <a:srgbClr val="2C2C2C"/>
                </a:solidFill>
                <a:latin typeface="Calibri"/>
                <a:ea typeface="Calibri"/>
                <a:cs typeface="Calibri"/>
                <a:sym typeface="Calibri"/>
              </a:rPr>
              <a:t>Under the Centers for Medicare &amp; Medicaid Services Hospital Readmissions Reduction Program, hospitals face financial penalties for excess readmissions</a:t>
            </a:r>
            <a:endParaRPr sz="1900">
              <a:solidFill>
                <a:srgbClr val="2C2C2C"/>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Char char="●"/>
            </a:pPr>
            <a:r>
              <a:rPr lang="en-US" sz="1900">
                <a:solidFill>
                  <a:srgbClr val="2C2C2C"/>
                </a:solidFill>
                <a:latin typeface="Calibri"/>
                <a:ea typeface="Calibri"/>
                <a:cs typeface="Calibri"/>
                <a:sym typeface="Calibri"/>
              </a:rPr>
              <a:t>As a result, the 30-day readmission rate has become a central quality metric tied to Medicare reimbursement</a:t>
            </a:r>
            <a:endParaRPr sz="1900">
              <a:solidFill>
                <a:srgbClr val="2C2C2C"/>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Char char="●"/>
            </a:pPr>
            <a:r>
              <a:rPr lang="en-US" sz="1900">
                <a:solidFill>
                  <a:srgbClr val="2C2C2C"/>
                </a:solidFill>
                <a:latin typeface="Calibri"/>
                <a:ea typeface="Calibri"/>
                <a:cs typeface="Calibri"/>
                <a:sym typeface="Calibri"/>
              </a:rPr>
              <a:t>Among all patient populations, diabetes Mellitus patients represent a particularly high-risk population, characterized by complex comorbidities, frequent hospitalizations, and care spanning multiple specialties </a:t>
            </a:r>
            <a:endParaRPr sz="1900">
              <a:solidFill>
                <a:srgbClr val="2C2C2C"/>
              </a:solidFill>
              <a:latin typeface="Calibri"/>
              <a:ea typeface="Calibri"/>
              <a:cs typeface="Calibri"/>
              <a:sym typeface="Calibri"/>
            </a:endParaRPr>
          </a:p>
        </p:txBody>
      </p:sp>
      <p:sp>
        <p:nvSpPr>
          <p:cNvPr id="106" name="Google Shape;106;p3"/>
          <p:cNvSpPr txBox="1"/>
          <p:nvPr/>
        </p:nvSpPr>
        <p:spPr>
          <a:xfrm>
            <a:off x="5177473" y="4306825"/>
            <a:ext cx="6057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a:p>
        </p:txBody>
      </p:sp>
      <p:sp>
        <p:nvSpPr>
          <p:cNvPr id="107" name="Google Shape;107;p3"/>
          <p:cNvSpPr/>
          <p:nvPr/>
        </p:nvSpPr>
        <p:spPr>
          <a:xfrm>
            <a:off x="874850" y="1702754"/>
            <a:ext cx="2560200" cy="1463100"/>
          </a:xfrm>
          <a:prstGeom prst="rect">
            <a:avLst/>
          </a:prstGeom>
          <a:solidFill>
            <a:srgbClr val="FFFFFF"/>
          </a:solidFill>
          <a:ln>
            <a:noFill/>
          </a:ln>
          <a:effectLst>
            <a:outerShdw blurRad="508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74850" y="1794194"/>
            <a:ext cx="2560200" cy="731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74B3"/>
              </a:buClr>
              <a:buSzPts val="3600"/>
              <a:buFont typeface="Georgia"/>
              <a:buNone/>
            </a:pPr>
            <a:r>
              <a:rPr lang="en-US" sz="3600" b="1" i="0" u="none" strike="noStrike" cap="none">
                <a:solidFill>
                  <a:schemeClr val="dk2"/>
                </a:solidFill>
                <a:latin typeface="Georgia"/>
                <a:ea typeface="Georgia"/>
                <a:cs typeface="Georgia"/>
                <a:sym typeface="Georgia"/>
              </a:rPr>
              <a:t>$26B+</a:t>
            </a:r>
            <a:endParaRPr sz="3600" b="0" i="0" u="none" strike="noStrike" cap="none">
              <a:solidFill>
                <a:schemeClr val="dk2"/>
              </a:solidFill>
              <a:latin typeface="Calibri"/>
              <a:ea typeface="Calibri"/>
              <a:cs typeface="Calibri"/>
              <a:sym typeface="Calibri"/>
            </a:endParaRPr>
          </a:p>
        </p:txBody>
      </p:sp>
      <p:sp>
        <p:nvSpPr>
          <p:cNvPr id="109" name="Google Shape;109;p3"/>
          <p:cNvSpPr/>
          <p:nvPr/>
        </p:nvSpPr>
        <p:spPr>
          <a:xfrm>
            <a:off x="874850" y="2479994"/>
            <a:ext cx="2560200" cy="5943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4A5568"/>
              </a:buClr>
              <a:buSzPts val="1100"/>
              <a:buFont typeface="Calibri"/>
              <a:buNone/>
            </a:pPr>
            <a:r>
              <a:rPr lang="en-US" sz="1600" b="0" i="0" u="none" strike="noStrike" cap="none">
                <a:solidFill>
                  <a:srgbClr val="4A5568"/>
                </a:solidFill>
                <a:latin typeface="Calibri"/>
                <a:ea typeface="Calibri"/>
                <a:cs typeface="Calibri"/>
                <a:sym typeface="Calibri"/>
              </a:rPr>
              <a:t>Annual cost of unplanned</a:t>
            </a:r>
            <a:endParaRPr sz="1600" b="0" i="0" u="none" strike="noStrike" cap="none">
              <a:solidFill>
                <a:srgbClr val="000000"/>
              </a:solidFill>
              <a:latin typeface="Calibri"/>
              <a:ea typeface="Calibri"/>
              <a:cs typeface="Calibri"/>
              <a:sym typeface="Calibri"/>
            </a:endParaRPr>
          </a:p>
          <a:p>
            <a:pPr marL="0" marR="0" lvl="0" indent="0" algn="ctr" rtl="0">
              <a:spcBef>
                <a:spcPts val="0"/>
              </a:spcBef>
              <a:spcAft>
                <a:spcPts val="0"/>
              </a:spcAft>
              <a:buClr>
                <a:srgbClr val="4A5568"/>
              </a:buClr>
              <a:buSzPts val="1100"/>
              <a:buFont typeface="Calibri"/>
              <a:buNone/>
            </a:pPr>
            <a:r>
              <a:rPr lang="en-US" sz="1600" b="0" i="0" u="none" strike="noStrike" cap="none">
                <a:solidFill>
                  <a:srgbClr val="4A5568"/>
                </a:solidFill>
                <a:latin typeface="Calibri"/>
                <a:ea typeface="Calibri"/>
                <a:cs typeface="Calibri"/>
                <a:sym typeface="Calibri"/>
              </a:rPr>
              <a:t>readmissions in the US</a:t>
            </a:r>
            <a:endParaRPr sz="1600" b="0" i="0" u="none" strike="noStrike" cap="none">
              <a:solidFill>
                <a:srgbClr val="000000"/>
              </a:solidFill>
              <a:latin typeface="Calibri"/>
              <a:ea typeface="Calibri"/>
              <a:cs typeface="Calibri"/>
              <a:sym typeface="Calibri"/>
            </a:endParaRPr>
          </a:p>
        </p:txBody>
      </p:sp>
      <p:sp>
        <p:nvSpPr>
          <p:cNvPr id="110" name="Google Shape;110;p3"/>
          <p:cNvSpPr txBox="1"/>
          <p:nvPr/>
        </p:nvSpPr>
        <p:spPr>
          <a:xfrm>
            <a:off x="1295310" y="5022602"/>
            <a:ext cx="9601200" cy="800400"/>
          </a:xfrm>
          <a:prstGeom prst="rect">
            <a:avLst/>
          </a:prstGeom>
          <a:noFill/>
          <a:ln>
            <a:noFill/>
          </a:ln>
        </p:spPr>
        <p:txBody>
          <a:bodyPr spcFirstLastPara="1" wrap="square" lIns="91425" tIns="45700" rIns="91425" bIns="45700" anchor="t" anchorCtr="0">
            <a:spAutoFit/>
          </a:bodyPr>
          <a:lstStyle/>
          <a:p>
            <a:pPr marL="0" marR="0" lvl="0" indent="0" algn="ctr" rtl="0">
              <a:lnSpc>
                <a:spcPct val="130000"/>
              </a:lnSpc>
              <a:spcBef>
                <a:spcPts val="0"/>
              </a:spcBef>
              <a:spcAft>
                <a:spcPts val="0"/>
              </a:spcAft>
              <a:buNone/>
            </a:pPr>
            <a:r>
              <a:rPr lang="en-US" sz="2000" b="1" i="0" u="none" strike="noStrike" cap="none">
                <a:solidFill>
                  <a:srgbClr val="233D6B"/>
                </a:solidFill>
                <a:latin typeface="Calibri"/>
                <a:ea typeface="Calibri"/>
                <a:cs typeface="Calibri"/>
                <a:sym typeface="Calibri"/>
              </a:rPr>
              <a:t>How much specialty-level heterogeneity exists in 30-day</a:t>
            </a:r>
            <a:r>
              <a:rPr lang="en-US" sz="2000" b="1">
                <a:solidFill>
                  <a:srgbClr val="233D6B"/>
                </a:solidFill>
                <a:latin typeface="Calibri"/>
                <a:ea typeface="Calibri"/>
                <a:cs typeface="Calibri"/>
                <a:sym typeface="Calibri"/>
              </a:rPr>
              <a:t> </a:t>
            </a:r>
            <a:r>
              <a:rPr lang="en-US" sz="2000" b="1" i="0" u="none" strike="noStrike" cap="none">
                <a:solidFill>
                  <a:srgbClr val="233D6B"/>
                </a:solidFill>
                <a:latin typeface="Calibri"/>
                <a:ea typeface="Calibri"/>
                <a:cs typeface="Calibri"/>
                <a:sym typeface="Calibri"/>
              </a:rPr>
              <a:t>readmission risk, and can we reliably estimate it despite</a:t>
            </a:r>
            <a:r>
              <a:rPr lang="en-US" sz="2000" b="1">
                <a:solidFill>
                  <a:srgbClr val="233D6B"/>
                </a:solidFill>
                <a:latin typeface="Calibri"/>
                <a:ea typeface="Calibri"/>
                <a:cs typeface="Calibri"/>
                <a:sym typeface="Calibri"/>
              </a:rPr>
              <a:t> </a:t>
            </a:r>
            <a:r>
              <a:rPr lang="en-US" sz="2000" b="1" i="0" u="none" strike="noStrike" cap="none">
                <a:solidFill>
                  <a:srgbClr val="233D6B"/>
                </a:solidFill>
                <a:latin typeface="Calibri"/>
                <a:ea typeface="Calibri"/>
                <a:cs typeface="Calibri"/>
                <a:sym typeface="Calibri"/>
              </a:rPr>
              <a:t>severe group imbalance?</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5"/>
          <p:cNvSpPr/>
          <p:nvPr/>
        </p:nvSpPr>
        <p:spPr>
          <a:xfrm>
            <a:off x="0" y="0"/>
            <a:ext cx="12191695" cy="1005840"/>
          </a:xfrm>
          <a:prstGeom prst="rect">
            <a:avLst/>
          </a:prstGeom>
          <a:solidFill>
            <a:srgbClr val="1B2A4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6" name="Google Shape;116;p5"/>
          <p:cNvSpPr txBox="1"/>
          <p:nvPr/>
        </p:nvSpPr>
        <p:spPr>
          <a:xfrm>
            <a:off x="548640" y="137160"/>
            <a:ext cx="109728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a:solidFill>
                  <a:srgbClr val="FFFFFF"/>
                </a:solidFill>
                <a:latin typeface="Calibri"/>
                <a:ea typeface="Calibri"/>
                <a:cs typeface="Calibri"/>
                <a:sym typeface="Calibri"/>
              </a:rPr>
              <a:t>Why a Bayesian Hierarchical Approach?</a:t>
            </a:r>
            <a:endParaRPr sz="2800" b="1">
              <a:solidFill>
                <a:srgbClr val="FFFFFF"/>
              </a:solidFill>
              <a:latin typeface="Calibri"/>
              <a:ea typeface="Calibri"/>
              <a:cs typeface="Calibri"/>
              <a:sym typeface="Calibri"/>
            </a:endParaRPr>
          </a:p>
        </p:txBody>
      </p:sp>
      <p:sp>
        <p:nvSpPr>
          <p:cNvPr id="117" name="Google Shape;117;p5"/>
          <p:cNvSpPr/>
          <p:nvPr/>
        </p:nvSpPr>
        <p:spPr>
          <a:xfrm>
            <a:off x="853417" y="1584960"/>
            <a:ext cx="10485000" cy="14019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18" name="Google Shape;118;p5"/>
          <p:cNvSpPr/>
          <p:nvPr/>
        </p:nvSpPr>
        <p:spPr>
          <a:xfrm>
            <a:off x="1341084" y="1706880"/>
            <a:ext cx="9509400" cy="426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2100"/>
              <a:buFont typeface="Calibri"/>
              <a:buNone/>
            </a:pPr>
            <a:r>
              <a:rPr lang="en-US" sz="2100" b="1" i="0" u="none" strike="noStrike" cap="none">
                <a:solidFill>
                  <a:schemeClr val="dk2"/>
                </a:solidFill>
                <a:latin typeface="Calibri"/>
                <a:ea typeface="Calibri"/>
                <a:cs typeface="Calibri"/>
                <a:sym typeface="Calibri"/>
              </a:rPr>
              <a:t>Partial Pooling</a:t>
            </a:r>
            <a:endParaRPr sz="2100" b="0" i="0" u="none" strike="noStrike" cap="none">
              <a:solidFill>
                <a:schemeClr val="dk2"/>
              </a:solidFill>
              <a:latin typeface="Calibri"/>
              <a:ea typeface="Calibri"/>
              <a:cs typeface="Calibri"/>
              <a:sym typeface="Calibri"/>
            </a:endParaRPr>
          </a:p>
        </p:txBody>
      </p:sp>
      <p:sp>
        <p:nvSpPr>
          <p:cNvPr id="119" name="Google Shape;119;p5"/>
          <p:cNvSpPr/>
          <p:nvPr/>
        </p:nvSpPr>
        <p:spPr>
          <a:xfrm>
            <a:off x="1341084" y="2133600"/>
            <a:ext cx="9509400" cy="731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5568"/>
              </a:buClr>
              <a:buSzPts val="1600"/>
              <a:buFont typeface="Calibri"/>
              <a:buNone/>
            </a:pPr>
            <a:r>
              <a:rPr lang="en-US" sz="1900" b="0" i="0" u="none" strike="noStrike" cap="none">
                <a:solidFill>
                  <a:schemeClr val="dk1"/>
                </a:solidFill>
                <a:latin typeface="Calibri"/>
                <a:ea typeface="Calibri"/>
                <a:cs typeface="Calibri"/>
                <a:sym typeface="Calibri"/>
              </a:rPr>
              <a:t>Small-sample specialties (e.g., PMR, n=288) borrow strength from larger groups through shared hyperparameter τ, yielding more stable estimates than fixed effects or complete pooling.</a:t>
            </a:r>
            <a:endParaRPr sz="1900" b="0" i="0" u="none" strike="noStrike" cap="none">
              <a:solidFill>
                <a:schemeClr val="dk1"/>
              </a:solidFill>
              <a:latin typeface="Calibri"/>
              <a:ea typeface="Calibri"/>
              <a:cs typeface="Calibri"/>
              <a:sym typeface="Calibri"/>
            </a:endParaRPr>
          </a:p>
        </p:txBody>
      </p:sp>
      <p:sp>
        <p:nvSpPr>
          <p:cNvPr id="120" name="Google Shape;120;p5"/>
          <p:cNvSpPr/>
          <p:nvPr/>
        </p:nvSpPr>
        <p:spPr>
          <a:xfrm>
            <a:off x="853417" y="3230880"/>
            <a:ext cx="10485000" cy="14019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21" name="Google Shape;121;p5"/>
          <p:cNvSpPr/>
          <p:nvPr/>
        </p:nvSpPr>
        <p:spPr>
          <a:xfrm>
            <a:off x="1341084" y="3352800"/>
            <a:ext cx="9509400" cy="426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2100"/>
              <a:buFont typeface="Calibri"/>
              <a:buNone/>
            </a:pPr>
            <a:r>
              <a:rPr lang="en-US" sz="2100" b="1" i="0" u="none" strike="noStrike" cap="none">
                <a:solidFill>
                  <a:schemeClr val="dk2"/>
                </a:solidFill>
                <a:latin typeface="Calibri"/>
                <a:ea typeface="Calibri"/>
                <a:cs typeface="Calibri"/>
                <a:sym typeface="Calibri"/>
              </a:rPr>
              <a:t>Coherent Uncertainty</a:t>
            </a:r>
            <a:endParaRPr sz="2100" b="0" i="0" u="none" strike="noStrike" cap="none">
              <a:solidFill>
                <a:schemeClr val="dk2"/>
              </a:solidFill>
              <a:latin typeface="Calibri"/>
              <a:ea typeface="Calibri"/>
              <a:cs typeface="Calibri"/>
              <a:sym typeface="Calibri"/>
            </a:endParaRPr>
          </a:p>
        </p:txBody>
      </p:sp>
      <p:sp>
        <p:nvSpPr>
          <p:cNvPr id="122" name="Google Shape;122;p5"/>
          <p:cNvSpPr/>
          <p:nvPr/>
        </p:nvSpPr>
        <p:spPr>
          <a:xfrm>
            <a:off x="1341084" y="3779520"/>
            <a:ext cx="9509400" cy="731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5568"/>
              </a:buClr>
              <a:buSzPts val="1600"/>
              <a:buFont typeface="Calibri"/>
              <a:buNone/>
            </a:pPr>
            <a:r>
              <a:rPr lang="en-US" sz="1900" b="0" i="0" u="none" strike="noStrike" cap="none">
                <a:solidFill>
                  <a:schemeClr val="dk1"/>
                </a:solidFill>
                <a:latin typeface="Calibri"/>
                <a:ea typeface="Calibri"/>
                <a:cs typeface="Calibri"/>
                <a:sym typeface="Calibri"/>
              </a:rPr>
              <a:t>Posterior credible intervals for τ directly quantify uncertainty about between-specialty variation, rather than reducing to a single p-value.</a:t>
            </a:r>
            <a:endParaRPr sz="1900" b="0" i="0" u="none" strike="noStrike" cap="none">
              <a:solidFill>
                <a:schemeClr val="dk1"/>
              </a:solidFill>
              <a:latin typeface="Calibri"/>
              <a:ea typeface="Calibri"/>
              <a:cs typeface="Calibri"/>
              <a:sym typeface="Calibri"/>
            </a:endParaRPr>
          </a:p>
        </p:txBody>
      </p:sp>
      <p:sp>
        <p:nvSpPr>
          <p:cNvPr id="123" name="Google Shape;123;p5"/>
          <p:cNvSpPr/>
          <p:nvPr/>
        </p:nvSpPr>
        <p:spPr>
          <a:xfrm>
            <a:off x="853417" y="4876800"/>
            <a:ext cx="97500" cy="14019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solidFill>
                <a:schemeClr val="dk2"/>
              </a:solidFill>
            </a:endParaRPr>
          </a:p>
        </p:txBody>
      </p:sp>
      <p:sp>
        <p:nvSpPr>
          <p:cNvPr id="124" name="Google Shape;124;p5"/>
          <p:cNvSpPr/>
          <p:nvPr/>
        </p:nvSpPr>
        <p:spPr>
          <a:xfrm>
            <a:off x="1341084" y="4998720"/>
            <a:ext cx="9509400" cy="426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2100"/>
              <a:buFont typeface="Calibri"/>
              <a:buNone/>
            </a:pPr>
            <a:r>
              <a:rPr lang="en-US" sz="2100" b="1" i="0" u="none" strike="noStrike" cap="none">
                <a:solidFill>
                  <a:schemeClr val="dk2"/>
                </a:solidFill>
                <a:latin typeface="Calibri"/>
                <a:ea typeface="Calibri"/>
                <a:cs typeface="Calibri"/>
                <a:sym typeface="Calibri"/>
              </a:rPr>
              <a:t>Principled Comparison</a:t>
            </a:r>
            <a:endParaRPr sz="2100" b="0" i="0" u="none" strike="noStrike" cap="none">
              <a:solidFill>
                <a:schemeClr val="dk2"/>
              </a:solidFill>
              <a:latin typeface="Calibri"/>
              <a:ea typeface="Calibri"/>
              <a:cs typeface="Calibri"/>
              <a:sym typeface="Calibri"/>
            </a:endParaRPr>
          </a:p>
        </p:txBody>
      </p:sp>
      <p:sp>
        <p:nvSpPr>
          <p:cNvPr id="125" name="Google Shape;125;p5"/>
          <p:cNvSpPr/>
          <p:nvPr/>
        </p:nvSpPr>
        <p:spPr>
          <a:xfrm>
            <a:off x="1341084" y="5425440"/>
            <a:ext cx="9509400" cy="731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5568"/>
              </a:buClr>
              <a:buSzPts val="1600"/>
              <a:buFont typeface="Calibri"/>
              <a:buNone/>
            </a:pPr>
            <a:r>
              <a:rPr lang="en-US" sz="1900" b="0" i="0" u="none" strike="noStrike" cap="none">
                <a:solidFill>
                  <a:schemeClr val="dk1"/>
                </a:solidFill>
                <a:latin typeface="Calibri"/>
                <a:ea typeface="Calibri"/>
                <a:cs typeface="Calibri"/>
                <a:sym typeface="Calibri"/>
              </a:rPr>
              <a:t>DIC and posterior predictive checks provide model assessment tools native to the Bayesian framework.</a:t>
            </a:r>
            <a:endParaRPr sz="1900" b="0" i="0" u="none" strike="noStrike" cap="none">
              <a:solidFill>
                <a:schemeClr val="dk1"/>
              </a:solidFill>
              <a:latin typeface="Calibri"/>
              <a:ea typeface="Calibri"/>
              <a:cs typeface="Calibri"/>
              <a:sym typeface="Calibri"/>
            </a:endParaRPr>
          </a:p>
        </p:txBody>
      </p:sp>
      <p:sp>
        <p:nvSpPr>
          <p:cNvPr id="126" name="Google Shape;126;p5"/>
          <p:cNvSpPr/>
          <p:nvPr/>
        </p:nvSpPr>
        <p:spPr>
          <a:xfrm>
            <a:off x="853417" y="1584960"/>
            <a:ext cx="97500" cy="14019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solidFill>
                <a:schemeClr val="dk2"/>
              </a:solidFill>
            </a:endParaRPr>
          </a:p>
        </p:txBody>
      </p:sp>
      <p:sp>
        <p:nvSpPr>
          <p:cNvPr id="127" name="Google Shape;127;p5"/>
          <p:cNvSpPr/>
          <p:nvPr/>
        </p:nvSpPr>
        <p:spPr>
          <a:xfrm>
            <a:off x="853417" y="3230880"/>
            <a:ext cx="97500" cy="14019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p:nvPr/>
        </p:nvSpPr>
        <p:spPr>
          <a:xfrm>
            <a:off x="0" y="0"/>
            <a:ext cx="12191695" cy="6858000"/>
          </a:xfrm>
          <a:prstGeom prst="rect">
            <a:avLst/>
          </a:prstGeom>
          <a:solidFill>
            <a:srgbClr val="233D6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 name="Google Shape;133;p8"/>
          <p:cNvSpPr/>
          <p:nvPr/>
        </p:nvSpPr>
        <p:spPr>
          <a:xfrm>
            <a:off x="1371600" y="2834640"/>
            <a:ext cx="1828800" cy="54864"/>
          </a:xfrm>
          <a:prstGeom prst="rect">
            <a:avLst/>
          </a:prstGeom>
          <a:solidFill>
            <a:srgbClr val="3A7CA5"/>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4" name="Google Shape;134;p8"/>
          <p:cNvSpPr txBox="1"/>
          <p:nvPr/>
        </p:nvSpPr>
        <p:spPr>
          <a:xfrm>
            <a:off x="1371600" y="3108960"/>
            <a:ext cx="9144000" cy="109728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600" b="1" i="0" u="none" strike="noStrike" cap="none">
                <a:solidFill>
                  <a:srgbClr val="FFFFFF"/>
                </a:solidFill>
                <a:latin typeface="Calibri"/>
                <a:ea typeface="Calibri"/>
                <a:cs typeface="Calibri"/>
                <a:sym typeface="Calibri"/>
              </a:rPr>
              <a:t>Part 2</a:t>
            </a:r>
            <a:endParaRPr/>
          </a:p>
        </p:txBody>
      </p:sp>
      <p:sp>
        <p:nvSpPr>
          <p:cNvPr id="135" name="Google Shape;135;p8"/>
          <p:cNvSpPr txBox="1"/>
          <p:nvPr/>
        </p:nvSpPr>
        <p:spPr>
          <a:xfrm>
            <a:off x="1371600" y="4023360"/>
            <a:ext cx="91440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000" b="0" i="0" u="none" strike="noStrike" cap="none">
                <a:solidFill>
                  <a:srgbClr val="3A7CA5"/>
                </a:solidFill>
                <a:latin typeface="Calibri"/>
                <a:ea typeface="Calibri"/>
                <a:cs typeface="Calibri"/>
                <a:sym typeface="Calibri"/>
              </a:rPr>
              <a:t>Overall Analysis Framework</a:t>
            </a:r>
            <a:endParaRPr sz="3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9"/>
          <p:cNvSpPr/>
          <p:nvPr/>
        </p:nvSpPr>
        <p:spPr>
          <a:xfrm>
            <a:off x="0" y="0"/>
            <a:ext cx="12191695" cy="1005840"/>
          </a:xfrm>
          <a:prstGeom prst="rect">
            <a:avLst/>
          </a:prstGeom>
          <a:solidFill>
            <a:srgbClr val="1B2A4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9"/>
          <p:cNvSpPr txBox="1"/>
          <p:nvPr/>
        </p:nvSpPr>
        <p:spPr>
          <a:xfrm>
            <a:off x="548640" y="137160"/>
            <a:ext cx="109728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Analysis Pipeline Overview</a:t>
            </a:r>
            <a:endParaRPr/>
          </a:p>
        </p:txBody>
      </p:sp>
      <p:pic>
        <p:nvPicPr>
          <p:cNvPr id="142" name="Google Shape;142;p9"/>
          <p:cNvPicPr preferRelativeResize="0"/>
          <p:nvPr/>
        </p:nvPicPr>
        <p:blipFill rotWithShape="1">
          <a:blip r:embed="rId3">
            <a:alphaModFix/>
          </a:blip>
          <a:srcRect t="11259" b="3959"/>
          <a:stretch/>
        </p:blipFill>
        <p:spPr>
          <a:xfrm>
            <a:off x="2132506" y="1420220"/>
            <a:ext cx="8133300" cy="51512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3d18d3d8234_0_98"/>
          <p:cNvSpPr/>
          <p:nvPr/>
        </p:nvSpPr>
        <p:spPr>
          <a:xfrm>
            <a:off x="893950" y="4779135"/>
            <a:ext cx="6009600" cy="4485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900"/>
          </a:p>
        </p:txBody>
      </p:sp>
      <p:sp>
        <p:nvSpPr>
          <p:cNvPr id="148" name="Google Shape;148;g3d18d3d8234_0_98"/>
          <p:cNvSpPr/>
          <p:nvPr/>
        </p:nvSpPr>
        <p:spPr>
          <a:xfrm>
            <a:off x="893950" y="5306094"/>
            <a:ext cx="6009600" cy="4485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900"/>
          </a:p>
        </p:txBody>
      </p:sp>
      <p:sp>
        <p:nvSpPr>
          <p:cNvPr id="149" name="Google Shape;149;g3d18d3d8234_0_98"/>
          <p:cNvSpPr/>
          <p:nvPr/>
        </p:nvSpPr>
        <p:spPr>
          <a:xfrm>
            <a:off x="893950" y="5858794"/>
            <a:ext cx="6009600" cy="4485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900"/>
          </a:p>
        </p:txBody>
      </p:sp>
      <p:sp>
        <p:nvSpPr>
          <p:cNvPr id="150" name="Google Shape;150;g3d18d3d8234_0_98"/>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1" name="Google Shape;151;g3d18d3d8234_0_98"/>
          <p:cNvSpPr txBox="1"/>
          <p:nvPr/>
        </p:nvSpPr>
        <p:spPr>
          <a:xfrm>
            <a:off x="548640" y="137160"/>
            <a:ext cx="109728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a:solidFill>
                  <a:srgbClr val="FFFFFF"/>
                </a:solidFill>
                <a:latin typeface="Calibri"/>
                <a:ea typeface="Calibri"/>
                <a:cs typeface="Calibri"/>
                <a:sym typeface="Calibri"/>
              </a:rPr>
              <a:t>Cohort Construction</a:t>
            </a:r>
            <a:endParaRPr sz="2800" b="1">
              <a:solidFill>
                <a:srgbClr val="FFFFFF"/>
              </a:solidFill>
              <a:latin typeface="Calibri"/>
              <a:ea typeface="Calibri"/>
              <a:cs typeface="Calibri"/>
              <a:sym typeface="Calibri"/>
            </a:endParaRPr>
          </a:p>
        </p:txBody>
      </p:sp>
      <p:sp>
        <p:nvSpPr>
          <p:cNvPr id="152" name="Google Shape;152;g3d18d3d8234_0_98"/>
          <p:cNvSpPr/>
          <p:nvPr/>
        </p:nvSpPr>
        <p:spPr>
          <a:xfrm>
            <a:off x="876875" y="1505523"/>
            <a:ext cx="6009600" cy="523200"/>
          </a:xfrm>
          <a:prstGeom prst="rect">
            <a:avLst/>
          </a:prstGeom>
          <a:solidFill>
            <a:schemeClr val="lt1"/>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900" b="1"/>
          </a:p>
        </p:txBody>
      </p:sp>
      <p:sp>
        <p:nvSpPr>
          <p:cNvPr id="153" name="Google Shape;153;g3d18d3d8234_0_98"/>
          <p:cNvSpPr/>
          <p:nvPr/>
        </p:nvSpPr>
        <p:spPr>
          <a:xfrm>
            <a:off x="1120695" y="1505525"/>
            <a:ext cx="3169800" cy="523200"/>
          </a:xfrm>
          <a:prstGeom prst="rect">
            <a:avLst/>
          </a:prstGeom>
          <a:solidFill>
            <a:schemeClr val="lt1"/>
          </a:solid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Calibri"/>
              <a:buNone/>
            </a:pPr>
            <a:r>
              <a:rPr lang="en-US" sz="1900" b="1" i="0" u="none" strike="noStrike" cap="none">
                <a:solidFill>
                  <a:schemeClr val="dk2"/>
                </a:solidFill>
                <a:latin typeface="Calibri"/>
                <a:ea typeface="Calibri"/>
                <a:cs typeface="Calibri"/>
                <a:sym typeface="Calibri"/>
              </a:rPr>
              <a:t>Raw Data</a:t>
            </a:r>
            <a:endParaRPr sz="1900" b="1" i="0" u="none" strike="noStrike" cap="none">
              <a:solidFill>
                <a:schemeClr val="dk2"/>
              </a:solidFill>
              <a:latin typeface="Calibri"/>
              <a:ea typeface="Calibri"/>
              <a:cs typeface="Calibri"/>
              <a:sym typeface="Calibri"/>
            </a:endParaRPr>
          </a:p>
        </p:txBody>
      </p:sp>
      <p:sp>
        <p:nvSpPr>
          <p:cNvPr id="154" name="Google Shape;154;g3d18d3d8234_0_98"/>
          <p:cNvSpPr/>
          <p:nvPr/>
        </p:nvSpPr>
        <p:spPr>
          <a:xfrm>
            <a:off x="4434264" y="1480023"/>
            <a:ext cx="1911600" cy="5487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1700"/>
              <a:buFont typeface="Calibri"/>
              <a:buNone/>
            </a:pPr>
            <a:r>
              <a:rPr lang="en-US" sz="1900" b="1" i="0" u="none" strike="noStrike" cap="none">
                <a:solidFill>
                  <a:schemeClr val="dk2"/>
                </a:solidFill>
                <a:latin typeface="Calibri"/>
                <a:ea typeface="Calibri"/>
                <a:cs typeface="Calibri"/>
                <a:sym typeface="Calibri"/>
              </a:rPr>
              <a:t>N = 101,766</a:t>
            </a:r>
            <a:endParaRPr sz="1900" b="1" i="0" u="none" strike="noStrike" cap="none">
              <a:solidFill>
                <a:schemeClr val="dk2"/>
              </a:solidFill>
              <a:latin typeface="Calibri"/>
              <a:ea typeface="Calibri"/>
              <a:cs typeface="Calibri"/>
              <a:sym typeface="Calibri"/>
            </a:endParaRPr>
          </a:p>
        </p:txBody>
      </p:sp>
      <p:sp>
        <p:nvSpPr>
          <p:cNvPr id="155" name="Google Shape;155;g3d18d3d8234_0_98"/>
          <p:cNvSpPr/>
          <p:nvPr/>
        </p:nvSpPr>
        <p:spPr>
          <a:xfrm>
            <a:off x="876820" y="2179598"/>
            <a:ext cx="6009600" cy="4485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900"/>
          </a:p>
        </p:txBody>
      </p:sp>
      <p:sp>
        <p:nvSpPr>
          <p:cNvPr id="156" name="Google Shape;156;g3d18d3d8234_0_98"/>
          <p:cNvSpPr/>
          <p:nvPr/>
        </p:nvSpPr>
        <p:spPr>
          <a:xfrm>
            <a:off x="1120653" y="2179598"/>
            <a:ext cx="2787000" cy="44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600"/>
              <a:buFont typeface="Calibri"/>
              <a:buNone/>
            </a:pPr>
            <a:r>
              <a:rPr lang="en-US" sz="1900" b="0" i="0" u="none" strike="noStrike" cap="none">
                <a:solidFill>
                  <a:srgbClr val="1E293B"/>
                </a:solidFill>
                <a:latin typeface="Calibri"/>
                <a:ea typeface="Calibri"/>
                <a:cs typeface="Calibri"/>
                <a:sym typeface="Calibri"/>
              </a:rPr>
              <a:t>Remove duplicates</a:t>
            </a:r>
            <a:endParaRPr sz="1900" b="0" i="0" u="none" strike="noStrike" cap="none">
              <a:solidFill>
                <a:schemeClr val="dk1"/>
              </a:solidFill>
              <a:latin typeface="Calibri"/>
              <a:ea typeface="Calibri"/>
              <a:cs typeface="Calibri"/>
              <a:sym typeface="Calibri"/>
            </a:endParaRPr>
          </a:p>
        </p:txBody>
      </p:sp>
      <p:sp>
        <p:nvSpPr>
          <p:cNvPr id="157" name="Google Shape;157;g3d18d3d8234_0_98"/>
          <p:cNvSpPr/>
          <p:nvPr/>
        </p:nvSpPr>
        <p:spPr>
          <a:xfrm>
            <a:off x="4434232" y="2179596"/>
            <a:ext cx="1911600" cy="44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C2626"/>
              </a:buClr>
              <a:buSzPts val="1700"/>
              <a:buFont typeface="Calibri"/>
              <a:buNone/>
            </a:pPr>
            <a:r>
              <a:rPr lang="en-US" sz="1900" b="1" i="0" u="none" strike="noStrike" cap="none">
                <a:solidFill>
                  <a:schemeClr val="dk2"/>
                </a:solidFill>
                <a:latin typeface="Calibri"/>
                <a:ea typeface="Calibri"/>
                <a:cs typeface="Calibri"/>
                <a:sym typeface="Calibri"/>
              </a:rPr>
              <a:t>−30,248</a:t>
            </a:r>
            <a:endParaRPr sz="1900" b="0" i="0" u="none" strike="noStrike" cap="none">
              <a:solidFill>
                <a:schemeClr val="dk2"/>
              </a:solidFill>
              <a:latin typeface="Calibri"/>
              <a:ea typeface="Calibri"/>
              <a:cs typeface="Calibri"/>
              <a:sym typeface="Calibri"/>
            </a:endParaRPr>
          </a:p>
        </p:txBody>
      </p:sp>
      <p:sp>
        <p:nvSpPr>
          <p:cNvPr id="158" name="Google Shape;158;g3d18d3d8234_0_98"/>
          <p:cNvSpPr/>
          <p:nvPr/>
        </p:nvSpPr>
        <p:spPr>
          <a:xfrm>
            <a:off x="876820" y="2723726"/>
            <a:ext cx="6009600" cy="4485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900"/>
          </a:p>
        </p:txBody>
      </p:sp>
      <p:sp>
        <p:nvSpPr>
          <p:cNvPr id="159" name="Google Shape;159;g3d18d3d8234_0_98"/>
          <p:cNvSpPr/>
          <p:nvPr/>
        </p:nvSpPr>
        <p:spPr>
          <a:xfrm>
            <a:off x="1120654" y="2723724"/>
            <a:ext cx="3169800" cy="448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600"/>
              <a:buFont typeface="Calibri"/>
              <a:buNone/>
            </a:pPr>
            <a:r>
              <a:rPr lang="en-US" sz="1900" b="0" i="0" u="none" strike="noStrike" cap="none">
                <a:solidFill>
                  <a:srgbClr val="1E293B"/>
                </a:solidFill>
                <a:latin typeface="Calibri"/>
                <a:ea typeface="Calibri"/>
                <a:cs typeface="Calibri"/>
                <a:sym typeface="Calibri"/>
              </a:rPr>
              <a:t>Exclude expired/hospice</a:t>
            </a:r>
            <a:endParaRPr sz="1900" b="0" i="0" u="none" strike="noStrike" cap="none">
              <a:solidFill>
                <a:schemeClr val="dk1"/>
              </a:solidFill>
              <a:latin typeface="Calibri"/>
              <a:ea typeface="Calibri"/>
              <a:cs typeface="Calibri"/>
              <a:sym typeface="Calibri"/>
            </a:endParaRPr>
          </a:p>
        </p:txBody>
      </p:sp>
      <p:sp>
        <p:nvSpPr>
          <p:cNvPr id="160" name="Google Shape;160;g3d18d3d8234_0_98"/>
          <p:cNvSpPr/>
          <p:nvPr/>
        </p:nvSpPr>
        <p:spPr>
          <a:xfrm>
            <a:off x="4434232" y="2723723"/>
            <a:ext cx="1911600" cy="44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C2626"/>
              </a:buClr>
              <a:buSzPts val="1700"/>
              <a:buFont typeface="Calibri"/>
              <a:buNone/>
            </a:pPr>
            <a:r>
              <a:rPr lang="en-US" sz="1900" b="1" i="0" u="none" strike="noStrike" cap="none">
                <a:solidFill>
                  <a:schemeClr val="dk2"/>
                </a:solidFill>
                <a:latin typeface="Calibri"/>
                <a:ea typeface="Calibri"/>
                <a:cs typeface="Calibri"/>
                <a:sym typeface="Calibri"/>
              </a:rPr>
              <a:t>−1,545</a:t>
            </a:r>
            <a:endParaRPr sz="1900" b="0" i="0" u="none" strike="noStrike" cap="none">
              <a:solidFill>
                <a:schemeClr val="dk2"/>
              </a:solidFill>
              <a:latin typeface="Calibri"/>
              <a:ea typeface="Calibri"/>
              <a:cs typeface="Calibri"/>
              <a:sym typeface="Calibri"/>
            </a:endParaRPr>
          </a:p>
        </p:txBody>
      </p:sp>
      <p:sp>
        <p:nvSpPr>
          <p:cNvPr id="161" name="Google Shape;161;g3d18d3d8234_0_98"/>
          <p:cNvSpPr/>
          <p:nvPr/>
        </p:nvSpPr>
        <p:spPr>
          <a:xfrm>
            <a:off x="876875" y="3316344"/>
            <a:ext cx="6009600" cy="4485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900"/>
          </a:p>
        </p:txBody>
      </p:sp>
      <p:sp>
        <p:nvSpPr>
          <p:cNvPr id="162" name="Google Shape;162;g3d18d3d8234_0_98"/>
          <p:cNvSpPr/>
          <p:nvPr/>
        </p:nvSpPr>
        <p:spPr>
          <a:xfrm>
            <a:off x="1120700" y="3316350"/>
            <a:ext cx="4872000" cy="408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600"/>
              <a:buFont typeface="Calibri"/>
              <a:buNone/>
            </a:pPr>
            <a:r>
              <a:rPr lang="en-US" sz="1900" b="0" i="0" u="none" strike="noStrike" cap="none">
                <a:solidFill>
                  <a:srgbClr val="1E293B"/>
                </a:solidFill>
                <a:latin typeface="Calibri"/>
                <a:ea typeface="Calibri"/>
                <a:cs typeface="Calibri"/>
                <a:sym typeface="Calibri"/>
              </a:rPr>
              <a:t>Exclude unknown and very small </a:t>
            </a:r>
            <a:r>
              <a:rPr lang="en-US" sz="1900">
                <a:solidFill>
                  <a:srgbClr val="1E293B"/>
                </a:solidFill>
                <a:latin typeface="Calibri"/>
                <a:ea typeface="Calibri"/>
                <a:cs typeface="Calibri"/>
                <a:sym typeface="Calibri"/>
              </a:rPr>
              <a:t>specialty</a:t>
            </a:r>
            <a:endParaRPr sz="1900" b="0" i="0" u="none" strike="noStrike" cap="none">
              <a:solidFill>
                <a:schemeClr val="dk1"/>
              </a:solidFill>
              <a:latin typeface="Calibri"/>
              <a:ea typeface="Calibri"/>
              <a:cs typeface="Calibri"/>
              <a:sym typeface="Calibri"/>
            </a:endParaRPr>
          </a:p>
        </p:txBody>
      </p:sp>
      <p:sp>
        <p:nvSpPr>
          <p:cNvPr id="163" name="Google Shape;163;g3d18d3d8234_0_98"/>
          <p:cNvSpPr/>
          <p:nvPr/>
        </p:nvSpPr>
        <p:spPr>
          <a:xfrm>
            <a:off x="4434284" y="3316340"/>
            <a:ext cx="1911600" cy="448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C2626"/>
              </a:buClr>
              <a:buSzPts val="1700"/>
              <a:buFont typeface="Calibri"/>
              <a:buNone/>
            </a:pPr>
            <a:r>
              <a:rPr lang="en-US" sz="1900" b="1" i="0" u="none" strike="noStrike" cap="none">
                <a:solidFill>
                  <a:schemeClr val="dk2"/>
                </a:solidFill>
                <a:latin typeface="Calibri"/>
                <a:ea typeface="Calibri"/>
                <a:cs typeface="Calibri"/>
                <a:sym typeface="Calibri"/>
              </a:rPr>
              <a:t>−32,008</a:t>
            </a:r>
            <a:endParaRPr sz="1900" b="0" i="0" u="none" strike="noStrike" cap="none">
              <a:solidFill>
                <a:schemeClr val="dk2"/>
              </a:solidFill>
              <a:latin typeface="Calibri"/>
              <a:ea typeface="Calibri"/>
              <a:cs typeface="Calibri"/>
              <a:sym typeface="Calibri"/>
            </a:endParaRPr>
          </a:p>
        </p:txBody>
      </p:sp>
      <p:sp>
        <p:nvSpPr>
          <p:cNvPr id="164" name="Google Shape;164;g3d18d3d8234_0_98"/>
          <p:cNvSpPr/>
          <p:nvPr/>
        </p:nvSpPr>
        <p:spPr>
          <a:xfrm>
            <a:off x="876875" y="3961828"/>
            <a:ext cx="6009600" cy="548700"/>
          </a:xfrm>
          <a:prstGeom prst="rect">
            <a:avLst/>
          </a:prstGeom>
          <a:solidFill>
            <a:schemeClr val="lt1"/>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900" b="1"/>
          </a:p>
        </p:txBody>
      </p:sp>
      <p:sp>
        <p:nvSpPr>
          <p:cNvPr id="165" name="Google Shape;165;g3d18d3d8234_0_98"/>
          <p:cNvSpPr/>
          <p:nvPr/>
        </p:nvSpPr>
        <p:spPr>
          <a:xfrm>
            <a:off x="1120695" y="3961823"/>
            <a:ext cx="31698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Calibri"/>
              <a:buNone/>
            </a:pPr>
            <a:r>
              <a:rPr lang="en-US" sz="1900" b="1" i="0" u="none" strike="noStrike" cap="none">
                <a:solidFill>
                  <a:schemeClr val="dk2"/>
                </a:solidFill>
                <a:latin typeface="Calibri"/>
                <a:ea typeface="Calibri"/>
                <a:cs typeface="Calibri"/>
                <a:sym typeface="Calibri"/>
              </a:rPr>
              <a:t>Analytic Cohort</a:t>
            </a:r>
            <a:endParaRPr sz="1900" b="1" i="0" u="none" strike="noStrike" cap="none">
              <a:solidFill>
                <a:schemeClr val="dk2"/>
              </a:solidFill>
              <a:latin typeface="Calibri"/>
              <a:ea typeface="Calibri"/>
              <a:cs typeface="Calibri"/>
              <a:sym typeface="Calibri"/>
            </a:endParaRPr>
          </a:p>
        </p:txBody>
      </p:sp>
      <p:sp>
        <p:nvSpPr>
          <p:cNvPr id="166" name="Google Shape;166;g3d18d3d8234_0_98"/>
          <p:cNvSpPr/>
          <p:nvPr/>
        </p:nvSpPr>
        <p:spPr>
          <a:xfrm>
            <a:off x="4434264" y="3961823"/>
            <a:ext cx="1911600" cy="523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1700"/>
              <a:buFont typeface="Calibri"/>
              <a:buNone/>
            </a:pPr>
            <a:r>
              <a:rPr lang="en-US" sz="1900" b="1" i="0" u="none" strike="noStrike" cap="none">
                <a:solidFill>
                  <a:schemeClr val="dk2"/>
                </a:solidFill>
                <a:latin typeface="Calibri"/>
                <a:ea typeface="Calibri"/>
                <a:cs typeface="Calibri"/>
                <a:sym typeface="Calibri"/>
              </a:rPr>
              <a:t>N = 37,964</a:t>
            </a:r>
            <a:endParaRPr sz="1900" b="1" i="0" u="none" strike="noStrike" cap="none">
              <a:solidFill>
                <a:schemeClr val="dk2"/>
              </a:solidFill>
              <a:latin typeface="Calibri"/>
              <a:ea typeface="Calibri"/>
              <a:cs typeface="Calibri"/>
              <a:sym typeface="Calibri"/>
            </a:endParaRPr>
          </a:p>
        </p:txBody>
      </p:sp>
      <p:sp>
        <p:nvSpPr>
          <p:cNvPr id="167" name="Google Shape;167;g3d18d3d8234_0_98"/>
          <p:cNvSpPr/>
          <p:nvPr/>
        </p:nvSpPr>
        <p:spPr>
          <a:xfrm>
            <a:off x="7743515" y="2987337"/>
            <a:ext cx="3169800" cy="6789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8" name="Google Shape;168;g3d18d3d8234_0_98"/>
          <p:cNvSpPr/>
          <p:nvPr/>
        </p:nvSpPr>
        <p:spPr>
          <a:xfrm>
            <a:off x="7743515" y="2884785"/>
            <a:ext cx="3169800" cy="408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74B3"/>
              </a:buClr>
              <a:buSzPts val="3200"/>
              <a:buFont typeface="Georgia"/>
              <a:buNone/>
            </a:pPr>
            <a:r>
              <a:rPr lang="en-US" sz="2500" b="1" i="0" u="none" strike="noStrike" cap="none">
                <a:solidFill>
                  <a:schemeClr val="dk2"/>
                </a:solidFill>
                <a:latin typeface="Georgia"/>
                <a:ea typeface="Georgia"/>
                <a:cs typeface="Georgia"/>
                <a:sym typeface="Georgia"/>
              </a:rPr>
              <a:t>37,964</a:t>
            </a:r>
            <a:endParaRPr sz="2500" b="0" i="0" u="none" strike="noStrike" cap="none">
              <a:solidFill>
                <a:schemeClr val="dk2"/>
              </a:solidFill>
              <a:latin typeface="Calibri"/>
              <a:ea typeface="Calibri"/>
              <a:cs typeface="Calibri"/>
              <a:sym typeface="Calibri"/>
            </a:endParaRPr>
          </a:p>
        </p:txBody>
      </p:sp>
      <p:sp>
        <p:nvSpPr>
          <p:cNvPr id="169" name="Google Shape;169;g3d18d3d8234_0_98"/>
          <p:cNvSpPr/>
          <p:nvPr/>
        </p:nvSpPr>
        <p:spPr>
          <a:xfrm>
            <a:off x="7743515" y="3274793"/>
            <a:ext cx="3169800" cy="253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4A5568"/>
              </a:buClr>
              <a:buSzPts val="1300"/>
              <a:buFont typeface="Calibri"/>
              <a:buNone/>
            </a:pPr>
            <a:r>
              <a:rPr lang="en-US" sz="1800" b="0" i="0" u="none" strike="noStrike" cap="none">
                <a:solidFill>
                  <a:srgbClr val="4A5568"/>
                </a:solidFill>
                <a:latin typeface="Calibri"/>
                <a:ea typeface="Calibri"/>
                <a:cs typeface="Calibri"/>
                <a:sym typeface="Calibri"/>
              </a:rPr>
              <a:t>encounters</a:t>
            </a:r>
            <a:endParaRPr sz="1800" b="0" i="0" u="none" strike="noStrike" cap="none">
              <a:solidFill>
                <a:schemeClr val="dk1"/>
              </a:solidFill>
              <a:latin typeface="Calibri"/>
              <a:ea typeface="Calibri"/>
              <a:cs typeface="Calibri"/>
              <a:sym typeface="Calibri"/>
            </a:endParaRPr>
          </a:p>
        </p:txBody>
      </p:sp>
      <p:sp>
        <p:nvSpPr>
          <p:cNvPr id="170" name="Google Shape;170;g3d18d3d8234_0_98"/>
          <p:cNvSpPr/>
          <p:nvPr/>
        </p:nvSpPr>
        <p:spPr>
          <a:xfrm>
            <a:off x="7743515" y="3835926"/>
            <a:ext cx="3169800" cy="6789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1" name="Google Shape;171;g3d18d3d8234_0_98"/>
          <p:cNvSpPr/>
          <p:nvPr/>
        </p:nvSpPr>
        <p:spPr>
          <a:xfrm>
            <a:off x="7743515" y="3791779"/>
            <a:ext cx="3169800" cy="408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74B3"/>
              </a:buClr>
              <a:buSzPts val="3200"/>
              <a:buFont typeface="Georgia"/>
              <a:buNone/>
            </a:pPr>
            <a:r>
              <a:rPr lang="en-US" sz="2500" b="1" i="0" u="none" strike="noStrike" cap="none">
                <a:solidFill>
                  <a:schemeClr val="dk2"/>
                </a:solidFill>
                <a:latin typeface="Georgia"/>
                <a:ea typeface="Georgia"/>
                <a:cs typeface="Georgia"/>
                <a:sym typeface="Georgia"/>
              </a:rPr>
              <a:t>19</a:t>
            </a:r>
            <a:endParaRPr sz="2500" b="0" i="0" u="none" strike="noStrike" cap="none">
              <a:solidFill>
                <a:schemeClr val="dk2"/>
              </a:solidFill>
              <a:latin typeface="Calibri"/>
              <a:ea typeface="Calibri"/>
              <a:cs typeface="Calibri"/>
              <a:sym typeface="Calibri"/>
            </a:endParaRPr>
          </a:p>
        </p:txBody>
      </p:sp>
      <p:sp>
        <p:nvSpPr>
          <p:cNvPr id="172" name="Google Shape;172;g3d18d3d8234_0_98"/>
          <p:cNvSpPr/>
          <p:nvPr/>
        </p:nvSpPr>
        <p:spPr>
          <a:xfrm>
            <a:off x="7743515" y="4181786"/>
            <a:ext cx="3169800" cy="253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4A5568"/>
              </a:buClr>
              <a:buSzPts val="1300"/>
              <a:buFont typeface="Calibri"/>
              <a:buNone/>
            </a:pPr>
            <a:r>
              <a:rPr lang="en-US" sz="1800" b="0" i="0" u="none" strike="noStrike" cap="none">
                <a:solidFill>
                  <a:srgbClr val="4A5568"/>
                </a:solidFill>
                <a:latin typeface="Calibri"/>
                <a:ea typeface="Calibri"/>
                <a:cs typeface="Calibri"/>
                <a:sym typeface="Calibri"/>
              </a:rPr>
              <a:t>specialty groups </a:t>
            </a:r>
            <a:r>
              <a:rPr lang="en-US" sz="1800">
                <a:solidFill>
                  <a:srgbClr val="4A5568"/>
                </a:solidFill>
                <a:latin typeface="Calibri"/>
                <a:ea typeface="Calibri"/>
                <a:cs typeface="Calibri"/>
                <a:sym typeface="Calibri"/>
              </a:rPr>
              <a:t>(J)</a:t>
            </a:r>
            <a:endParaRPr sz="1800" b="0" i="0" u="none" strike="noStrike" cap="none">
              <a:solidFill>
                <a:schemeClr val="dk1"/>
              </a:solidFill>
              <a:latin typeface="Calibri"/>
              <a:ea typeface="Calibri"/>
              <a:cs typeface="Calibri"/>
              <a:sym typeface="Calibri"/>
            </a:endParaRPr>
          </a:p>
        </p:txBody>
      </p:sp>
      <p:sp>
        <p:nvSpPr>
          <p:cNvPr id="173" name="Google Shape;173;g3d18d3d8234_0_98"/>
          <p:cNvSpPr/>
          <p:nvPr/>
        </p:nvSpPr>
        <p:spPr>
          <a:xfrm>
            <a:off x="7743515" y="4684515"/>
            <a:ext cx="3169800" cy="6789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4" name="Google Shape;174;g3d18d3d8234_0_98"/>
          <p:cNvSpPr/>
          <p:nvPr/>
        </p:nvSpPr>
        <p:spPr>
          <a:xfrm>
            <a:off x="7743515" y="4698772"/>
            <a:ext cx="3169800" cy="408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74B3"/>
              </a:buClr>
              <a:buSzPts val="3200"/>
              <a:buFont typeface="Georgia"/>
              <a:buNone/>
            </a:pPr>
            <a:r>
              <a:rPr lang="en-US" sz="2500" b="1" i="0" u="none" strike="noStrike" cap="none">
                <a:solidFill>
                  <a:schemeClr val="dk2"/>
                </a:solidFill>
                <a:latin typeface="Georgia"/>
                <a:ea typeface="Georgia"/>
                <a:cs typeface="Georgia"/>
                <a:sym typeface="Georgia"/>
              </a:rPr>
              <a:t>9.60%</a:t>
            </a:r>
            <a:endParaRPr sz="2500" b="0" i="0" u="none" strike="noStrike" cap="none">
              <a:solidFill>
                <a:schemeClr val="dk2"/>
              </a:solidFill>
              <a:latin typeface="Calibri"/>
              <a:ea typeface="Calibri"/>
              <a:cs typeface="Calibri"/>
              <a:sym typeface="Calibri"/>
            </a:endParaRPr>
          </a:p>
        </p:txBody>
      </p:sp>
      <p:sp>
        <p:nvSpPr>
          <p:cNvPr id="175" name="Google Shape;175;g3d18d3d8234_0_98"/>
          <p:cNvSpPr/>
          <p:nvPr/>
        </p:nvSpPr>
        <p:spPr>
          <a:xfrm>
            <a:off x="7743515" y="5088780"/>
            <a:ext cx="3169800" cy="253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4A5568"/>
              </a:buClr>
              <a:buSzPts val="1300"/>
              <a:buFont typeface="Calibri"/>
              <a:buNone/>
            </a:pPr>
            <a:r>
              <a:rPr lang="en-US" sz="1800" b="0" i="0" u="none" strike="noStrike" cap="none">
                <a:solidFill>
                  <a:srgbClr val="4A5568"/>
                </a:solidFill>
                <a:latin typeface="Calibri"/>
                <a:ea typeface="Calibri"/>
                <a:cs typeface="Calibri"/>
                <a:sym typeface="Calibri"/>
              </a:rPr>
              <a:t>readmission rate</a:t>
            </a:r>
            <a:endParaRPr sz="1800" b="0" i="0" u="none" strike="noStrike" cap="none">
              <a:solidFill>
                <a:schemeClr val="dk1"/>
              </a:solidFill>
              <a:latin typeface="Calibri"/>
              <a:ea typeface="Calibri"/>
              <a:cs typeface="Calibri"/>
              <a:sym typeface="Calibri"/>
            </a:endParaRPr>
          </a:p>
        </p:txBody>
      </p:sp>
      <p:sp>
        <p:nvSpPr>
          <p:cNvPr id="176" name="Google Shape;176;g3d18d3d8234_0_98"/>
          <p:cNvSpPr/>
          <p:nvPr/>
        </p:nvSpPr>
        <p:spPr>
          <a:xfrm>
            <a:off x="7743515" y="5619585"/>
            <a:ext cx="3169800" cy="6789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7" name="Google Shape;177;g3d18d3d8234_0_98"/>
          <p:cNvSpPr/>
          <p:nvPr/>
        </p:nvSpPr>
        <p:spPr>
          <a:xfrm>
            <a:off x="7743515" y="5729785"/>
            <a:ext cx="3169800" cy="28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74B3"/>
              </a:buClr>
              <a:buSzPts val="3200"/>
              <a:buFont typeface="Georgia"/>
              <a:buNone/>
            </a:pPr>
            <a:r>
              <a:rPr lang="en-US" sz="2500" b="1" i="0" u="none" strike="noStrike" cap="none">
                <a:solidFill>
                  <a:schemeClr val="dk2"/>
                </a:solidFill>
                <a:latin typeface="Georgia"/>
                <a:ea typeface="Georgia"/>
                <a:cs typeface="Georgia"/>
                <a:sym typeface="Georgia"/>
              </a:rPr>
              <a:t>43</a:t>
            </a:r>
            <a:endParaRPr sz="2500" b="0" i="0" u="none" strike="noStrike" cap="none">
              <a:solidFill>
                <a:schemeClr val="dk2"/>
              </a:solidFill>
              <a:latin typeface="Calibri"/>
              <a:ea typeface="Calibri"/>
              <a:cs typeface="Calibri"/>
              <a:sym typeface="Calibri"/>
            </a:endParaRPr>
          </a:p>
        </p:txBody>
      </p:sp>
      <p:sp>
        <p:nvSpPr>
          <p:cNvPr id="178" name="Google Shape;178;g3d18d3d8234_0_98"/>
          <p:cNvSpPr/>
          <p:nvPr/>
        </p:nvSpPr>
        <p:spPr>
          <a:xfrm>
            <a:off x="7743515" y="5995773"/>
            <a:ext cx="3169800" cy="253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4A5568"/>
              </a:buClr>
              <a:buSzPts val="1300"/>
              <a:buFont typeface="Calibri"/>
              <a:buNone/>
            </a:pPr>
            <a:r>
              <a:rPr lang="en-US" sz="1800" b="0" i="0" u="none" strike="noStrike" cap="none">
                <a:solidFill>
                  <a:srgbClr val="4A5568"/>
                </a:solidFill>
                <a:latin typeface="Calibri"/>
                <a:ea typeface="Calibri"/>
                <a:cs typeface="Calibri"/>
                <a:sym typeface="Calibri"/>
              </a:rPr>
              <a:t>covariates (K)</a:t>
            </a:r>
            <a:endParaRPr sz="1800" b="0" i="0" u="none" strike="noStrike" cap="none">
              <a:solidFill>
                <a:schemeClr val="dk1"/>
              </a:solidFill>
              <a:latin typeface="Calibri"/>
              <a:ea typeface="Calibri"/>
              <a:cs typeface="Calibri"/>
              <a:sym typeface="Calibri"/>
            </a:endParaRPr>
          </a:p>
        </p:txBody>
      </p:sp>
      <p:sp>
        <p:nvSpPr>
          <p:cNvPr id="179" name="Google Shape;179;g3d18d3d8234_0_98"/>
          <p:cNvSpPr/>
          <p:nvPr/>
        </p:nvSpPr>
        <p:spPr>
          <a:xfrm>
            <a:off x="876875" y="4753394"/>
            <a:ext cx="6009600" cy="4485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1E293B"/>
              </a:buClr>
              <a:buSzPts val="1600"/>
              <a:buFont typeface="Calibri"/>
              <a:buNone/>
            </a:pPr>
            <a:endParaRPr sz="1900">
              <a:solidFill>
                <a:srgbClr val="1E293B"/>
              </a:solidFill>
              <a:latin typeface="Calibri"/>
              <a:ea typeface="Calibri"/>
              <a:cs typeface="Calibri"/>
              <a:sym typeface="Calibri"/>
            </a:endParaRPr>
          </a:p>
        </p:txBody>
      </p:sp>
      <p:sp>
        <p:nvSpPr>
          <p:cNvPr id="180" name="Google Shape;180;g3d18d3d8234_0_98"/>
          <p:cNvSpPr/>
          <p:nvPr/>
        </p:nvSpPr>
        <p:spPr>
          <a:xfrm>
            <a:off x="1120698" y="4753375"/>
            <a:ext cx="4497300" cy="44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600"/>
              <a:buFont typeface="Calibri"/>
              <a:buNone/>
            </a:pPr>
            <a:r>
              <a:rPr lang="en-US" sz="1900">
                <a:solidFill>
                  <a:srgbClr val="1E293B"/>
                </a:solidFill>
                <a:latin typeface="Calibri"/>
                <a:ea typeface="Calibri"/>
                <a:cs typeface="Calibri"/>
                <a:sym typeface="Calibri"/>
              </a:rPr>
              <a:t>Drop or handling High-Missing Vars</a:t>
            </a:r>
            <a:endParaRPr sz="1900">
              <a:solidFill>
                <a:srgbClr val="1E293B"/>
              </a:solidFill>
              <a:latin typeface="Calibri"/>
              <a:ea typeface="Calibri"/>
              <a:cs typeface="Calibri"/>
              <a:sym typeface="Calibri"/>
            </a:endParaRPr>
          </a:p>
        </p:txBody>
      </p:sp>
      <p:sp>
        <p:nvSpPr>
          <p:cNvPr id="181" name="Google Shape;181;g3d18d3d8234_0_98"/>
          <p:cNvSpPr/>
          <p:nvPr/>
        </p:nvSpPr>
        <p:spPr>
          <a:xfrm>
            <a:off x="4434284" y="4753387"/>
            <a:ext cx="1911600" cy="44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600"/>
              <a:buFont typeface="Calibri"/>
              <a:buNone/>
            </a:pPr>
            <a:endParaRPr sz="1900">
              <a:solidFill>
                <a:srgbClr val="1E293B"/>
              </a:solidFill>
              <a:latin typeface="Calibri"/>
              <a:ea typeface="Calibri"/>
              <a:cs typeface="Calibri"/>
              <a:sym typeface="Calibri"/>
            </a:endParaRPr>
          </a:p>
        </p:txBody>
      </p:sp>
      <p:sp>
        <p:nvSpPr>
          <p:cNvPr id="182" name="Google Shape;182;g3d18d3d8234_0_98"/>
          <p:cNvSpPr/>
          <p:nvPr/>
        </p:nvSpPr>
        <p:spPr>
          <a:xfrm>
            <a:off x="876788" y="5300122"/>
            <a:ext cx="6009600" cy="4485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endParaRPr sz="1900">
              <a:solidFill>
                <a:srgbClr val="1E293B"/>
              </a:solidFill>
              <a:latin typeface="Calibri"/>
              <a:ea typeface="Calibri"/>
              <a:cs typeface="Calibri"/>
              <a:sym typeface="Calibri"/>
            </a:endParaRPr>
          </a:p>
        </p:txBody>
      </p:sp>
      <p:sp>
        <p:nvSpPr>
          <p:cNvPr id="183" name="Google Shape;183;g3d18d3d8234_0_98"/>
          <p:cNvSpPr/>
          <p:nvPr/>
        </p:nvSpPr>
        <p:spPr>
          <a:xfrm>
            <a:off x="1120600" y="5300125"/>
            <a:ext cx="6154500" cy="523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600"/>
              <a:buFont typeface="Calibri"/>
              <a:buNone/>
            </a:pPr>
            <a:r>
              <a:rPr lang="en-US" sz="1900">
                <a:solidFill>
                  <a:srgbClr val="1E293B"/>
                </a:solidFill>
                <a:latin typeface="Calibri"/>
                <a:ea typeface="Calibri"/>
                <a:cs typeface="Calibri"/>
                <a:sym typeface="Calibri"/>
              </a:rPr>
              <a:t>Feature Engineering     </a:t>
            </a:r>
            <a:r>
              <a:rPr lang="en-US" sz="1900" b="1">
                <a:solidFill>
                  <a:schemeClr val="dk2"/>
                </a:solidFill>
                <a:latin typeface="Calibri"/>
                <a:ea typeface="Calibri"/>
                <a:cs typeface="Calibri"/>
                <a:sym typeface="Calibri"/>
              </a:rPr>
              <a:t> 10 continuous + 33 binary/categorical</a:t>
            </a:r>
            <a:endParaRPr sz="1900">
              <a:solidFill>
                <a:srgbClr val="1E293B"/>
              </a:solidFill>
              <a:latin typeface="Calibri"/>
              <a:ea typeface="Calibri"/>
              <a:cs typeface="Calibri"/>
              <a:sym typeface="Calibri"/>
            </a:endParaRPr>
          </a:p>
        </p:txBody>
      </p:sp>
      <p:sp>
        <p:nvSpPr>
          <p:cNvPr id="184" name="Google Shape;184;g3d18d3d8234_0_98"/>
          <p:cNvSpPr/>
          <p:nvPr/>
        </p:nvSpPr>
        <p:spPr>
          <a:xfrm>
            <a:off x="1120701" y="5833076"/>
            <a:ext cx="6154500" cy="523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600"/>
              <a:buFont typeface="Calibri"/>
              <a:buNone/>
            </a:pPr>
            <a:r>
              <a:rPr lang="en-US" sz="1900">
                <a:solidFill>
                  <a:srgbClr val="1E293B"/>
                </a:solidFill>
                <a:latin typeface="Calibri"/>
                <a:ea typeface="Calibri"/>
                <a:cs typeface="Calibri"/>
                <a:sym typeface="Calibri"/>
              </a:rPr>
              <a:t>Specialty Regrouping     </a:t>
            </a:r>
            <a:r>
              <a:rPr lang="en-US" sz="1900" b="1">
                <a:solidFill>
                  <a:schemeClr val="dk2"/>
                </a:solidFill>
                <a:latin typeface="Calibri"/>
                <a:ea typeface="Calibri"/>
                <a:cs typeface="Calibri"/>
                <a:sym typeface="Calibri"/>
              </a:rPr>
              <a:t>73 raw specialties -&gt; 19 groups</a:t>
            </a:r>
            <a:endParaRPr sz="1900">
              <a:solidFill>
                <a:srgbClr val="1E293B"/>
              </a:solidFill>
              <a:latin typeface="Calibri"/>
              <a:ea typeface="Calibri"/>
              <a:cs typeface="Calibri"/>
              <a:sym typeface="Calibri"/>
            </a:endParaRPr>
          </a:p>
        </p:txBody>
      </p:sp>
      <p:sp>
        <p:nvSpPr>
          <p:cNvPr id="185" name="Google Shape;185;g3d18d3d8234_0_98"/>
          <p:cNvSpPr/>
          <p:nvPr/>
        </p:nvSpPr>
        <p:spPr>
          <a:xfrm>
            <a:off x="4434282" y="5833057"/>
            <a:ext cx="1911600" cy="44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600"/>
              <a:buFont typeface="Calibri"/>
              <a:buNone/>
            </a:pPr>
            <a:endParaRPr sz="1900">
              <a:solidFill>
                <a:srgbClr val="1E293B"/>
              </a:solidFill>
              <a:latin typeface="Calibri"/>
              <a:ea typeface="Calibri"/>
              <a:cs typeface="Calibri"/>
              <a:sym typeface="Calibri"/>
            </a:endParaRPr>
          </a:p>
        </p:txBody>
      </p:sp>
      <p:sp>
        <p:nvSpPr>
          <p:cNvPr id="186" name="Google Shape;186;g3d18d3d8234_0_98"/>
          <p:cNvSpPr/>
          <p:nvPr/>
        </p:nvSpPr>
        <p:spPr>
          <a:xfrm>
            <a:off x="877920" y="1492781"/>
            <a:ext cx="99000" cy="5232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900">
              <a:solidFill>
                <a:schemeClr val="dk2"/>
              </a:solidFill>
            </a:endParaRPr>
          </a:p>
        </p:txBody>
      </p:sp>
      <p:sp>
        <p:nvSpPr>
          <p:cNvPr id="187" name="Google Shape;187;g3d18d3d8234_0_98"/>
          <p:cNvSpPr/>
          <p:nvPr/>
        </p:nvSpPr>
        <p:spPr>
          <a:xfrm>
            <a:off x="877920" y="3997531"/>
            <a:ext cx="99000" cy="5232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900">
              <a:solidFill>
                <a:schemeClr val="dk2"/>
              </a:solidFill>
            </a:endParaRPr>
          </a:p>
        </p:txBody>
      </p:sp>
      <p:sp>
        <p:nvSpPr>
          <p:cNvPr id="188" name="Google Shape;188;g3d18d3d8234_0_98"/>
          <p:cNvSpPr txBox="1"/>
          <p:nvPr/>
        </p:nvSpPr>
        <p:spPr>
          <a:xfrm>
            <a:off x="7042684" y="1519010"/>
            <a:ext cx="4497300" cy="10620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1E293B"/>
              </a:buClr>
              <a:buSzPts val="1600"/>
              <a:buFont typeface="Calibri"/>
              <a:buNone/>
            </a:pPr>
            <a:r>
              <a:rPr lang="en-US" sz="1900" b="1">
                <a:solidFill>
                  <a:srgbClr val="1E293B"/>
                </a:solidFill>
                <a:latin typeface="Calibri"/>
                <a:ea typeface="Calibri"/>
                <a:cs typeface="Calibri"/>
                <a:sym typeface="Calibri"/>
              </a:rPr>
              <a:t>Dataset: </a:t>
            </a:r>
            <a:r>
              <a:rPr lang="en-US" sz="1900">
                <a:solidFill>
                  <a:srgbClr val="1E293B"/>
                </a:solidFill>
                <a:latin typeface="Calibri"/>
                <a:ea typeface="Calibri"/>
                <a:cs typeface="Calibri"/>
                <a:sym typeface="Calibri"/>
              </a:rPr>
              <a:t>UCI Diabetes 130 Hospitals dataset</a:t>
            </a:r>
            <a:endParaRPr sz="1900">
              <a:solidFill>
                <a:srgbClr val="1E293B"/>
              </a:solidFill>
              <a:latin typeface="Calibri"/>
              <a:ea typeface="Calibri"/>
              <a:cs typeface="Calibri"/>
              <a:sym typeface="Calibri"/>
            </a:endParaRPr>
          </a:p>
          <a:p>
            <a:pPr marL="0" marR="0" lvl="0" indent="0" algn="l" rtl="0">
              <a:lnSpc>
                <a:spcPct val="100000"/>
              </a:lnSpc>
              <a:spcBef>
                <a:spcPts val="0"/>
              </a:spcBef>
              <a:spcAft>
                <a:spcPts val="0"/>
              </a:spcAft>
              <a:buClr>
                <a:srgbClr val="1E293B"/>
              </a:buClr>
              <a:buSzPts val="1600"/>
              <a:buFont typeface="Calibri"/>
              <a:buNone/>
            </a:pPr>
            <a:r>
              <a:rPr lang="en-US" sz="1900" b="1">
                <a:solidFill>
                  <a:srgbClr val="1E293B"/>
                </a:solidFill>
                <a:latin typeface="Calibri"/>
                <a:ea typeface="Calibri"/>
                <a:cs typeface="Calibri"/>
                <a:sym typeface="Calibri"/>
              </a:rPr>
              <a:t>Time period: </a:t>
            </a:r>
            <a:r>
              <a:rPr lang="en-US" sz="1900">
                <a:solidFill>
                  <a:srgbClr val="1E293B"/>
                </a:solidFill>
                <a:latin typeface="Calibri"/>
                <a:ea typeface="Calibri"/>
                <a:cs typeface="Calibri"/>
                <a:sym typeface="Calibri"/>
              </a:rPr>
              <a:t>1999–2008</a:t>
            </a:r>
            <a:endParaRPr sz="1900">
              <a:solidFill>
                <a:srgbClr val="1E293B"/>
              </a:solidFill>
              <a:latin typeface="Calibri"/>
              <a:ea typeface="Calibri"/>
              <a:cs typeface="Calibri"/>
              <a:sym typeface="Calibri"/>
            </a:endParaRPr>
          </a:p>
          <a:p>
            <a:pPr marL="0" marR="0" lvl="0" indent="0" algn="l" rtl="0">
              <a:lnSpc>
                <a:spcPct val="100000"/>
              </a:lnSpc>
              <a:spcBef>
                <a:spcPts val="0"/>
              </a:spcBef>
              <a:spcAft>
                <a:spcPts val="0"/>
              </a:spcAft>
              <a:buClr>
                <a:srgbClr val="1E293B"/>
              </a:buClr>
              <a:buSzPts val="1600"/>
              <a:buFont typeface="Calibri"/>
              <a:buNone/>
            </a:pPr>
            <a:r>
              <a:rPr lang="en-US" sz="1900" b="1">
                <a:solidFill>
                  <a:srgbClr val="1E293B"/>
                </a:solidFill>
                <a:latin typeface="Calibri"/>
                <a:ea typeface="Calibri"/>
                <a:cs typeface="Calibri"/>
                <a:sym typeface="Calibri"/>
              </a:rPr>
              <a:t>Population: </a:t>
            </a:r>
            <a:r>
              <a:rPr lang="en-US" sz="1900">
                <a:solidFill>
                  <a:srgbClr val="1E293B"/>
                </a:solidFill>
                <a:latin typeface="Calibri"/>
                <a:ea typeface="Calibri"/>
                <a:cs typeface="Calibri"/>
                <a:sym typeface="Calibri"/>
              </a:rPr>
              <a:t>Patients with Diabetes Mellitus</a:t>
            </a:r>
            <a:endParaRPr sz="1900">
              <a:solidFill>
                <a:srgbClr val="1E293B"/>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6"/>
          <p:cNvSpPr/>
          <p:nvPr/>
        </p:nvSpPr>
        <p:spPr>
          <a:xfrm>
            <a:off x="0" y="0"/>
            <a:ext cx="12191695" cy="1005840"/>
          </a:xfrm>
          <a:prstGeom prst="rect">
            <a:avLst/>
          </a:prstGeom>
          <a:solidFill>
            <a:srgbClr val="1B2A4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4" name="Google Shape;194;p6"/>
          <p:cNvSpPr txBox="1"/>
          <p:nvPr/>
        </p:nvSpPr>
        <p:spPr>
          <a:xfrm>
            <a:off x="548640" y="137160"/>
            <a:ext cx="10972800" cy="523200"/>
          </a:xfrm>
          <a:prstGeom prst="rect">
            <a:avLst/>
          </a:prstGeom>
          <a:noFill/>
          <a:ln>
            <a:noFill/>
          </a:ln>
        </p:spPr>
        <p:txBody>
          <a:bodyPr spcFirstLastPara="1" wrap="square" lIns="91425" tIns="45700" rIns="91425" bIns="45700" anchor="t" anchorCtr="0">
            <a:spAutoFit/>
          </a:bodyPr>
          <a:lstStyle/>
          <a:p>
            <a:pPr marL="0" lvl="0" indent="0" algn="l" rtl="0">
              <a:lnSpc>
                <a:spcPct val="130000"/>
              </a:lnSpc>
              <a:spcBef>
                <a:spcPts val="0"/>
              </a:spcBef>
              <a:spcAft>
                <a:spcPts val="0"/>
              </a:spcAft>
              <a:buNone/>
            </a:pPr>
            <a:r>
              <a:rPr lang="en-US" sz="2800" b="1">
                <a:solidFill>
                  <a:schemeClr val="lt1"/>
                </a:solidFill>
                <a:latin typeface="Calibri"/>
                <a:ea typeface="Calibri"/>
                <a:cs typeface="Calibri"/>
                <a:sym typeface="Calibri"/>
              </a:rPr>
              <a:t>Data Overview</a:t>
            </a:r>
            <a:endParaRPr sz="2800" b="1">
              <a:solidFill>
                <a:srgbClr val="FFFFFF"/>
              </a:solidFill>
              <a:latin typeface="Calibri"/>
              <a:ea typeface="Calibri"/>
              <a:cs typeface="Calibri"/>
              <a:sym typeface="Calibri"/>
            </a:endParaRPr>
          </a:p>
        </p:txBody>
      </p:sp>
      <p:pic>
        <p:nvPicPr>
          <p:cNvPr id="195" name="Google Shape;195;p6" descr="fig1_specialty_distribution.png"/>
          <p:cNvPicPr preferRelativeResize="0"/>
          <p:nvPr/>
        </p:nvPicPr>
        <p:blipFill rotWithShape="1">
          <a:blip r:embed="rId3">
            <a:alphaModFix/>
          </a:blip>
          <a:srcRect/>
          <a:stretch/>
        </p:blipFill>
        <p:spPr>
          <a:xfrm>
            <a:off x="646403" y="1563173"/>
            <a:ext cx="5425797" cy="3931925"/>
          </a:xfrm>
          <a:prstGeom prst="rect">
            <a:avLst/>
          </a:prstGeom>
          <a:noFill/>
          <a:ln>
            <a:noFill/>
          </a:ln>
        </p:spPr>
      </p:pic>
      <p:pic>
        <p:nvPicPr>
          <p:cNvPr id="196" name="Google Shape;196;p6" descr="fig3_raw_readmission_by_specialty.png"/>
          <p:cNvPicPr preferRelativeResize="0"/>
          <p:nvPr/>
        </p:nvPicPr>
        <p:blipFill rotWithShape="1">
          <a:blip r:embed="rId4">
            <a:alphaModFix/>
          </a:blip>
          <a:srcRect/>
          <a:stretch/>
        </p:blipFill>
        <p:spPr>
          <a:xfrm>
            <a:off x="6143518" y="1578056"/>
            <a:ext cx="5425797" cy="3931926"/>
          </a:xfrm>
          <a:prstGeom prst="rect">
            <a:avLst/>
          </a:prstGeom>
          <a:noFill/>
          <a:ln>
            <a:noFill/>
          </a:ln>
        </p:spPr>
      </p:pic>
      <p:sp>
        <p:nvSpPr>
          <p:cNvPr id="197" name="Google Shape;197;p6"/>
          <p:cNvSpPr txBox="1"/>
          <p:nvPr/>
        </p:nvSpPr>
        <p:spPr>
          <a:xfrm>
            <a:off x="1341075" y="5533347"/>
            <a:ext cx="9434100" cy="857400"/>
          </a:xfrm>
          <a:prstGeom prst="rect">
            <a:avLst/>
          </a:prstGeom>
          <a:noFill/>
          <a:ln>
            <a:noFill/>
          </a:ln>
        </p:spPr>
        <p:txBody>
          <a:bodyPr spcFirstLastPara="1" wrap="square" lIns="91425" tIns="91425" rIns="91425" bIns="91425" anchor="t" anchorCtr="0">
            <a:spAutoFit/>
          </a:bodyPr>
          <a:lstStyle/>
          <a:p>
            <a:pPr marL="0" lvl="0" indent="0" algn="l" rtl="0">
              <a:lnSpc>
                <a:spcPct val="130000"/>
              </a:lnSpc>
              <a:spcBef>
                <a:spcPts val="0"/>
              </a:spcBef>
              <a:spcAft>
                <a:spcPts val="0"/>
              </a:spcAft>
              <a:buNone/>
            </a:pPr>
            <a:r>
              <a:rPr lang="en-US" sz="1900" b="1">
                <a:solidFill>
                  <a:srgbClr val="2C2C2C"/>
                </a:solidFill>
                <a:latin typeface="Calibri"/>
                <a:ea typeface="Calibri"/>
                <a:cs typeface="Calibri"/>
                <a:sym typeface="Calibri"/>
              </a:rPr>
              <a:t>Key observations driving this question: </a:t>
            </a:r>
            <a:r>
              <a:rPr lang="en-US" sz="1900">
                <a:solidFill>
                  <a:srgbClr val="2C2C2C"/>
                </a:solidFill>
                <a:latin typeface="Calibri"/>
                <a:ea typeface="Calibri"/>
                <a:cs typeface="Calibri"/>
                <a:sym typeface="Calibri"/>
              </a:rPr>
              <a:t>Raw readmission rates vary widely across specialties 4.3% to 32.3%, but sample sizes are highly imbalanced </a:t>
            </a:r>
            <a:endParaRPr sz="1900" b="1">
              <a:solidFill>
                <a:srgbClr val="2C2C2C"/>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0"/>
          <p:cNvSpPr/>
          <p:nvPr/>
        </p:nvSpPr>
        <p:spPr>
          <a:xfrm>
            <a:off x="0" y="0"/>
            <a:ext cx="12191695" cy="6858000"/>
          </a:xfrm>
          <a:prstGeom prst="rect">
            <a:avLst/>
          </a:prstGeom>
          <a:solidFill>
            <a:srgbClr val="233D6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3" name="Google Shape;203;p10"/>
          <p:cNvSpPr/>
          <p:nvPr/>
        </p:nvSpPr>
        <p:spPr>
          <a:xfrm>
            <a:off x="1371600" y="2834640"/>
            <a:ext cx="1828800" cy="54864"/>
          </a:xfrm>
          <a:prstGeom prst="rect">
            <a:avLst/>
          </a:prstGeom>
          <a:solidFill>
            <a:srgbClr val="3A7CA5"/>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4" name="Google Shape;204;p10"/>
          <p:cNvSpPr txBox="1"/>
          <p:nvPr/>
        </p:nvSpPr>
        <p:spPr>
          <a:xfrm>
            <a:off x="1371600" y="3108960"/>
            <a:ext cx="9144000" cy="109728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600" b="1" i="0" u="none" strike="noStrike" cap="none">
                <a:solidFill>
                  <a:srgbClr val="FFFFFF"/>
                </a:solidFill>
                <a:latin typeface="Calibri"/>
                <a:ea typeface="Calibri"/>
                <a:cs typeface="Calibri"/>
                <a:sym typeface="Calibri"/>
              </a:rPr>
              <a:t>Part 3</a:t>
            </a:r>
            <a:endParaRPr/>
          </a:p>
        </p:txBody>
      </p:sp>
      <p:sp>
        <p:nvSpPr>
          <p:cNvPr id="205" name="Google Shape;205;p10"/>
          <p:cNvSpPr txBox="1"/>
          <p:nvPr/>
        </p:nvSpPr>
        <p:spPr>
          <a:xfrm>
            <a:off x="1371600" y="4023360"/>
            <a:ext cx="91440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000" b="0" i="0" u="none" strike="noStrike" cap="none">
                <a:solidFill>
                  <a:srgbClr val="3A7CA5"/>
                </a:solidFill>
                <a:latin typeface="Calibri"/>
                <a:ea typeface="Calibri"/>
                <a:cs typeface="Calibri"/>
                <a:sym typeface="Calibri"/>
              </a:rPr>
              <a:t>Model Structure</a:t>
            </a:r>
            <a:endParaRPr sz="3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1"/>
          <p:cNvSpPr/>
          <p:nvPr/>
        </p:nvSpPr>
        <p:spPr>
          <a:xfrm>
            <a:off x="0" y="0"/>
            <a:ext cx="12191700" cy="1005900"/>
          </a:xfrm>
          <a:prstGeom prst="rect">
            <a:avLst/>
          </a:prstGeom>
          <a:solidFill>
            <a:srgbClr val="1B2A4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11"/>
          <p:cNvSpPr txBox="1"/>
          <p:nvPr/>
        </p:nvSpPr>
        <p:spPr>
          <a:xfrm>
            <a:off x="548640" y="137160"/>
            <a:ext cx="109728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Model Specification — Likelihood</a:t>
            </a:r>
            <a:endParaRPr/>
          </a:p>
        </p:txBody>
      </p:sp>
      <p:pic>
        <p:nvPicPr>
          <p:cNvPr id="212" name="Google Shape;212;p11" descr="eq_lik1.png"/>
          <p:cNvPicPr preferRelativeResize="0"/>
          <p:nvPr/>
        </p:nvPicPr>
        <p:blipFill rotWithShape="1">
          <a:blip r:embed="rId3">
            <a:alphaModFix/>
          </a:blip>
          <a:srcRect/>
          <a:stretch/>
        </p:blipFill>
        <p:spPr>
          <a:xfrm>
            <a:off x="2600568" y="1423969"/>
            <a:ext cx="6677137" cy="787199"/>
          </a:xfrm>
          <a:prstGeom prst="rect">
            <a:avLst/>
          </a:prstGeom>
          <a:noFill/>
          <a:ln>
            <a:noFill/>
          </a:ln>
        </p:spPr>
      </p:pic>
      <p:pic>
        <p:nvPicPr>
          <p:cNvPr id="213" name="Google Shape;213;p11" descr="eq_lik2.png"/>
          <p:cNvPicPr preferRelativeResize="0"/>
          <p:nvPr/>
        </p:nvPicPr>
        <p:blipFill rotWithShape="1">
          <a:blip r:embed="rId4">
            <a:alphaModFix/>
          </a:blip>
          <a:srcRect/>
          <a:stretch/>
        </p:blipFill>
        <p:spPr>
          <a:xfrm>
            <a:off x="2600555" y="2139489"/>
            <a:ext cx="6677127" cy="787198"/>
          </a:xfrm>
          <a:prstGeom prst="rect">
            <a:avLst/>
          </a:prstGeom>
          <a:noFill/>
          <a:ln>
            <a:noFill/>
          </a:ln>
        </p:spPr>
      </p:pic>
      <p:pic>
        <p:nvPicPr>
          <p:cNvPr id="214" name="Google Shape;214;p11" descr="eq_lik3.png"/>
          <p:cNvPicPr preferRelativeResize="0"/>
          <p:nvPr/>
        </p:nvPicPr>
        <p:blipFill rotWithShape="1">
          <a:blip r:embed="rId5">
            <a:alphaModFix/>
          </a:blip>
          <a:srcRect/>
          <a:stretch/>
        </p:blipFill>
        <p:spPr>
          <a:xfrm>
            <a:off x="1721784" y="2792685"/>
            <a:ext cx="8237450" cy="971152"/>
          </a:xfrm>
          <a:prstGeom prst="rect">
            <a:avLst/>
          </a:prstGeom>
          <a:noFill/>
          <a:ln>
            <a:noFill/>
          </a:ln>
        </p:spPr>
      </p:pic>
      <p:sp>
        <p:nvSpPr>
          <p:cNvPr id="215" name="Google Shape;215;p11"/>
          <p:cNvSpPr/>
          <p:nvPr/>
        </p:nvSpPr>
        <p:spPr>
          <a:xfrm>
            <a:off x="914400" y="3954108"/>
            <a:ext cx="10332600" cy="640200"/>
          </a:xfrm>
          <a:prstGeom prst="roundRect">
            <a:avLst>
              <a:gd name="adj" fmla="val 16667"/>
            </a:avLst>
          </a:prstGeom>
          <a:solidFill>
            <a:srgbClr val="E8F0FE"/>
          </a:solidFill>
          <a:ln w="12700" cap="flat" cmpd="sng">
            <a:solidFill>
              <a:srgbClr val="3A7CA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6" name="Google Shape;216;p11" descr="eq_ci.png"/>
          <p:cNvPicPr preferRelativeResize="0"/>
          <p:nvPr/>
        </p:nvPicPr>
        <p:blipFill rotWithShape="1">
          <a:blip r:embed="rId6">
            <a:alphaModFix/>
          </a:blip>
          <a:srcRect/>
          <a:stretch/>
        </p:blipFill>
        <p:spPr>
          <a:xfrm>
            <a:off x="2248460" y="3842757"/>
            <a:ext cx="7444623" cy="877685"/>
          </a:xfrm>
          <a:prstGeom prst="rect">
            <a:avLst/>
          </a:prstGeom>
          <a:noFill/>
          <a:ln>
            <a:noFill/>
          </a:ln>
        </p:spPr>
      </p:pic>
      <p:sp>
        <p:nvSpPr>
          <p:cNvPr id="217" name="Google Shape;217;p11"/>
          <p:cNvSpPr txBox="1"/>
          <p:nvPr/>
        </p:nvSpPr>
        <p:spPr>
          <a:xfrm>
            <a:off x="914400" y="5192246"/>
            <a:ext cx="10058400" cy="765000"/>
          </a:xfrm>
          <a:prstGeom prst="rect">
            <a:avLst/>
          </a:prstGeom>
          <a:noFill/>
          <a:ln>
            <a:noFill/>
          </a:ln>
        </p:spPr>
        <p:txBody>
          <a:bodyPr spcFirstLastPara="1" wrap="square" lIns="91425" tIns="45700" rIns="91425" bIns="45700" anchor="t" anchorCtr="0">
            <a:spAutoFit/>
          </a:bodyPr>
          <a:lstStyle/>
          <a:p>
            <a:pPr marL="0" lvl="0" indent="0" algn="l" rtl="0">
              <a:lnSpc>
                <a:spcPct val="130000"/>
              </a:lnSpc>
              <a:spcBef>
                <a:spcPts val="0"/>
              </a:spcBef>
              <a:spcAft>
                <a:spcPts val="0"/>
              </a:spcAft>
              <a:buNone/>
            </a:pPr>
            <a:r>
              <a:rPr lang="en-US" sz="1900">
                <a:solidFill>
                  <a:srgbClr val="2C2C2C"/>
                </a:solidFill>
                <a:latin typeface="Calibri"/>
                <a:ea typeface="Calibri"/>
                <a:cs typeface="Calibri"/>
                <a:sym typeface="Calibri"/>
              </a:rPr>
              <a:t>   where:</a:t>
            </a:r>
            <a:endParaRPr sz="1900" b="0" i="0" u="none" strike="noStrike" cap="none">
              <a:solidFill>
                <a:srgbClr val="2C2C2C"/>
              </a:solidFill>
              <a:latin typeface="Calibri"/>
              <a:ea typeface="Calibri"/>
              <a:cs typeface="Calibri"/>
              <a:sym typeface="Calibri"/>
            </a:endParaRPr>
          </a:p>
          <a:p>
            <a:pPr marL="0" marR="0" lvl="0" indent="0" algn="l" rtl="0">
              <a:lnSpc>
                <a:spcPct val="130000"/>
              </a:lnSpc>
              <a:spcBef>
                <a:spcPts val="0"/>
              </a:spcBef>
              <a:spcAft>
                <a:spcPts val="0"/>
              </a:spcAft>
              <a:buNone/>
            </a:pPr>
            <a:r>
              <a:rPr lang="en-US" sz="1900">
                <a:solidFill>
                  <a:srgbClr val="2C2C2C"/>
                </a:solidFill>
                <a:latin typeface="Calibri"/>
                <a:ea typeface="Calibri"/>
                <a:cs typeface="Calibri"/>
                <a:sym typeface="Calibri"/>
              </a:rPr>
              <a:t>   </a:t>
            </a:r>
            <a:r>
              <a:rPr lang="en-US" sz="1900" b="0" i="0" u="none" strike="noStrike" cap="none">
                <a:solidFill>
                  <a:srgbClr val="2C2C2C"/>
                </a:solidFill>
                <a:latin typeface="Calibri"/>
                <a:ea typeface="Calibri"/>
                <a:cs typeface="Calibri"/>
                <a:sym typeface="Calibri"/>
              </a:rPr>
              <a:t>alpha = global intercept    |    beta = K=43 fixed effects    |    u_j = J=19 specialty random intercepts</a:t>
            </a:r>
            <a:endParaRPr sz="1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2"/>
          <p:cNvSpPr/>
          <p:nvPr/>
        </p:nvSpPr>
        <p:spPr>
          <a:xfrm>
            <a:off x="0" y="0"/>
            <a:ext cx="12191695" cy="1005840"/>
          </a:xfrm>
          <a:prstGeom prst="rect">
            <a:avLst/>
          </a:prstGeom>
          <a:solidFill>
            <a:srgbClr val="1B2A4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3" name="Google Shape;223;p12"/>
          <p:cNvSpPr txBox="1"/>
          <p:nvPr/>
        </p:nvSpPr>
        <p:spPr>
          <a:xfrm>
            <a:off x="548640" y="137160"/>
            <a:ext cx="109728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Prior Specification</a:t>
            </a:r>
            <a:endParaRPr/>
          </a:p>
        </p:txBody>
      </p:sp>
      <p:pic>
        <p:nvPicPr>
          <p:cNvPr id="224" name="Google Shape;224;p12" descr="eq_prior_0.png"/>
          <p:cNvPicPr preferRelativeResize="0"/>
          <p:nvPr/>
        </p:nvPicPr>
        <p:blipFill rotWithShape="1">
          <a:blip r:embed="rId3">
            <a:alphaModFix/>
          </a:blip>
          <a:srcRect/>
          <a:stretch/>
        </p:blipFill>
        <p:spPr>
          <a:xfrm>
            <a:off x="304925" y="1445099"/>
            <a:ext cx="5525803" cy="648714"/>
          </a:xfrm>
          <a:prstGeom prst="rect">
            <a:avLst/>
          </a:prstGeom>
          <a:noFill/>
          <a:ln>
            <a:noFill/>
          </a:ln>
        </p:spPr>
      </p:pic>
      <p:sp>
        <p:nvSpPr>
          <p:cNvPr id="225" name="Google Shape;225;p12"/>
          <p:cNvSpPr txBox="1"/>
          <p:nvPr/>
        </p:nvSpPr>
        <p:spPr>
          <a:xfrm>
            <a:off x="4972601" y="1386939"/>
            <a:ext cx="6914700" cy="7650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666666"/>
                </a:solidFill>
                <a:latin typeface="Calibri"/>
                <a:ea typeface="Calibri"/>
                <a:cs typeface="Calibri"/>
                <a:sym typeface="Calibri"/>
              </a:rPr>
              <a:t>Weakly informative on log-odds scale;</a:t>
            </a:r>
            <a:br>
              <a:rPr lang="en-US" sz="1900" b="0" i="0" u="none" strike="noStrike" cap="none">
                <a:solidFill>
                  <a:srgbClr val="666666"/>
                </a:solidFill>
                <a:latin typeface="Calibri"/>
                <a:ea typeface="Calibri"/>
                <a:cs typeface="Calibri"/>
                <a:sym typeface="Calibri"/>
              </a:rPr>
            </a:br>
            <a:r>
              <a:rPr lang="en-US" sz="1900" b="0" i="0" u="none" strike="noStrike" cap="none">
                <a:solidFill>
                  <a:srgbClr val="666666"/>
                </a:solidFill>
                <a:latin typeface="Calibri"/>
                <a:ea typeface="Calibri"/>
                <a:cs typeface="Calibri"/>
                <a:sym typeface="Calibri"/>
              </a:rPr>
              <a:t>covers plausible baseline readmission rates</a:t>
            </a:r>
            <a:endParaRPr sz="1900"/>
          </a:p>
        </p:txBody>
      </p:sp>
      <p:pic>
        <p:nvPicPr>
          <p:cNvPr id="226" name="Google Shape;226;p12" descr="eq_prior_1.png"/>
          <p:cNvPicPr preferRelativeResize="0"/>
          <p:nvPr/>
        </p:nvPicPr>
        <p:blipFill rotWithShape="1">
          <a:blip r:embed="rId4">
            <a:alphaModFix/>
          </a:blip>
          <a:srcRect/>
          <a:stretch/>
        </p:blipFill>
        <p:spPr>
          <a:xfrm>
            <a:off x="304925" y="2422973"/>
            <a:ext cx="5525799" cy="648714"/>
          </a:xfrm>
          <a:prstGeom prst="rect">
            <a:avLst/>
          </a:prstGeom>
          <a:noFill/>
          <a:ln>
            <a:noFill/>
          </a:ln>
        </p:spPr>
      </p:pic>
      <p:sp>
        <p:nvSpPr>
          <p:cNvPr id="227" name="Google Shape;227;p12"/>
          <p:cNvSpPr txBox="1"/>
          <p:nvPr/>
        </p:nvSpPr>
        <p:spPr>
          <a:xfrm>
            <a:off x="4972601" y="2306688"/>
            <a:ext cx="6914700" cy="7650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666666"/>
                </a:solidFill>
                <a:latin typeface="Calibri"/>
                <a:ea typeface="Calibri"/>
                <a:cs typeface="Calibri"/>
                <a:sym typeface="Calibri"/>
              </a:rPr>
              <a:t>Allows OR up to exp(5) ~ 150;</a:t>
            </a:r>
            <a:br>
              <a:rPr lang="en-US" sz="1900" b="0" i="0" u="none" strike="noStrike" cap="none">
                <a:solidFill>
                  <a:srgbClr val="666666"/>
                </a:solidFill>
                <a:latin typeface="Calibri"/>
                <a:ea typeface="Calibri"/>
                <a:cs typeface="Calibri"/>
                <a:sym typeface="Calibri"/>
              </a:rPr>
            </a:br>
            <a:r>
              <a:rPr lang="en-US" sz="1900" b="0" i="0" u="none" strike="noStrike" cap="none">
                <a:solidFill>
                  <a:srgbClr val="666666"/>
                </a:solidFill>
                <a:latin typeface="Calibri"/>
                <a:ea typeface="Calibri"/>
                <a:cs typeface="Calibri"/>
                <a:sym typeface="Calibri"/>
              </a:rPr>
              <a:t>prevents extreme inflation without over-constraining</a:t>
            </a:r>
            <a:endParaRPr sz="1900"/>
          </a:p>
        </p:txBody>
      </p:sp>
      <p:pic>
        <p:nvPicPr>
          <p:cNvPr id="228" name="Google Shape;228;p12" descr="eq_prior_2.png"/>
          <p:cNvPicPr preferRelativeResize="0"/>
          <p:nvPr/>
        </p:nvPicPr>
        <p:blipFill rotWithShape="1">
          <a:blip r:embed="rId5">
            <a:alphaModFix/>
          </a:blip>
          <a:srcRect/>
          <a:stretch/>
        </p:blipFill>
        <p:spPr>
          <a:xfrm>
            <a:off x="304925" y="3284568"/>
            <a:ext cx="5525799" cy="648714"/>
          </a:xfrm>
          <a:prstGeom prst="rect">
            <a:avLst/>
          </a:prstGeom>
          <a:noFill/>
          <a:ln>
            <a:noFill/>
          </a:ln>
        </p:spPr>
      </p:pic>
      <p:sp>
        <p:nvSpPr>
          <p:cNvPr id="229" name="Google Shape;229;p12"/>
          <p:cNvSpPr txBox="1"/>
          <p:nvPr/>
        </p:nvSpPr>
        <p:spPr>
          <a:xfrm>
            <a:off x="4972601" y="3226436"/>
            <a:ext cx="6914700" cy="7650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666666"/>
                </a:solidFill>
                <a:latin typeface="Calibri"/>
                <a:ea typeface="Calibri"/>
                <a:cs typeface="Calibri"/>
                <a:sym typeface="Calibri"/>
              </a:rPr>
              <a:t>Exchangeable random intercepts;</a:t>
            </a:r>
            <a:br>
              <a:rPr lang="en-US" sz="1900" b="0" i="0" u="none" strike="noStrike" cap="none">
                <a:solidFill>
                  <a:srgbClr val="666666"/>
                </a:solidFill>
                <a:latin typeface="Calibri"/>
                <a:ea typeface="Calibri"/>
                <a:cs typeface="Calibri"/>
                <a:sym typeface="Calibri"/>
              </a:rPr>
            </a:br>
            <a:r>
              <a:rPr lang="en-US" sz="1900" b="0" i="0" u="none" strike="noStrike" cap="none">
                <a:solidFill>
                  <a:srgbClr val="666666"/>
                </a:solidFill>
                <a:latin typeface="Calibri"/>
                <a:ea typeface="Calibri"/>
                <a:cs typeface="Calibri"/>
                <a:sym typeface="Calibri"/>
              </a:rPr>
              <a:t>enables partial pooling across specialties</a:t>
            </a:r>
            <a:endParaRPr sz="1900"/>
          </a:p>
        </p:txBody>
      </p:sp>
      <p:pic>
        <p:nvPicPr>
          <p:cNvPr id="230" name="Google Shape;230;p12" descr="eq_prior_3.png"/>
          <p:cNvPicPr preferRelativeResize="0"/>
          <p:nvPr/>
        </p:nvPicPr>
        <p:blipFill rotWithShape="1">
          <a:blip r:embed="rId6">
            <a:alphaModFix/>
          </a:blip>
          <a:srcRect/>
          <a:stretch/>
        </p:blipFill>
        <p:spPr>
          <a:xfrm>
            <a:off x="445000" y="4229010"/>
            <a:ext cx="5525799" cy="648714"/>
          </a:xfrm>
          <a:prstGeom prst="rect">
            <a:avLst/>
          </a:prstGeom>
          <a:noFill/>
          <a:ln>
            <a:noFill/>
          </a:ln>
        </p:spPr>
      </p:pic>
      <p:sp>
        <p:nvSpPr>
          <p:cNvPr id="231" name="Google Shape;231;p12"/>
          <p:cNvSpPr txBox="1"/>
          <p:nvPr/>
        </p:nvSpPr>
        <p:spPr>
          <a:xfrm>
            <a:off x="4972601" y="4146185"/>
            <a:ext cx="6914700" cy="7650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666666"/>
                </a:solidFill>
                <a:latin typeface="Calibri"/>
                <a:ea typeface="Calibri"/>
                <a:cs typeface="Calibri"/>
                <a:sym typeface="Calibri"/>
              </a:rPr>
              <a:t>Hyperprior on between-group SD;</a:t>
            </a:r>
            <a:br>
              <a:rPr lang="en-US" sz="1900" b="0" i="0" u="none" strike="noStrike" cap="none">
                <a:solidFill>
                  <a:srgbClr val="666666"/>
                </a:solidFill>
                <a:latin typeface="Calibri"/>
                <a:ea typeface="Calibri"/>
                <a:cs typeface="Calibri"/>
                <a:sym typeface="Calibri"/>
              </a:rPr>
            </a:br>
            <a:r>
              <a:rPr lang="en-US" sz="1900" b="0" i="0" u="none" strike="noStrike" cap="none">
                <a:solidFill>
                  <a:srgbClr val="666666"/>
                </a:solidFill>
                <a:latin typeface="Calibri"/>
                <a:ea typeface="Calibri"/>
                <a:cs typeface="Calibri"/>
                <a:sym typeface="Calibri"/>
              </a:rPr>
              <a:t>controls degree of shrinkage</a:t>
            </a:r>
            <a:endParaRPr sz="1900"/>
          </a:p>
        </p:txBody>
      </p:sp>
      <p:sp>
        <p:nvSpPr>
          <p:cNvPr id="232" name="Google Shape;232;p12"/>
          <p:cNvSpPr/>
          <p:nvPr/>
        </p:nvSpPr>
        <p:spPr>
          <a:xfrm>
            <a:off x="731525" y="5222630"/>
            <a:ext cx="10515600" cy="1005900"/>
          </a:xfrm>
          <a:prstGeom prst="roundRect">
            <a:avLst>
              <a:gd name="adj" fmla="val 16667"/>
            </a:avLst>
          </a:prstGeom>
          <a:solidFill>
            <a:srgbClr val="E8F0FE"/>
          </a:solidFill>
          <a:ln w="9525" cap="flat" cmpd="sng">
            <a:solidFill>
              <a:srgbClr val="3A7CA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3" name="Google Shape;233;p12"/>
          <p:cNvSpPr txBox="1"/>
          <p:nvPr/>
        </p:nvSpPr>
        <p:spPr>
          <a:xfrm>
            <a:off x="1097280" y="5314054"/>
            <a:ext cx="9601200" cy="765000"/>
          </a:xfrm>
          <a:prstGeom prst="rect">
            <a:avLst/>
          </a:prstGeom>
          <a:noFill/>
          <a:ln>
            <a:noFill/>
          </a:ln>
        </p:spPr>
        <p:txBody>
          <a:bodyPr spcFirstLastPara="1" wrap="square" lIns="91425" tIns="45700" rIns="91425" bIns="45700" anchor="t" anchorCtr="0">
            <a:spAutoFit/>
          </a:bodyPr>
          <a:lstStyle/>
          <a:p>
            <a:pPr marL="0" marR="0" lvl="0" indent="0" algn="ctr" rtl="0">
              <a:lnSpc>
                <a:spcPct val="130000"/>
              </a:lnSpc>
              <a:spcBef>
                <a:spcPts val="0"/>
              </a:spcBef>
              <a:spcAft>
                <a:spcPts val="0"/>
              </a:spcAft>
              <a:buNone/>
            </a:pPr>
            <a:r>
              <a:rPr lang="en-US" sz="1900" i="0" u="none" strike="noStrike" cap="none">
                <a:solidFill>
                  <a:srgbClr val="233D6B"/>
                </a:solidFill>
                <a:latin typeface="Calibri"/>
                <a:ea typeface="Calibri"/>
                <a:cs typeface="Calibri"/>
                <a:sym typeface="Calibri"/>
              </a:rPr>
              <a:t>The key mechanism: u_j | tau ~ N(0, tau^2) induces partial pooling.</a:t>
            </a:r>
            <a:br>
              <a:rPr lang="en-US" sz="1900" i="0" u="none" strike="noStrike" cap="none">
                <a:solidFill>
                  <a:srgbClr val="233D6B"/>
                </a:solidFill>
                <a:latin typeface="Calibri"/>
                <a:ea typeface="Calibri"/>
                <a:cs typeface="Calibri"/>
                <a:sym typeface="Calibri"/>
              </a:rPr>
            </a:br>
            <a:r>
              <a:rPr lang="en-US" sz="1900" i="0" u="none" strike="noStrike" cap="none">
                <a:solidFill>
                  <a:srgbClr val="233D6B"/>
                </a:solidFill>
                <a:latin typeface="Calibri"/>
                <a:ea typeface="Calibri"/>
                <a:cs typeface="Calibri"/>
                <a:sym typeface="Calibri"/>
              </a:rPr>
              <a:t>Small groups are shrunk toward the population mean; tau controls shrinkage strength.</a:t>
            </a:r>
            <a:endParaRPr sz="1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3"/>
          <p:cNvSpPr/>
          <p:nvPr/>
        </p:nvSpPr>
        <p:spPr>
          <a:xfrm>
            <a:off x="0" y="0"/>
            <a:ext cx="12191700" cy="1005900"/>
          </a:xfrm>
          <a:prstGeom prst="rect">
            <a:avLst/>
          </a:prstGeom>
          <a:solidFill>
            <a:srgbClr val="1B2A4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9" name="Google Shape;239;p13"/>
          <p:cNvSpPr txBox="1"/>
          <p:nvPr/>
        </p:nvSpPr>
        <p:spPr>
          <a:xfrm>
            <a:off x="548640" y="137160"/>
            <a:ext cx="109728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Model Hierarchy (DAG)</a:t>
            </a:r>
            <a:endParaRPr/>
          </a:p>
        </p:txBody>
      </p:sp>
      <p:pic>
        <p:nvPicPr>
          <p:cNvPr id="240" name="Google Shape;240;p13" title="dag_improved.png"/>
          <p:cNvPicPr preferRelativeResize="0"/>
          <p:nvPr/>
        </p:nvPicPr>
        <p:blipFill>
          <a:blip r:embed="rId3">
            <a:alphaModFix/>
          </a:blip>
          <a:stretch>
            <a:fillRect/>
          </a:stretch>
        </p:blipFill>
        <p:spPr>
          <a:xfrm>
            <a:off x="1941712" y="1206675"/>
            <a:ext cx="8186675" cy="5404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5"/>
        <p:cNvGrpSpPr/>
        <p:nvPr/>
      </p:nvGrpSpPr>
      <p:grpSpPr>
        <a:xfrm>
          <a:off x="0" y="0"/>
          <a:ext cx="0" cy="0"/>
          <a:chOff x="0" y="0"/>
          <a:chExt cx="0" cy="0"/>
        </a:xfrm>
      </p:grpSpPr>
      <p:sp>
        <p:nvSpPr>
          <p:cNvPr id="246" name="Google Shape;246;g3d18d3d8234_1_309"/>
          <p:cNvSpPr/>
          <p:nvPr/>
        </p:nvSpPr>
        <p:spPr>
          <a:xfrm>
            <a:off x="0" y="0"/>
            <a:ext cx="12191700" cy="1036500"/>
          </a:xfrm>
          <a:prstGeom prst="rect">
            <a:avLst/>
          </a:prstGeom>
          <a:solidFill>
            <a:srgbClr val="1B3A5C"/>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7" name="Google Shape;247;g3d18d3d8234_1_309"/>
          <p:cNvSpPr/>
          <p:nvPr/>
        </p:nvSpPr>
        <p:spPr>
          <a:xfrm>
            <a:off x="609584" y="121920"/>
            <a:ext cx="10972500" cy="792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200"/>
              <a:buFont typeface="Calibri"/>
              <a:buNone/>
            </a:pPr>
            <a:r>
              <a:rPr lang="en-US" sz="3200" b="1" i="0" u="none" strike="noStrike" cap="none">
                <a:solidFill>
                  <a:srgbClr val="FFFFFF"/>
                </a:solidFill>
                <a:latin typeface="Calibri"/>
                <a:ea typeface="Calibri"/>
                <a:cs typeface="Calibri"/>
                <a:sym typeface="Calibri"/>
              </a:rPr>
              <a:t>Model Assumptions</a:t>
            </a:r>
            <a:endParaRPr sz="3200" b="0" i="0" u="none" strike="noStrike" cap="none">
              <a:solidFill>
                <a:schemeClr val="dk1"/>
              </a:solidFill>
              <a:latin typeface="Calibri"/>
              <a:ea typeface="Calibri"/>
              <a:cs typeface="Calibri"/>
              <a:sym typeface="Calibri"/>
            </a:endParaRPr>
          </a:p>
        </p:txBody>
      </p:sp>
      <p:sp>
        <p:nvSpPr>
          <p:cNvPr id="248" name="Google Shape;248;g3d18d3d8234_1_309"/>
          <p:cNvSpPr/>
          <p:nvPr/>
        </p:nvSpPr>
        <p:spPr>
          <a:xfrm>
            <a:off x="949025" y="1498800"/>
            <a:ext cx="10293600" cy="867900"/>
          </a:xfrm>
          <a:prstGeom prst="rect">
            <a:avLst/>
          </a:prstGeom>
          <a:solidFill>
            <a:srgbClr val="FAFAFA"/>
          </a:solidFill>
          <a:ln w="12700" cap="flat" cmpd="sng">
            <a:solidFill>
              <a:srgbClr val="E0E0E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9" name="Google Shape;249;g3d18d3d8234_1_309"/>
          <p:cNvSpPr/>
          <p:nvPr/>
        </p:nvSpPr>
        <p:spPr>
          <a:xfrm>
            <a:off x="949025" y="1498800"/>
            <a:ext cx="68700" cy="867900"/>
          </a:xfrm>
          <a:prstGeom prst="rect">
            <a:avLst/>
          </a:prstGeom>
          <a:solidFill>
            <a:srgbClr val="2C74B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0" name="Google Shape;250;g3d18d3d8234_1_309"/>
          <p:cNvSpPr/>
          <p:nvPr/>
        </p:nvSpPr>
        <p:spPr>
          <a:xfrm>
            <a:off x="1177767" y="1498800"/>
            <a:ext cx="457200" cy="867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1700"/>
              <a:buFont typeface="Calibri"/>
              <a:buNone/>
            </a:pPr>
            <a:r>
              <a:rPr lang="en-US" sz="1700" b="1" i="0" u="none" strike="noStrike" cap="none">
                <a:solidFill>
                  <a:srgbClr val="2C74B3"/>
                </a:solidFill>
                <a:latin typeface="Calibri"/>
                <a:ea typeface="Calibri"/>
                <a:cs typeface="Calibri"/>
                <a:sym typeface="Calibri"/>
              </a:rPr>
              <a:t>(i)</a:t>
            </a:r>
            <a:endParaRPr sz="1700" b="0" i="0" u="none" strike="noStrike" cap="none">
              <a:solidFill>
                <a:schemeClr val="dk1"/>
              </a:solidFill>
              <a:latin typeface="Calibri"/>
              <a:ea typeface="Calibri"/>
              <a:cs typeface="Calibri"/>
              <a:sym typeface="Calibri"/>
            </a:endParaRPr>
          </a:p>
        </p:txBody>
      </p:sp>
      <p:sp>
        <p:nvSpPr>
          <p:cNvPr id="251" name="Google Shape;251;g3d18d3d8234_1_309"/>
          <p:cNvSpPr/>
          <p:nvPr/>
        </p:nvSpPr>
        <p:spPr>
          <a:xfrm>
            <a:off x="1635248" y="1554450"/>
            <a:ext cx="8361300" cy="77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700"/>
              <a:buFont typeface="Calibri"/>
              <a:buNone/>
            </a:pPr>
            <a:r>
              <a:rPr lang="en-US" sz="1900" b="1" i="0" u="none" strike="noStrike" cap="none">
                <a:solidFill>
                  <a:srgbClr val="1E293B"/>
                </a:solidFill>
                <a:latin typeface="Calibri"/>
                <a:ea typeface="Calibri"/>
                <a:cs typeface="Calibri"/>
                <a:sym typeface="Calibri"/>
              </a:rPr>
              <a:t>Conditional independence</a:t>
            </a:r>
            <a:br>
              <a:rPr lang="en-US" sz="1900" b="1" i="0" u="none" strike="noStrike" cap="none">
                <a:solidFill>
                  <a:srgbClr val="1E293B"/>
                </a:solidFill>
                <a:latin typeface="Calibri"/>
                <a:ea typeface="Calibri"/>
                <a:cs typeface="Calibri"/>
                <a:sym typeface="Calibri"/>
              </a:rPr>
            </a:br>
            <a:r>
              <a:rPr lang="en-US" sz="1900" b="0" i="0" u="none" strike="noStrike" cap="none">
                <a:solidFill>
                  <a:srgbClr val="4A5568"/>
                </a:solidFill>
                <a:latin typeface="Calibri"/>
                <a:ea typeface="Calibri"/>
                <a:cs typeface="Calibri"/>
                <a:sym typeface="Calibri"/>
              </a:rPr>
              <a:t>Given parameters, outcomes are independent</a:t>
            </a:r>
            <a:r>
              <a:rPr lang="en-US" sz="1900">
                <a:solidFill>
                  <a:srgbClr val="4A5568"/>
                </a:solidFill>
                <a:latin typeface="Calibri"/>
                <a:ea typeface="Calibri"/>
                <a:cs typeface="Calibri"/>
                <a:sym typeface="Calibri"/>
              </a:rPr>
              <a:t> </a:t>
            </a:r>
            <a:r>
              <a:rPr lang="en-US" sz="1900" b="0" i="0" u="none" strike="noStrike" cap="none">
                <a:solidFill>
                  <a:srgbClr val="4A5568"/>
                </a:solidFill>
                <a:latin typeface="Calibri"/>
                <a:ea typeface="Calibri"/>
                <a:cs typeface="Calibri"/>
                <a:sym typeface="Calibri"/>
              </a:rPr>
              <a:t>across encounters:</a:t>
            </a:r>
            <a:endParaRPr sz="1900" b="0" i="0" u="none" strike="noStrike" cap="none">
              <a:solidFill>
                <a:schemeClr val="dk1"/>
              </a:solidFill>
              <a:latin typeface="Calibri"/>
              <a:ea typeface="Calibri"/>
              <a:cs typeface="Calibri"/>
              <a:sym typeface="Calibri"/>
            </a:endParaRPr>
          </a:p>
        </p:txBody>
      </p:sp>
      <p:pic>
        <p:nvPicPr>
          <p:cNvPr id="252" name="Google Shape;252;g3d18d3d8234_1_309" descr="/home/claude/eq2/assum_ci.png"/>
          <p:cNvPicPr preferRelativeResize="0"/>
          <p:nvPr/>
        </p:nvPicPr>
        <p:blipFill rotWithShape="1">
          <a:blip r:embed="rId3">
            <a:alphaModFix/>
          </a:blip>
          <a:srcRect/>
          <a:stretch/>
        </p:blipFill>
        <p:spPr>
          <a:xfrm>
            <a:off x="7109550" y="1849874"/>
            <a:ext cx="3566699" cy="485925"/>
          </a:xfrm>
          <a:prstGeom prst="rect">
            <a:avLst/>
          </a:prstGeom>
          <a:noFill/>
          <a:ln>
            <a:noFill/>
          </a:ln>
        </p:spPr>
      </p:pic>
      <p:sp>
        <p:nvSpPr>
          <p:cNvPr id="253" name="Google Shape;253;g3d18d3d8234_1_309"/>
          <p:cNvSpPr/>
          <p:nvPr/>
        </p:nvSpPr>
        <p:spPr>
          <a:xfrm>
            <a:off x="949025" y="2478219"/>
            <a:ext cx="10293600" cy="867900"/>
          </a:xfrm>
          <a:prstGeom prst="rect">
            <a:avLst/>
          </a:prstGeom>
          <a:solidFill>
            <a:srgbClr val="FAFAFA"/>
          </a:solidFill>
          <a:ln w="12700" cap="flat" cmpd="sng">
            <a:solidFill>
              <a:srgbClr val="E0E0E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4" name="Google Shape;254;g3d18d3d8234_1_309"/>
          <p:cNvSpPr/>
          <p:nvPr/>
        </p:nvSpPr>
        <p:spPr>
          <a:xfrm>
            <a:off x="949025" y="2478219"/>
            <a:ext cx="68700" cy="867900"/>
          </a:xfrm>
          <a:prstGeom prst="rect">
            <a:avLst/>
          </a:prstGeom>
          <a:solidFill>
            <a:srgbClr val="2C74B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5" name="Google Shape;255;g3d18d3d8234_1_309"/>
          <p:cNvSpPr/>
          <p:nvPr/>
        </p:nvSpPr>
        <p:spPr>
          <a:xfrm>
            <a:off x="1177767" y="2478219"/>
            <a:ext cx="457200" cy="867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1700"/>
              <a:buFont typeface="Calibri"/>
              <a:buNone/>
            </a:pPr>
            <a:r>
              <a:rPr lang="en-US" sz="1700" b="1" i="0" u="none" strike="noStrike" cap="none">
                <a:solidFill>
                  <a:srgbClr val="2C74B3"/>
                </a:solidFill>
                <a:latin typeface="Calibri"/>
                <a:ea typeface="Calibri"/>
                <a:cs typeface="Calibri"/>
                <a:sym typeface="Calibri"/>
              </a:rPr>
              <a:t>(ii)</a:t>
            </a:r>
            <a:endParaRPr sz="1700" b="0" i="0" u="none" strike="noStrike" cap="none">
              <a:solidFill>
                <a:schemeClr val="dk1"/>
              </a:solidFill>
              <a:latin typeface="Calibri"/>
              <a:ea typeface="Calibri"/>
              <a:cs typeface="Calibri"/>
              <a:sym typeface="Calibri"/>
            </a:endParaRPr>
          </a:p>
        </p:txBody>
      </p:sp>
      <p:sp>
        <p:nvSpPr>
          <p:cNvPr id="256" name="Google Shape;256;g3d18d3d8234_1_309"/>
          <p:cNvSpPr/>
          <p:nvPr/>
        </p:nvSpPr>
        <p:spPr>
          <a:xfrm>
            <a:off x="1635252" y="2533868"/>
            <a:ext cx="9378600" cy="77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700"/>
              <a:buFont typeface="Calibri"/>
              <a:buNone/>
            </a:pPr>
            <a:r>
              <a:rPr lang="en-US" sz="1900" b="1" i="0" u="none" strike="noStrike" cap="none">
                <a:solidFill>
                  <a:srgbClr val="1E293B"/>
                </a:solidFill>
                <a:latin typeface="Calibri"/>
                <a:ea typeface="Calibri"/>
                <a:cs typeface="Calibri"/>
                <a:sym typeface="Calibri"/>
              </a:rPr>
              <a:t>One observation per patient</a:t>
            </a:r>
            <a:br>
              <a:rPr lang="en-US" sz="1900" b="1" i="0" u="none" strike="noStrike" cap="none">
                <a:solidFill>
                  <a:srgbClr val="1E293B"/>
                </a:solidFill>
                <a:latin typeface="Calibri"/>
                <a:ea typeface="Calibri"/>
                <a:cs typeface="Calibri"/>
                <a:sym typeface="Calibri"/>
              </a:rPr>
            </a:br>
            <a:r>
              <a:rPr lang="en-US" sz="1900" b="0" i="0" u="none" strike="noStrike" cap="none">
                <a:solidFill>
                  <a:srgbClr val="4A5568"/>
                </a:solidFill>
                <a:latin typeface="Calibri"/>
                <a:ea typeface="Calibri"/>
                <a:cs typeface="Calibri"/>
                <a:sym typeface="Calibri"/>
              </a:rPr>
              <a:t>First encounter retained per patient — removes within-patient dependence.</a:t>
            </a:r>
            <a:endParaRPr sz="1900" b="0" i="0" u="none" strike="noStrike" cap="none">
              <a:solidFill>
                <a:schemeClr val="dk1"/>
              </a:solidFill>
              <a:latin typeface="Calibri"/>
              <a:ea typeface="Calibri"/>
              <a:cs typeface="Calibri"/>
              <a:sym typeface="Calibri"/>
            </a:endParaRPr>
          </a:p>
        </p:txBody>
      </p:sp>
      <p:sp>
        <p:nvSpPr>
          <p:cNvPr id="257" name="Google Shape;257;g3d18d3d8234_1_309"/>
          <p:cNvSpPr/>
          <p:nvPr/>
        </p:nvSpPr>
        <p:spPr>
          <a:xfrm>
            <a:off x="949025" y="3457638"/>
            <a:ext cx="10293600" cy="867900"/>
          </a:xfrm>
          <a:prstGeom prst="rect">
            <a:avLst/>
          </a:prstGeom>
          <a:solidFill>
            <a:srgbClr val="FAFAFA"/>
          </a:solidFill>
          <a:ln w="12700" cap="flat" cmpd="sng">
            <a:solidFill>
              <a:srgbClr val="E0E0E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8" name="Google Shape;258;g3d18d3d8234_1_309"/>
          <p:cNvSpPr/>
          <p:nvPr/>
        </p:nvSpPr>
        <p:spPr>
          <a:xfrm>
            <a:off x="949025" y="3457638"/>
            <a:ext cx="68700" cy="867900"/>
          </a:xfrm>
          <a:prstGeom prst="rect">
            <a:avLst/>
          </a:prstGeom>
          <a:solidFill>
            <a:srgbClr val="2C74B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9" name="Google Shape;259;g3d18d3d8234_1_309"/>
          <p:cNvSpPr/>
          <p:nvPr/>
        </p:nvSpPr>
        <p:spPr>
          <a:xfrm>
            <a:off x="1177767" y="3457638"/>
            <a:ext cx="457200" cy="867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1700"/>
              <a:buFont typeface="Calibri"/>
              <a:buNone/>
            </a:pPr>
            <a:r>
              <a:rPr lang="en-US" sz="1700" b="1" i="0" u="none" strike="noStrike" cap="none">
                <a:solidFill>
                  <a:srgbClr val="2C74B3"/>
                </a:solidFill>
                <a:latin typeface="Calibri"/>
                <a:ea typeface="Calibri"/>
                <a:cs typeface="Calibri"/>
                <a:sym typeface="Calibri"/>
              </a:rPr>
              <a:t>(iii)</a:t>
            </a:r>
            <a:endParaRPr sz="1700" b="0" i="0" u="none" strike="noStrike" cap="none">
              <a:solidFill>
                <a:schemeClr val="dk1"/>
              </a:solidFill>
              <a:latin typeface="Calibri"/>
              <a:ea typeface="Calibri"/>
              <a:cs typeface="Calibri"/>
              <a:sym typeface="Calibri"/>
            </a:endParaRPr>
          </a:p>
        </p:txBody>
      </p:sp>
      <p:sp>
        <p:nvSpPr>
          <p:cNvPr id="260" name="Google Shape;260;g3d18d3d8234_1_309"/>
          <p:cNvSpPr/>
          <p:nvPr/>
        </p:nvSpPr>
        <p:spPr>
          <a:xfrm>
            <a:off x="1635252" y="3513286"/>
            <a:ext cx="9378600" cy="77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700"/>
              <a:buFont typeface="Calibri"/>
              <a:buNone/>
            </a:pPr>
            <a:r>
              <a:rPr lang="en-US" sz="1900" b="1" i="0" u="none" strike="noStrike" cap="none">
                <a:solidFill>
                  <a:srgbClr val="1E293B"/>
                </a:solidFill>
                <a:latin typeface="Calibri"/>
                <a:ea typeface="Calibri"/>
                <a:cs typeface="Calibri"/>
                <a:sym typeface="Calibri"/>
              </a:rPr>
              <a:t>Specialty assignment is exogenous</a:t>
            </a:r>
            <a:br>
              <a:rPr lang="en-US" sz="1900" b="1" i="0" u="none" strike="noStrike" cap="none">
                <a:solidFill>
                  <a:srgbClr val="1E293B"/>
                </a:solidFill>
                <a:latin typeface="Calibri"/>
                <a:ea typeface="Calibri"/>
                <a:cs typeface="Calibri"/>
                <a:sym typeface="Calibri"/>
              </a:rPr>
            </a:br>
            <a:r>
              <a:rPr lang="en-US" sz="1900" b="0" i="0" u="none" strike="noStrike" cap="none">
                <a:solidFill>
                  <a:srgbClr val="4A5568"/>
                </a:solidFill>
                <a:latin typeface="Calibri"/>
                <a:ea typeface="Calibri"/>
                <a:cs typeface="Calibri"/>
                <a:sym typeface="Calibri"/>
              </a:rPr>
              <a:t>We do not model the specialty assignment mechanism. Specialty effects should be interpreted as residual heterogeneity, not causal effects.</a:t>
            </a:r>
            <a:endParaRPr sz="1900" b="0" i="0" u="none" strike="noStrike" cap="none">
              <a:solidFill>
                <a:schemeClr val="dk1"/>
              </a:solidFill>
              <a:latin typeface="Calibri"/>
              <a:ea typeface="Calibri"/>
              <a:cs typeface="Calibri"/>
              <a:sym typeface="Calibri"/>
            </a:endParaRPr>
          </a:p>
        </p:txBody>
      </p:sp>
      <p:sp>
        <p:nvSpPr>
          <p:cNvPr id="261" name="Google Shape;261;g3d18d3d8234_1_309"/>
          <p:cNvSpPr/>
          <p:nvPr/>
        </p:nvSpPr>
        <p:spPr>
          <a:xfrm>
            <a:off x="949025" y="4437056"/>
            <a:ext cx="10293600" cy="867900"/>
          </a:xfrm>
          <a:prstGeom prst="rect">
            <a:avLst/>
          </a:prstGeom>
          <a:solidFill>
            <a:srgbClr val="FAFAFA"/>
          </a:solidFill>
          <a:ln w="12700" cap="flat" cmpd="sng">
            <a:solidFill>
              <a:srgbClr val="E0E0E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62" name="Google Shape;262;g3d18d3d8234_1_309"/>
          <p:cNvSpPr/>
          <p:nvPr/>
        </p:nvSpPr>
        <p:spPr>
          <a:xfrm>
            <a:off x="949025" y="4437056"/>
            <a:ext cx="68700" cy="867900"/>
          </a:xfrm>
          <a:prstGeom prst="rect">
            <a:avLst/>
          </a:prstGeom>
          <a:solidFill>
            <a:srgbClr val="2C74B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63" name="Google Shape;263;g3d18d3d8234_1_309"/>
          <p:cNvSpPr/>
          <p:nvPr/>
        </p:nvSpPr>
        <p:spPr>
          <a:xfrm>
            <a:off x="1177767" y="4437056"/>
            <a:ext cx="457200" cy="867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1700"/>
              <a:buFont typeface="Calibri"/>
              <a:buNone/>
            </a:pPr>
            <a:r>
              <a:rPr lang="en-US" sz="1700" b="1" i="0" u="none" strike="noStrike" cap="none">
                <a:solidFill>
                  <a:srgbClr val="2C74B3"/>
                </a:solidFill>
                <a:latin typeface="Calibri"/>
                <a:ea typeface="Calibri"/>
                <a:cs typeface="Calibri"/>
                <a:sym typeface="Calibri"/>
              </a:rPr>
              <a:t>(iv)</a:t>
            </a:r>
            <a:endParaRPr sz="1700" b="0" i="0" u="none" strike="noStrike" cap="none">
              <a:solidFill>
                <a:schemeClr val="dk1"/>
              </a:solidFill>
              <a:latin typeface="Calibri"/>
              <a:ea typeface="Calibri"/>
              <a:cs typeface="Calibri"/>
              <a:sym typeface="Calibri"/>
            </a:endParaRPr>
          </a:p>
        </p:txBody>
      </p:sp>
      <p:sp>
        <p:nvSpPr>
          <p:cNvPr id="264" name="Google Shape;264;g3d18d3d8234_1_309"/>
          <p:cNvSpPr/>
          <p:nvPr/>
        </p:nvSpPr>
        <p:spPr>
          <a:xfrm>
            <a:off x="1635252" y="4492705"/>
            <a:ext cx="9378600" cy="77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700"/>
              <a:buFont typeface="Calibri"/>
              <a:buNone/>
            </a:pPr>
            <a:r>
              <a:rPr lang="en-US" sz="1900" b="1" i="0" u="none" strike="noStrike" cap="none">
                <a:solidFill>
                  <a:srgbClr val="1E293B"/>
                </a:solidFill>
                <a:latin typeface="Calibri"/>
                <a:ea typeface="Calibri"/>
                <a:cs typeface="Calibri"/>
                <a:sym typeface="Calibri"/>
              </a:rPr>
              <a:t>Random intercepts only</a:t>
            </a:r>
            <a:br>
              <a:rPr lang="en-US" sz="1900" b="1" i="0" u="none" strike="noStrike" cap="none">
                <a:solidFill>
                  <a:srgbClr val="1E293B"/>
                </a:solidFill>
                <a:latin typeface="Calibri"/>
                <a:ea typeface="Calibri"/>
                <a:cs typeface="Calibri"/>
                <a:sym typeface="Calibri"/>
              </a:rPr>
            </a:br>
            <a:r>
              <a:rPr lang="en-US" sz="1900" b="0" i="0" u="none" strike="noStrike" cap="none">
                <a:solidFill>
                  <a:srgbClr val="4A5568"/>
                </a:solidFill>
                <a:latin typeface="Calibri"/>
                <a:ea typeface="Calibri"/>
                <a:cs typeface="Calibri"/>
                <a:sym typeface="Calibri"/>
              </a:rPr>
              <a:t>No random slopes — covariate effects are assumed constant across specialties. This keeps the parameter space manageable (64 vs. 64 + 19K).</a:t>
            </a:r>
            <a:endParaRPr sz="1900" b="0" i="0" u="none" strike="noStrike" cap="none">
              <a:solidFill>
                <a:schemeClr val="dk1"/>
              </a:solidFill>
              <a:latin typeface="Calibri"/>
              <a:ea typeface="Calibri"/>
              <a:cs typeface="Calibri"/>
              <a:sym typeface="Calibri"/>
            </a:endParaRPr>
          </a:p>
        </p:txBody>
      </p:sp>
      <p:sp>
        <p:nvSpPr>
          <p:cNvPr id="265" name="Google Shape;265;g3d18d3d8234_1_309"/>
          <p:cNvSpPr/>
          <p:nvPr/>
        </p:nvSpPr>
        <p:spPr>
          <a:xfrm>
            <a:off x="949025" y="5416475"/>
            <a:ext cx="10293600" cy="867900"/>
          </a:xfrm>
          <a:prstGeom prst="rect">
            <a:avLst/>
          </a:prstGeom>
          <a:solidFill>
            <a:srgbClr val="FAFAFA"/>
          </a:solidFill>
          <a:ln w="12700" cap="flat" cmpd="sng">
            <a:solidFill>
              <a:srgbClr val="E0E0E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66" name="Google Shape;266;g3d18d3d8234_1_309"/>
          <p:cNvSpPr/>
          <p:nvPr/>
        </p:nvSpPr>
        <p:spPr>
          <a:xfrm>
            <a:off x="949025" y="5416475"/>
            <a:ext cx="68700" cy="867900"/>
          </a:xfrm>
          <a:prstGeom prst="rect">
            <a:avLst/>
          </a:prstGeom>
          <a:solidFill>
            <a:srgbClr val="2C74B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67" name="Google Shape;267;g3d18d3d8234_1_309"/>
          <p:cNvSpPr/>
          <p:nvPr/>
        </p:nvSpPr>
        <p:spPr>
          <a:xfrm>
            <a:off x="1177767" y="5416475"/>
            <a:ext cx="457200" cy="867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1700"/>
              <a:buFont typeface="Calibri"/>
              <a:buNone/>
            </a:pPr>
            <a:r>
              <a:rPr lang="en-US" sz="1700" b="1" i="0" u="none" strike="noStrike" cap="none">
                <a:solidFill>
                  <a:srgbClr val="2C74B3"/>
                </a:solidFill>
                <a:latin typeface="Calibri"/>
                <a:ea typeface="Calibri"/>
                <a:cs typeface="Calibri"/>
                <a:sym typeface="Calibri"/>
              </a:rPr>
              <a:t>(v)</a:t>
            </a:r>
            <a:endParaRPr sz="1700" b="0" i="0" u="none" strike="noStrike" cap="none">
              <a:solidFill>
                <a:schemeClr val="dk1"/>
              </a:solidFill>
              <a:latin typeface="Calibri"/>
              <a:ea typeface="Calibri"/>
              <a:cs typeface="Calibri"/>
              <a:sym typeface="Calibri"/>
            </a:endParaRPr>
          </a:p>
        </p:txBody>
      </p:sp>
      <p:sp>
        <p:nvSpPr>
          <p:cNvPr id="268" name="Google Shape;268;g3d18d3d8234_1_309"/>
          <p:cNvSpPr/>
          <p:nvPr/>
        </p:nvSpPr>
        <p:spPr>
          <a:xfrm>
            <a:off x="1635252" y="5472124"/>
            <a:ext cx="9378600" cy="77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700"/>
              <a:buFont typeface="Calibri"/>
              <a:buNone/>
            </a:pPr>
            <a:r>
              <a:rPr lang="en-US" sz="1900" b="1" i="0" u="none" strike="noStrike" cap="none">
                <a:solidFill>
                  <a:srgbClr val="1E293B"/>
                </a:solidFill>
                <a:latin typeface="Calibri"/>
                <a:ea typeface="Calibri"/>
                <a:cs typeface="Calibri"/>
                <a:sym typeface="Calibri"/>
              </a:rPr>
              <a:t>Prior independence</a:t>
            </a:r>
            <a:endParaRPr sz="19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4A5568"/>
              </a:buClr>
              <a:buSzPts val="1500"/>
              <a:buFont typeface="Calibri"/>
              <a:buNone/>
            </a:pPr>
            <a:r>
              <a:rPr lang="en-US" sz="1900" b="0" i="0" u="none" strike="noStrike" cap="none">
                <a:solidFill>
                  <a:srgbClr val="4A5568"/>
                </a:solidFill>
                <a:latin typeface="Calibri"/>
                <a:ea typeface="Calibri"/>
                <a:cs typeface="Calibri"/>
                <a:sym typeface="Calibri"/>
              </a:rPr>
              <a:t>α ⊥ β ⊥ τ  a priori;  u depends on τ only.  This simplifies the joint posterior factorization.</a:t>
            </a:r>
            <a:endParaRPr sz="19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14"/>
          <p:cNvSpPr/>
          <p:nvPr/>
        </p:nvSpPr>
        <p:spPr>
          <a:xfrm>
            <a:off x="0" y="0"/>
            <a:ext cx="12191700" cy="6858000"/>
          </a:xfrm>
          <a:prstGeom prst="rect">
            <a:avLst/>
          </a:prstGeom>
          <a:solidFill>
            <a:srgbClr val="233D6B"/>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4" name="Google Shape;274;p14"/>
          <p:cNvSpPr/>
          <p:nvPr/>
        </p:nvSpPr>
        <p:spPr>
          <a:xfrm>
            <a:off x="1371600" y="2834640"/>
            <a:ext cx="1828800" cy="54900"/>
          </a:xfrm>
          <a:prstGeom prst="rect">
            <a:avLst/>
          </a:prstGeom>
          <a:solidFill>
            <a:srgbClr val="3A7CA5"/>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14"/>
          <p:cNvSpPr txBox="1"/>
          <p:nvPr/>
        </p:nvSpPr>
        <p:spPr>
          <a:xfrm>
            <a:off x="1371600" y="3108960"/>
            <a:ext cx="9144000" cy="10974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600" b="1" i="0" u="none" strike="noStrike" cap="none">
                <a:solidFill>
                  <a:srgbClr val="FFFFFF"/>
                </a:solidFill>
                <a:latin typeface="Calibri"/>
                <a:ea typeface="Calibri"/>
                <a:cs typeface="Calibri"/>
                <a:sym typeface="Calibri"/>
              </a:rPr>
              <a:t>Part 4</a:t>
            </a:r>
            <a:endParaRPr/>
          </a:p>
        </p:txBody>
      </p:sp>
      <p:sp>
        <p:nvSpPr>
          <p:cNvPr id="276" name="Google Shape;276;p14"/>
          <p:cNvSpPr txBox="1"/>
          <p:nvPr/>
        </p:nvSpPr>
        <p:spPr>
          <a:xfrm>
            <a:off x="1371600" y="4023360"/>
            <a:ext cx="91440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000" b="0" i="0" u="none" strike="noStrike" cap="none">
                <a:solidFill>
                  <a:srgbClr val="3A7CA5"/>
                </a:solidFill>
                <a:latin typeface="Calibri"/>
                <a:ea typeface="Calibri"/>
                <a:cs typeface="Calibri"/>
                <a:sym typeface="Calibri"/>
              </a:rPr>
              <a:t>Key Derivation</a:t>
            </a:r>
            <a:endParaRPr sz="3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1"/>
        <p:cNvGrpSpPr/>
        <p:nvPr/>
      </p:nvGrpSpPr>
      <p:grpSpPr>
        <a:xfrm>
          <a:off x="0" y="0"/>
          <a:ext cx="0" cy="0"/>
          <a:chOff x="0" y="0"/>
          <a:chExt cx="0" cy="0"/>
        </a:xfrm>
      </p:grpSpPr>
      <p:sp>
        <p:nvSpPr>
          <p:cNvPr id="282" name="Google Shape;282;g3d18d3d8234_1_338"/>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3" name="Google Shape;283;g3d18d3d8234_1_338"/>
          <p:cNvSpPr/>
          <p:nvPr/>
        </p:nvSpPr>
        <p:spPr>
          <a:xfrm>
            <a:off x="609584" y="121920"/>
            <a:ext cx="10972500" cy="792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200"/>
              <a:buFont typeface="Calibri"/>
              <a:buNone/>
            </a:pPr>
            <a:r>
              <a:rPr lang="en-US" sz="2800" b="1">
                <a:solidFill>
                  <a:srgbClr val="FFFFFF"/>
                </a:solidFill>
                <a:latin typeface="Calibri"/>
                <a:ea typeface="Calibri"/>
                <a:cs typeface="Calibri"/>
                <a:sym typeface="Calibri"/>
              </a:rPr>
              <a:t>Joint Posterior Distribution</a:t>
            </a:r>
            <a:endParaRPr sz="3200" b="0" i="0" u="none" strike="noStrike" cap="none">
              <a:solidFill>
                <a:schemeClr val="dk1"/>
              </a:solidFill>
              <a:latin typeface="Calibri"/>
              <a:ea typeface="Calibri"/>
              <a:cs typeface="Calibri"/>
              <a:sym typeface="Calibri"/>
            </a:endParaRPr>
          </a:p>
        </p:txBody>
      </p:sp>
      <p:pic>
        <p:nvPicPr>
          <p:cNvPr id="284" name="Google Shape;284;g3d18d3d8234_1_338" descr="/home/claude/eq2/p14_main.png"/>
          <p:cNvPicPr preferRelativeResize="0"/>
          <p:nvPr/>
        </p:nvPicPr>
        <p:blipFill rotWithShape="1">
          <a:blip r:embed="rId3">
            <a:alphaModFix/>
          </a:blip>
          <a:srcRect/>
          <a:stretch/>
        </p:blipFill>
        <p:spPr>
          <a:xfrm>
            <a:off x="365750" y="1280160"/>
            <a:ext cx="11460181" cy="853440"/>
          </a:xfrm>
          <a:prstGeom prst="rect">
            <a:avLst/>
          </a:prstGeom>
          <a:noFill/>
          <a:ln>
            <a:noFill/>
          </a:ln>
        </p:spPr>
      </p:pic>
      <p:sp>
        <p:nvSpPr>
          <p:cNvPr id="285" name="Google Shape;285;g3d18d3d8234_1_338"/>
          <p:cNvSpPr/>
          <p:nvPr/>
        </p:nvSpPr>
        <p:spPr>
          <a:xfrm>
            <a:off x="2009553" y="2304285"/>
            <a:ext cx="2520900" cy="5487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Font typeface="Arial"/>
              <a:buNone/>
            </a:pPr>
            <a:r>
              <a:rPr lang="en-US" sz="1900" b="1">
                <a:solidFill>
                  <a:srgbClr val="2C2C2C"/>
                </a:solidFill>
                <a:latin typeface="Calibri"/>
                <a:ea typeface="Calibri"/>
                <a:cs typeface="Calibri"/>
                <a:sym typeface="Calibri"/>
              </a:rPr>
              <a:t>Likelihood</a:t>
            </a:r>
            <a:endParaRPr sz="1900" b="1">
              <a:solidFill>
                <a:srgbClr val="2C2C2C"/>
              </a:solidFill>
              <a:latin typeface="Calibri"/>
              <a:ea typeface="Calibri"/>
              <a:cs typeface="Calibri"/>
              <a:sym typeface="Calibri"/>
            </a:endParaRPr>
          </a:p>
        </p:txBody>
      </p:sp>
      <p:sp>
        <p:nvSpPr>
          <p:cNvPr id="286" name="Google Shape;286;g3d18d3d8234_1_338"/>
          <p:cNvSpPr/>
          <p:nvPr/>
        </p:nvSpPr>
        <p:spPr>
          <a:xfrm>
            <a:off x="4832818" y="2304282"/>
            <a:ext cx="3226500" cy="5487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Font typeface="Arial"/>
              <a:buNone/>
            </a:pPr>
            <a:r>
              <a:rPr lang="en-US" sz="1900">
                <a:solidFill>
                  <a:srgbClr val="2C2C2C"/>
                </a:solidFill>
                <a:latin typeface="Calibri"/>
                <a:ea typeface="Calibri"/>
                <a:cs typeface="Calibri"/>
                <a:sym typeface="Calibri"/>
              </a:rPr>
              <a:t>Logistic link, data-dependent</a:t>
            </a:r>
            <a:endParaRPr sz="1900">
              <a:solidFill>
                <a:srgbClr val="2C2C2C"/>
              </a:solidFill>
              <a:latin typeface="Calibri"/>
              <a:ea typeface="Calibri"/>
              <a:cs typeface="Calibri"/>
              <a:sym typeface="Calibri"/>
            </a:endParaRPr>
          </a:p>
        </p:txBody>
      </p:sp>
      <p:sp>
        <p:nvSpPr>
          <p:cNvPr id="287" name="Google Shape;287;g3d18d3d8234_1_338"/>
          <p:cNvSpPr/>
          <p:nvPr/>
        </p:nvSpPr>
        <p:spPr>
          <a:xfrm>
            <a:off x="2009553" y="2765278"/>
            <a:ext cx="2520900" cy="5487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Font typeface="Arial"/>
              <a:buNone/>
            </a:pPr>
            <a:r>
              <a:rPr lang="en-US" sz="1900">
                <a:solidFill>
                  <a:srgbClr val="2C2C2C"/>
                </a:solidFill>
                <a:latin typeface="Calibri"/>
                <a:ea typeface="Calibri"/>
                <a:cs typeface="Calibri"/>
                <a:sym typeface="Calibri"/>
              </a:rPr>
              <a:t>Intercept prior</a:t>
            </a:r>
            <a:endParaRPr sz="1900">
              <a:solidFill>
                <a:srgbClr val="2C2C2C"/>
              </a:solidFill>
              <a:latin typeface="Calibri"/>
              <a:ea typeface="Calibri"/>
              <a:cs typeface="Calibri"/>
              <a:sym typeface="Calibri"/>
            </a:endParaRPr>
          </a:p>
        </p:txBody>
      </p:sp>
      <p:pic>
        <p:nvPicPr>
          <p:cNvPr id="288" name="Google Shape;288;g3d18d3d8234_1_338" descr="/home/claude/eq2/p14_n025.png"/>
          <p:cNvPicPr preferRelativeResize="0"/>
          <p:nvPr/>
        </p:nvPicPr>
        <p:blipFill rotWithShape="1">
          <a:blip r:embed="rId4">
            <a:alphaModFix/>
          </a:blip>
          <a:srcRect/>
          <a:stretch/>
        </p:blipFill>
        <p:spPr>
          <a:xfrm>
            <a:off x="4747517" y="2684073"/>
            <a:ext cx="2729139" cy="461995"/>
          </a:xfrm>
          <a:prstGeom prst="rect">
            <a:avLst/>
          </a:prstGeom>
          <a:noFill/>
          <a:ln>
            <a:noFill/>
          </a:ln>
        </p:spPr>
      </p:pic>
      <p:sp>
        <p:nvSpPr>
          <p:cNvPr id="289" name="Google Shape;289;g3d18d3d8234_1_338"/>
          <p:cNvSpPr/>
          <p:nvPr/>
        </p:nvSpPr>
        <p:spPr>
          <a:xfrm>
            <a:off x="2009553" y="3226271"/>
            <a:ext cx="2520900" cy="5487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Font typeface="Arial"/>
              <a:buNone/>
            </a:pPr>
            <a:r>
              <a:rPr lang="en-US" sz="1900">
                <a:solidFill>
                  <a:srgbClr val="2C2C2C"/>
                </a:solidFill>
                <a:latin typeface="Calibri"/>
                <a:ea typeface="Calibri"/>
                <a:cs typeface="Calibri"/>
                <a:sym typeface="Calibri"/>
              </a:rPr>
              <a:t>Fixed-effect priors</a:t>
            </a:r>
            <a:endParaRPr sz="1900">
              <a:solidFill>
                <a:srgbClr val="2C2C2C"/>
              </a:solidFill>
              <a:latin typeface="Calibri"/>
              <a:ea typeface="Calibri"/>
              <a:cs typeface="Calibri"/>
              <a:sym typeface="Calibri"/>
            </a:endParaRPr>
          </a:p>
        </p:txBody>
      </p:sp>
      <p:pic>
        <p:nvPicPr>
          <p:cNvPr id="290" name="Google Shape;290;g3d18d3d8234_1_338" descr="/home/claude/eq2/p14_n0625.png"/>
          <p:cNvPicPr preferRelativeResize="0"/>
          <p:nvPr/>
        </p:nvPicPr>
        <p:blipFill rotWithShape="1">
          <a:blip r:embed="rId5">
            <a:alphaModFix/>
          </a:blip>
          <a:srcRect/>
          <a:stretch/>
        </p:blipFill>
        <p:spPr>
          <a:xfrm>
            <a:off x="4747517" y="3117752"/>
            <a:ext cx="3493299" cy="461995"/>
          </a:xfrm>
          <a:prstGeom prst="rect">
            <a:avLst/>
          </a:prstGeom>
          <a:noFill/>
          <a:ln>
            <a:noFill/>
          </a:ln>
        </p:spPr>
      </p:pic>
      <p:sp>
        <p:nvSpPr>
          <p:cNvPr id="291" name="Google Shape;291;g3d18d3d8234_1_338"/>
          <p:cNvSpPr/>
          <p:nvPr/>
        </p:nvSpPr>
        <p:spPr>
          <a:xfrm>
            <a:off x="2009553" y="3687264"/>
            <a:ext cx="2520900" cy="5487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Font typeface="Arial"/>
              <a:buNone/>
            </a:pPr>
            <a:r>
              <a:rPr lang="en-US" sz="1900">
                <a:solidFill>
                  <a:srgbClr val="2C2C2C"/>
                </a:solidFill>
                <a:latin typeface="Calibri"/>
                <a:ea typeface="Calibri"/>
                <a:cs typeface="Calibri"/>
                <a:sym typeface="Calibri"/>
              </a:rPr>
              <a:t>Hierarchical prior</a:t>
            </a:r>
            <a:endParaRPr sz="1900">
              <a:solidFill>
                <a:srgbClr val="2C2C2C"/>
              </a:solidFill>
              <a:latin typeface="Calibri"/>
              <a:ea typeface="Calibri"/>
              <a:cs typeface="Calibri"/>
              <a:sym typeface="Calibri"/>
            </a:endParaRPr>
          </a:p>
        </p:txBody>
      </p:sp>
      <p:pic>
        <p:nvPicPr>
          <p:cNvPr id="292" name="Google Shape;292;g3d18d3d8234_1_338" descr="/home/claude/eq2/p14_ujt.png"/>
          <p:cNvPicPr preferRelativeResize="0"/>
          <p:nvPr/>
        </p:nvPicPr>
        <p:blipFill rotWithShape="1">
          <a:blip r:embed="rId6">
            <a:alphaModFix/>
          </a:blip>
          <a:srcRect/>
          <a:stretch/>
        </p:blipFill>
        <p:spPr>
          <a:xfrm>
            <a:off x="4747517" y="3583584"/>
            <a:ext cx="3056635" cy="461995"/>
          </a:xfrm>
          <a:prstGeom prst="rect">
            <a:avLst/>
          </a:prstGeom>
          <a:noFill/>
          <a:ln>
            <a:noFill/>
          </a:ln>
        </p:spPr>
      </p:pic>
      <p:sp>
        <p:nvSpPr>
          <p:cNvPr id="293" name="Google Shape;293;g3d18d3d8234_1_338"/>
          <p:cNvSpPr/>
          <p:nvPr/>
        </p:nvSpPr>
        <p:spPr>
          <a:xfrm>
            <a:off x="2009553" y="4172970"/>
            <a:ext cx="2520900" cy="5487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rgbClr val="000000"/>
              </a:buClr>
              <a:buFont typeface="Arial"/>
              <a:buNone/>
            </a:pPr>
            <a:r>
              <a:rPr lang="en-US" sz="1900">
                <a:solidFill>
                  <a:srgbClr val="2C2C2C"/>
                </a:solidFill>
                <a:latin typeface="Calibri"/>
                <a:ea typeface="Calibri"/>
                <a:cs typeface="Calibri"/>
                <a:sym typeface="Calibri"/>
              </a:rPr>
              <a:t>Hyperprior</a:t>
            </a:r>
            <a:endParaRPr sz="1900">
              <a:solidFill>
                <a:srgbClr val="2C2C2C"/>
              </a:solidFill>
              <a:latin typeface="Calibri"/>
              <a:ea typeface="Calibri"/>
              <a:cs typeface="Calibri"/>
              <a:sym typeface="Calibri"/>
            </a:endParaRPr>
          </a:p>
        </p:txBody>
      </p:sp>
      <p:pic>
        <p:nvPicPr>
          <p:cNvPr id="294" name="Google Shape;294;g3d18d3d8234_1_338" descr="/home/claude/eq2/p14_hn.png"/>
          <p:cNvPicPr preferRelativeResize="0"/>
          <p:nvPr/>
        </p:nvPicPr>
        <p:blipFill rotWithShape="1">
          <a:blip r:embed="rId7">
            <a:alphaModFix/>
          </a:blip>
          <a:srcRect/>
          <a:stretch/>
        </p:blipFill>
        <p:spPr>
          <a:xfrm>
            <a:off x="4747517" y="4096982"/>
            <a:ext cx="3056635" cy="461995"/>
          </a:xfrm>
          <a:prstGeom prst="rect">
            <a:avLst/>
          </a:prstGeom>
          <a:noFill/>
          <a:ln>
            <a:noFill/>
          </a:ln>
        </p:spPr>
      </p:pic>
      <p:sp>
        <p:nvSpPr>
          <p:cNvPr id="295" name="Google Shape;295;g3d18d3d8234_1_338"/>
          <p:cNvSpPr/>
          <p:nvPr/>
        </p:nvSpPr>
        <p:spPr>
          <a:xfrm>
            <a:off x="838025" y="4900596"/>
            <a:ext cx="10515600" cy="1302900"/>
          </a:xfrm>
          <a:prstGeom prst="roundRect">
            <a:avLst>
              <a:gd name="adj" fmla="val 16667"/>
            </a:avLst>
          </a:prstGeom>
          <a:solidFill>
            <a:srgbClr val="E8F0FE"/>
          </a:solidFill>
          <a:ln w="25400" cap="flat" cmpd="sng">
            <a:solidFill>
              <a:srgbClr val="3A7CA5"/>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6" name="Google Shape;296;g3d18d3d8234_1_338"/>
          <p:cNvSpPr/>
          <p:nvPr/>
        </p:nvSpPr>
        <p:spPr>
          <a:xfrm>
            <a:off x="1097067" y="5090443"/>
            <a:ext cx="10485000" cy="85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1700"/>
              <a:buFont typeface="Calibri"/>
              <a:buNone/>
            </a:pPr>
            <a:r>
              <a:rPr lang="en-US" sz="1900" b="1" i="0" u="none" strike="noStrike" cap="none">
                <a:solidFill>
                  <a:schemeClr val="dk2"/>
                </a:solidFill>
                <a:latin typeface="Calibri"/>
                <a:ea typeface="Calibri"/>
                <a:cs typeface="Calibri"/>
                <a:sym typeface="Calibri"/>
              </a:rPr>
              <a:t>The posterior is non-conjugate </a:t>
            </a:r>
            <a:r>
              <a:rPr lang="en-US" sz="1900" b="0" i="0" u="none" strike="noStrike" cap="none">
                <a:solidFill>
                  <a:schemeClr val="dk2"/>
                </a:solidFill>
                <a:latin typeface="Calibri"/>
                <a:ea typeface="Calibri"/>
                <a:cs typeface="Calibri"/>
                <a:sym typeface="Calibri"/>
              </a:rPr>
              <a:t>due to the logistic likelihood.</a:t>
            </a:r>
            <a:endParaRPr sz="1900" b="0" i="0" u="none" strike="noStrike" cap="none">
              <a:solidFill>
                <a:schemeClr val="dk2"/>
              </a:solidFill>
              <a:latin typeface="Calibri"/>
              <a:ea typeface="Calibri"/>
              <a:cs typeface="Calibri"/>
              <a:sym typeface="Calibri"/>
            </a:endParaRPr>
          </a:p>
          <a:p>
            <a:pPr marL="0" marR="0" lvl="0" indent="0" algn="l" rtl="0">
              <a:spcBef>
                <a:spcPts val="0"/>
              </a:spcBef>
              <a:spcAft>
                <a:spcPts val="0"/>
              </a:spcAft>
              <a:buClr>
                <a:srgbClr val="C0392B"/>
              </a:buClr>
              <a:buSzPts val="1700"/>
              <a:buFont typeface="Calibri"/>
              <a:buNone/>
            </a:pPr>
            <a:r>
              <a:rPr lang="en-US" sz="1900" b="1" i="0" u="none" strike="noStrike" cap="none">
                <a:solidFill>
                  <a:schemeClr val="dk2"/>
                </a:solidFill>
                <a:latin typeface="Calibri"/>
                <a:ea typeface="Calibri"/>
                <a:cs typeface="Calibri"/>
                <a:sym typeface="Calibri"/>
              </a:rPr>
              <a:t>No closed-form solution exists → This motivates MCMC sampling.</a:t>
            </a:r>
            <a:endParaRPr sz="1900" b="0" i="0" u="none" strike="noStrike" cap="none">
              <a:solidFill>
                <a:schemeClr val="dk2"/>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6"/>
          <p:cNvSpPr/>
          <p:nvPr/>
        </p:nvSpPr>
        <p:spPr>
          <a:xfrm>
            <a:off x="0" y="0"/>
            <a:ext cx="12191695" cy="1005840"/>
          </a:xfrm>
          <a:prstGeom prst="rect">
            <a:avLst/>
          </a:prstGeom>
          <a:solidFill>
            <a:srgbClr val="1B2A4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2" name="Google Shape;302;p16"/>
          <p:cNvSpPr txBox="1"/>
          <p:nvPr/>
        </p:nvSpPr>
        <p:spPr>
          <a:xfrm>
            <a:off x="548640" y="137160"/>
            <a:ext cx="109728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Log-Posterior Decomposition</a:t>
            </a:r>
            <a:endParaRPr/>
          </a:p>
        </p:txBody>
      </p:sp>
      <p:sp>
        <p:nvSpPr>
          <p:cNvPr id="303" name="Google Shape;303;p16"/>
          <p:cNvSpPr txBox="1"/>
          <p:nvPr/>
        </p:nvSpPr>
        <p:spPr>
          <a:xfrm>
            <a:off x="1586425" y="3102325"/>
            <a:ext cx="2757000" cy="3264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900" b="1" i="0" u="none" strike="noStrike" cap="none">
                <a:solidFill>
                  <a:schemeClr val="dk2"/>
                </a:solidFill>
                <a:latin typeface="Calibri"/>
                <a:ea typeface="Calibri"/>
                <a:cs typeface="Calibri"/>
                <a:sym typeface="Calibri"/>
              </a:rPr>
              <a:t>(I)  Log-likelihood</a:t>
            </a:r>
            <a:endParaRPr sz="1900">
              <a:solidFill>
                <a:schemeClr val="dk2"/>
              </a:solidFill>
            </a:endParaRPr>
          </a:p>
        </p:txBody>
      </p:sp>
      <p:sp>
        <p:nvSpPr>
          <p:cNvPr id="304" name="Google Shape;304;p16"/>
          <p:cNvSpPr txBox="1"/>
          <p:nvPr/>
        </p:nvSpPr>
        <p:spPr>
          <a:xfrm>
            <a:off x="4579669" y="3102325"/>
            <a:ext cx="6301800" cy="3264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900" b="0" i="0" u="none" strike="noStrike" cap="none">
                <a:solidFill>
                  <a:srgbClr val="2C2C2C"/>
                </a:solidFill>
                <a:latin typeface="Calibri"/>
                <a:ea typeface="Calibri"/>
                <a:cs typeface="Calibri"/>
                <a:sym typeface="Calibri"/>
              </a:rPr>
              <a:t>Data-dependent: logistic log-likelihood</a:t>
            </a:r>
            <a:endParaRPr sz="1900"/>
          </a:p>
        </p:txBody>
      </p:sp>
      <p:sp>
        <p:nvSpPr>
          <p:cNvPr id="305" name="Google Shape;305;p16"/>
          <p:cNvSpPr txBox="1"/>
          <p:nvPr/>
        </p:nvSpPr>
        <p:spPr>
          <a:xfrm>
            <a:off x="1586425" y="3486375"/>
            <a:ext cx="2757000" cy="3264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900" b="1" i="0" u="none" strike="noStrike" cap="none">
                <a:solidFill>
                  <a:srgbClr val="666666"/>
                </a:solidFill>
                <a:latin typeface="Calibri"/>
                <a:ea typeface="Calibri"/>
                <a:cs typeface="Calibri"/>
                <a:sym typeface="Calibri"/>
              </a:rPr>
              <a:t>(II) Prior on alpha</a:t>
            </a:r>
            <a:endParaRPr sz="1900"/>
          </a:p>
        </p:txBody>
      </p:sp>
      <p:sp>
        <p:nvSpPr>
          <p:cNvPr id="306" name="Google Shape;306;p16"/>
          <p:cNvSpPr txBox="1"/>
          <p:nvPr/>
        </p:nvSpPr>
        <p:spPr>
          <a:xfrm>
            <a:off x="4579669" y="3486375"/>
            <a:ext cx="6301800" cy="3264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900" b="0" i="0" u="none" strike="noStrike" cap="none">
                <a:solidFill>
                  <a:srgbClr val="2C2C2C"/>
                </a:solidFill>
                <a:latin typeface="Calibri"/>
                <a:ea typeface="Calibri"/>
                <a:cs typeface="Calibri"/>
                <a:sym typeface="Calibri"/>
              </a:rPr>
              <a:t>Gaussian regularization on intercept</a:t>
            </a:r>
            <a:endParaRPr sz="1900"/>
          </a:p>
        </p:txBody>
      </p:sp>
      <p:sp>
        <p:nvSpPr>
          <p:cNvPr id="307" name="Google Shape;307;p16"/>
          <p:cNvSpPr txBox="1"/>
          <p:nvPr/>
        </p:nvSpPr>
        <p:spPr>
          <a:xfrm>
            <a:off x="1586425" y="3870425"/>
            <a:ext cx="2757000" cy="3264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900" b="1" i="0" u="none" strike="noStrike" cap="none">
                <a:solidFill>
                  <a:srgbClr val="666666"/>
                </a:solidFill>
                <a:latin typeface="Calibri"/>
                <a:ea typeface="Calibri"/>
                <a:cs typeface="Calibri"/>
                <a:sym typeface="Calibri"/>
              </a:rPr>
              <a:t>(III) Prior on beta</a:t>
            </a:r>
            <a:endParaRPr sz="1900"/>
          </a:p>
        </p:txBody>
      </p:sp>
      <p:sp>
        <p:nvSpPr>
          <p:cNvPr id="308" name="Google Shape;308;p16"/>
          <p:cNvSpPr txBox="1"/>
          <p:nvPr/>
        </p:nvSpPr>
        <p:spPr>
          <a:xfrm>
            <a:off x="4579669" y="3870425"/>
            <a:ext cx="6301800" cy="3264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900" b="0" i="0" u="none" strike="noStrike" cap="none">
                <a:solidFill>
                  <a:srgbClr val="2C2C2C"/>
                </a:solidFill>
                <a:latin typeface="Calibri"/>
                <a:ea typeface="Calibri"/>
                <a:cs typeface="Calibri"/>
                <a:sym typeface="Calibri"/>
              </a:rPr>
              <a:t>Independent Gaussian on each fixed effect</a:t>
            </a:r>
            <a:endParaRPr sz="1900"/>
          </a:p>
        </p:txBody>
      </p:sp>
      <p:sp>
        <p:nvSpPr>
          <p:cNvPr id="309" name="Google Shape;309;p16"/>
          <p:cNvSpPr txBox="1"/>
          <p:nvPr/>
        </p:nvSpPr>
        <p:spPr>
          <a:xfrm>
            <a:off x="1586425" y="4254475"/>
            <a:ext cx="2757000" cy="3264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900" b="1" i="0" u="none" strike="noStrike" cap="none">
                <a:solidFill>
                  <a:srgbClr val="C0392B"/>
                </a:solidFill>
                <a:latin typeface="Calibri"/>
                <a:ea typeface="Calibri"/>
                <a:cs typeface="Calibri"/>
                <a:sym typeface="Calibri"/>
              </a:rPr>
              <a:t>(IV) Prior on u | tau</a:t>
            </a:r>
            <a:endParaRPr sz="1900"/>
          </a:p>
        </p:txBody>
      </p:sp>
      <p:sp>
        <p:nvSpPr>
          <p:cNvPr id="310" name="Google Shape;310;p16"/>
          <p:cNvSpPr txBox="1"/>
          <p:nvPr/>
        </p:nvSpPr>
        <p:spPr>
          <a:xfrm>
            <a:off x="4579669" y="4254475"/>
            <a:ext cx="6301800" cy="3264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900" b="0" i="0" u="none" strike="noStrike" cap="none">
                <a:solidFill>
                  <a:srgbClr val="2C2C2C"/>
                </a:solidFill>
                <a:latin typeface="Calibri"/>
                <a:ea typeface="Calibri"/>
                <a:cs typeface="Calibri"/>
                <a:sym typeface="Calibri"/>
              </a:rPr>
              <a:t>Hierarchical: tau controls shrinkage;  tau only here, NOT in (I)</a:t>
            </a:r>
            <a:endParaRPr sz="1900"/>
          </a:p>
        </p:txBody>
      </p:sp>
      <p:sp>
        <p:nvSpPr>
          <p:cNvPr id="311" name="Google Shape;311;p16"/>
          <p:cNvSpPr txBox="1"/>
          <p:nvPr/>
        </p:nvSpPr>
        <p:spPr>
          <a:xfrm>
            <a:off x="1586425" y="4638525"/>
            <a:ext cx="2757000" cy="3264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900" b="1" i="0" u="none" strike="noStrike" cap="none">
                <a:solidFill>
                  <a:srgbClr val="666666"/>
                </a:solidFill>
                <a:latin typeface="Calibri"/>
                <a:ea typeface="Calibri"/>
                <a:cs typeface="Calibri"/>
                <a:sym typeface="Calibri"/>
              </a:rPr>
              <a:t>(V) Prior on tau</a:t>
            </a:r>
            <a:endParaRPr sz="1900"/>
          </a:p>
        </p:txBody>
      </p:sp>
      <p:sp>
        <p:nvSpPr>
          <p:cNvPr id="312" name="Google Shape;312;p16"/>
          <p:cNvSpPr txBox="1"/>
          <p:nvPr/>
        </p:nvSpPr>
        <p:spPr>
          <a:xfrm>
            <a:off x="4579669" y="4638525"/>
            <a:ext cx="6301800" cy="3264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900" b="0" i="0" u="none" strike="noStrike" cap="none">
                <a:solidFill>
                  <a:srgbClr val="2C2C2C"/>
                </a:solidFill>
                <a:latin typeface="Calibri"/>
                <a:ea typeface="Calibri"/>
                <a:cs typeface="Calibri"/>
                <a:sym typeface="Calibri"/>
              </a:rPr>
              <a:t>Half-Normal hyperprior on group-level SD</a:t>
            </a:r>
            <a:endParaRPr sz="1900"/>
          </a:p>
        </p:txBody>
      </p:sp>
      <p:sp>
        <p:nvSpPr>
          <p:cNvPr id="313" name="Google Shape;313;p16"/>
          <p:cNvSpPr/>
          <p:nvPr/>
        </p:nvSpPr>
        <p:spPr>
          <a:xfrm>
            <a:off x="731575" y="5217417"/>
            <a:ext cx="10515600" cy="1152600"/>
          </a:xfrm>
          <a:prstGeom prst="roundRect">
            <a:avLst>
              <a:gd name="adj" fmla="val 16667"/>
            </a:avLst>
          </a:prstGeom>
          <a:solidFill>
            <a:srgbClr val="E8F0FE"/>
          </a:solidFill>
          <a:ln w="25400" cap="flat" cmpd="sng">
            <a:solidFill>
              <a:srgbClr val="3A7CA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4" name="Google Shape;314;p16"/>
          <p:cNvSpPr txBox="1"/>
          <p:nvPr/>
        </p:nvSpPr>
        <p:spPr>
          <a:xfrm>
            <a:off x="1097275" y="5274059"/>
            <a:ext cx="9784200" cy="969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900" b="1">
                <a:solidFill>
                  <a:schemeClr val="dk2"/>
                </a:solidFill>
                <a:latin typeface="Calibri"/>
                <a:ea typeface="Calibri"/>
                <a:cs typeface="Calibri"/>
                <a:sym typeface="Calibri"/>
              </a:rPr>
              <a:t>Key observations:</a:t>
            </a:r>
            <a:r>
              <a:rPr lang="en-US" sz="1900" b="1" i="0" u="none" strike="noStrike" cap="none">
                <a:solidFill>
                  <a:schemeClr val="dk2"/>
                </a:solidFill>
                <a:latin typeface="Calibri"/>
                <a:ea typeface="Calibri"/>
                <a:cs typeface="Calibri"/>
                <a:sym typeface="Calibri"/>
              </a:rPr>
              <a:t> tau appears ONLY in terms (IV) and (V), not in the likelihood.</a:t>
            </a:r>
            <a:endParaRPr sz="1900" b="1">
              <a:solidFill>
                <a:schemeClr val="dk2"/>
              </a:solidFill>
              <a:latin typeface="Calibri"/>
              <a:ea typeface="Calibri"/>
              <a:cs typeface="Calibri"/>
              <a:sym typeface="Calibri"/>
            </a:endParaRPr>
          </a:p>
          <a:p>
            <a:pPr marL="914400" marR="0" lvl="0" indent="0" algn="l" rtl="0">
              <a:lnSpc>
                <a:spcPct val="100000"/>
              </a:lnSpc>
              <a:spcBef>
                <a:spcPts val="0"/>
              </a:spcBef>
              <a:spcAft>
                <a:spcPts val="0"/>
              </a:spcAft>
              <a:buNone/>
            </a:pPr>
            <a:r>
              <a:rPr lang="en-US" sz="1900" b="1">
                <a:solidFill>
                  <a:schemeClr val="dk2"/>
                </a:solidFill>
                <a:latin typeface="Calibri"/>
                <a:ea typeface="Calibri"/>
                <a:cs typeface="Calibri"/>
                <a:sym typeface="Calibri"/>
              </a:rPr>
              <a:t>                 </a:t>
            </a:r>
            <a:r>
              <a:rPr lang="en-US" sz="1900" b="1" i="0" u="none" strike="noStrike" cap="none">
                <a:solidFill>
                  <a:schemeClr val="dk2"/>
                </a:solidFill>
                <a:latin typeface="Calibri"/>
                <a:ea typeface="Calibri"/>
                <a:cs typeface="Calibri"/>
                <a:sym typeface="Calibri"/>
              </a:rPr>
              <a:t>tau is informed by data only indirectly through posterior draws of u_j</a:t>
            </a:r>
            <a:endParaRPr sz="1900" b="1">
              <a:solidFill>
                <a:schemeClr val="dk2"/>
              </a:solidFill>
              <a:latin typeface="Calibri"/>
              <a:ea typeface="Calibri"/>
              <a:cs typeface="Calibri"/>
              <a:sym typeface="Calibri"/>
            </a:endParaRPr>
          </a:p>
          <a:p>
            <a:pPr marL="914400" marR="0" lvl="0" indent="0" algn="l" rtl="0">
              <a:lnSpc>
                <a:spcPct val="100000"/>
              </a:lnSpc>
              <a:spcBef>
                <a:spcPts val="0"/>
              </a:spcBef>
              <a:spcAft>
                <a:spcPts val="0"/>
              </a:spcAft>
              <a:buNone/>
            </a:pPr>
            <a:r>
              <a:rPr lang="en-US" sz="1900" b="1">
                <a:solidFill>
                  <a:schemeClr val="dk2"/>
                </a:solidFill>
                <a:latin typeface="Calibri"/>
                <a:ea typeface="Calibri"/>
                <a:cs typeface="Calibri"/>
                <a:sym typeface="Calibri"/>
              </a:rPr>
              <a:t>      </a:t>
            </a:r>
            <a:r>
              <a:rPr lang="en-US" sz="1900" b="1" i="0" u="none" strike="noStrike" cap="none">
                <a:solidFill>
                  <a:schemeClr val="dk2"/>
                </a:solidFill>
                <a:latin typeface="Calibri"/>
                <a:ea typeface="Calibri"/>
                <a:cs typeface="Calibri"/>
                <a:sym typeface="Calibri"/>
              </a:rPr>
              <a:t>the tau MCMC update does NOT require likelihood evaluation --&gt; O(J) cost.</a:t>
            </a:r>
            <a:endParaRPr sz="1900">
              <a:solidFill>
                <a:schemeClr val="dk2"/>
              </a:solidFill>
            </a:endParaRPr>
          </a:p>
        </p:txBody>
      </p:sp>
      <p:pic>
        <p:nvPicPr>
          <p:cNvPr id="315" name="Google Shape;315;p16" title="Screenshot 2026-03-21 at 19.04.02.png"/>
          <p:cNvPicPr preferRelativeResize="0"/>
          <p:nvPr/>
        </p:nvPicPr>
        <p:blipFill>
          <a:blip r:embed="rId3">
            <a:alphaModFix/>
          </a:blip>
          <a:stretch>
            <a:fillRect/>
          </a:stretch>
        </p:blipFill>
        <p:spPr>
          <a:xfrm>
            <a:off x="3258425" y="1205250"/>
            <a:ext cx="4932397" cy="18970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0"/>
        <p:cNvGrpSpPr/>
        <p:nvPr/>
      </p:nvGrpSpPr>
      <p:grpSpPr>
        <a:xfrm>
          <a:off x="0" y="0"/>
          <a:ext cx="0" cy="0"/>
          <a:chOff x="0" y="0"/>
          <a:chExt cx="0" cy="0"/>
        </a:xfrm>
      </p:grpSpPr>
      <p:sp>
        <p:nvSpPr>
          <p:cNvPr id="321" name="Google Shape;321;g3d18d3d8234_1_7"/>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2" name="Google Shape;322;g3d18d3d8234_1_7"/>
          <p:cNvSpPr/>
          <p:nvPr/>
        </p:nvSpPr>
        <p:spPr>
          <a:xfrm>
            <a:off x="838025" y="4145625"/>
            <a:ext cx="10605000" cy="2058000"/>
          </a:xfrm>
          <a:prstGeom prst="roundRect">
            <a:avLst>
              <a:gd name="adj" fmla="val 16667"/>
            </a:avLst>
          </a:prstGeom>
          <a:solidFill>
            <a:srgbClr val="E8F0FE"/>
          </a:solidFill>
          <a:ln w="25400" cap="flat" cmpd="sng">
            <a:solidFill>
              <a:srgbClr val="3A7CA5"/>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3" name="Google Shape;323;g3d18d3d8234_1_7"/>
          <p:cNvSpPr/>
          <p:nvPr/>
        </p:nvSpPr>
        <p:spPr>
          <a:xfrm>
            <a:off x="0" y="0"/>
            <a:ext cx="12191700" cy="1036500"/>
          </a:xfrm>
          <a:prstGeom prst="rect">
            <a:avLst/>
          </a:prstGeom>
          <a:solidFill>
            <a:srgbClr val="1B3A5C"/>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24" name="Google Shape;324;g3d18d3d8234_1_7"/>
          <p:cNvSpPr/>
          <p:nvPr/>
        </p:nvSpPr>
        <p:spPr>
          <a:xfrm>
            <a:off x="609584" y="121920"/>
            <a:ext cx="10972500" cy="792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200"/>
              <a:buFont typeface="Calibri"/>
              <a:buNone/>
            </a:pPr>
            <a:r>
              <a:rPr lang="en-US" sz="2800" b="1">
                <a:solidFill>
                  <a:srgbClr val="FFFFFF"/>
                </a:solidFill>
                <a:latin typeface="Calibri"/>
                <a:ea typeface="Calibri"/>
                <a:cs typeface="Calibri"/>
                <a:sym typeface="Calibri"/>
              </a:rPr>
              <a:t>Full Conditional Distributions</a:t>
            </a:r>
            <a:endParaRPr sz="3200" b="0" i="0" u="none" strike="noStrike" cap="none">
              <a:solidFill>
                <a:schemeClr val="dk1"/>
              </a:solidFill>
              <a:latin typeface="Calibri"/>
              <a:ea typeface="Calibri"/>
              <a:cs typeface="Calibri"/>
              <a:sym typeface="Calibri"/>
            </a:endParaRPr>
          </a:p>
        </p:txBody>
      </p:sp>
      <p:sp>
        <p:nvSpPr>
          <p:cNvPr id="325" name="Google Shape;325;g3d18d3d8234_1_7"/>
          <p:cNvSpPr/>
          <p:nvPr/>
        </p:nvSpPr>
        <p:spPr>
          <a:xfrm>
            <a:off x="838025" y="1219200"/>
            <a:ext cx="10743900" cy="426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5568"/>
              </a:buClr>
              <a:buSzPts val="1600"/>
              <a:buFont typeface="Calibri"/>
              <a:buNone/>
            </a:pPr>
            <a:r>
              <a:rPr lang="en-US" sz="1900" b="0" i="0" u="none" strike="noStrike" cap="none">
                <a:solidFill>
                  <a:srgbClr val="4A5568"/>
                </a:solidFill>
                <a:latin typeface="Calibri"/>
                <a:ea typeface="Calibri"/>
                <a:cs typeface="Calibri"/>
                <a:sym typeface="Calibri"/>
              </a:rPr>
              <a:t>For each parameter block, collect terms from the log-posterior ℓ(α, β, u, τ) that depend on the parameter being updated:</a:t>
            </a:r>
            <a:endParaRPr sz="1900" b="0" i="0" u="none" strike="noStrike" cap="none">
              <a:solidFill>
                <a:schemeClr val="dk1"/>
              </a:solidFill>
              <a:latin typeface="Calibri"/>
              <a:ea typeface="Calibri"/>
              <a:cs typeface="Calibri"/>
              <a:sym typeface="Calibri"/>
            </a:endParaRPr>
          </a:p>
        </p:txBody>
      </p:sp>
      <p:sp>
        <p:nvSpPr>
          <p:cNvPr id="326" name="Google Shape;326;g3d18d3d8234_1_7"/>
          <p:cNvSpPr/>
          <p:nvPr/>
        </p:nvSpPr>
        <p:spPr>
          <a:xfrm>
            <a:off x="1455106" y="1906030"/>
            <a:ext cx="2438400" cy="426900"/>
          </a:xfrm>
          <a:prstGeom prst="rect">
            <a:avLst/>
          </a:prstGeom>
          <a:noFill/>
          <a:ln>
            <a:noFill/>
          </a:ln>
        </p:spPr>
        <p:txBody>
          <a:bodyPr spcFirstLastPara="1" wrap="square" lIns="0" tIns="0" rIns="0" bIns="0" anchor="ctr" anchorCtr="0">
            <a:noAutofit/>
          </a:bodyPr>
          <a:lstStyle/>
          <a:p>
            <a:pPr marL="0" marR="0" lvl="0" indent="0" algn="l" rtl="0">
              <a:lnSpc>
                <a:spcPct val="80000"/>
              </a:lnSpc>
              <a:spcBef>
                <a:spcPts val="0"/>
              </a:spcBef>
              <a:spcAft>
                <a:spcPts val="0"/>
              </a:spcAft>
              <a:buClr>
                <a:srgbClr val="2C74B3"/>
              </a:buClr>
              <a:buSzPts val="1900"/>
              <a:buFont typeface="Calibri"/>
              <a:buNone/>
            </a:pPr>
            <a:r>
              <a:rPr lang="en-US" sz="1900" b="1" i="0" u="none" strike="noStrike" cap="none">
                <a:solidFill>
                  <a:schemeClr val="dk2"/>
                </a:solidFill>
                <a:latin typeface="Calibri"/>
                <a:ea typeface="Calibri"/>
                <a:cs typeface="Calibri"/>
                <a:sym typeface="Calibri"/>
              </a:rPr>
              <a:t>Block 1:  α</a:t>
            </a:r>
            <a:endParaRPr sz="1900" b="0" i="0" u="none" strike="noStrike" cap="none">
              <a:solidFill>
                <a:schemeClr val="dk2"/>
              </a:solidFill>
              <a:latin typeface="Calibri"/>
              <a:ea typeface="Calibri"/>
              <a:cs typeface="Calibri"/>
              <a:sym typeface="Calibri"/>
            </a:endParaRPr>
          </a:p>
        </p:txBody>
      </p:sp>
      <p:pic>
        <p:nvPicPr>
          <p:cNvPr id="327" name="Google Shape;327;g3d18d3d8234_1_7" descr="/home/claude/eqs/fc_alpha.png"/>
          <p:cNvPicPr preferRelativeResize="0"/>
          <p:nvPr/>
        </p:nvPicPr>
        <p:blipFill rotWithShape="1">
          <a:blip r:embed="rId3">
            <a:alphaModFix/>
          </a:blip>
          <a:srcRect/>
          <a:stretch/>
        </p:blipFill>
        <p:spPr>
          <a:xfrm>
            <a:off x="3279614" y="1784105"/>
            <a:ext cx="6021999" cy="548650"/>
          </a:xfrm>
          <a:prstGeom prst="rect">
            <a:avLst/>
          </a:prstGeom>
          <a:noFill/>
          <a:ln>
            <a:noFill/>
          </a:ln>
        </p:spPr>
      </p:pic>
      <p:sp>
        <p:nvSpPr>
          <p:cNvPr id="328" name="Google Shape;328;g3d18d3d8234_1_7"/>
          <p:cNvSpPr/>
          <p:nvPr/>
        </p:nvSpPr>
        <p:spPr>
          <a:xfrm>
            <a:off x="1455106" y="2386265"/>
            <a:ext cx="3048000" cy="426900"/>
          </a:xfrm>
          <a:prstGeom prst="rect">
            <a:avLst/>
          </a:prstGeom>
          <a:noFill/>
          <a:ln>
            <a:noFill/>
          </a:ln>
        </p:spPr>
        <p:txBody>
          <a:bodyPr spcFirstLastPara="1" wrap="square" lIns="0" tIns="0" rIns="0" bIns="0" anchor="ctr" anchorCtr="0">
            <a:noAutofit/>
          </a:bodyPr>
          <a:lstStyle/>
          <a:p>
            <a:pPr marL="0" marR="0" lvl="0" indent="0" algn="l" rtl="0">
              <a:lnSpc>
                <a:spcPct val="80000"/>
              </a:lnSpc>
              <a:spcBef>
                <a:spcPts val="0"/>
              </a:spcBef>
              <a:spcAft>
                <a:spcPts val="0"/>
              </a:spcAft>
              <a:buClr>
                <a:srgbClr val="2C74B3"/>
              </a:buClr>
              <a:buSzPts val="1900"/>
              <a:buFont typeface="Calibri"/>
              <a:buNone/>
            </a:pPr>
            <a:r>
              <a:rPr lang="en-US" sz="1900" b="1" i="0" u="none" strike="noStrike" cap="none">
                <a:solidFill>
                  <a:schemeClr val="dk2"/>
                </a:solidFill>
                <a:latin typeface="Calibri"/>
                <a:ea typeface="Calibri"/>
                <a:cs typeface="Calibri"/>
                <a:sym typeface="Calibri"/>
              </a:rPr>
              <a:t>Block 2:  βₖ  (k = 1..K)</a:t>
            </a:r>
            <a:endParaRPr sz="1900" b="0" i="0" u="none" strike="noStrike" cap="none">
              <a:solidFill>
                <a:schemeClr val="dk2"/>
              </a:solidFill>
              <a:latin typeface="Calibri"/>
              <a:ea typeface="Calibri"/>
              <a:cs typeface="Calibri"/>
              <a:sym typeface="Calibri"/>
            </a:endParaRPr>
          </a:p>
        </p:txBody>
      </p:sp>
      <p:pic>
        <p:nvPicPr>
          <p:cNvPr id="329" name="Google Shape;329;g3d18d3d8234_1_7" descr="/home/claude/eqs/fc_beta.png"/>
          <p:cNvPicPr preferRelativeResize="0"/>
          <p:nvPr/>
        </p:nvPicPr>
        <p:blipFill rotWithShape="1">
          <a:blip r:embed="rId4">
            <a:alphaModFix/>
          </a:blip>
          <a:srcRect/>
          <a:stretch/>
        </p:blipFill>
        <p:spPr>
          <a:xfrm>
            <a:off x="3279614" y="2335427"/>
            <a:ext cx="6021999" cy="548650"/>
          </a:xfrm>
          <a:prstGeom prst="rect">
            <a:avLst/>
          </a:prstGeom>
          <a:noFill/>
          <a:ln>
            <a:noFill/>
          </a:ln>
        </p:spPr>
      </p:pic>
      <p:sp>
        <p:nvSpPr>
          <p:cNvPr id="330" name="Google Shape;330;g3d18d3d8234_1_7"/>
          <p:cNvSpPr/>
          <p:nvPr/>
        </p:nvSpPr>
        <p:spPr>
          <a:xfrm>
            <a:off x="1455106" y="2933548"/>
            <a:ext cx="3048000" cy="426900"/>
          </a:xfrm>
          <a:prstGeom prst="rect">
            <a:avLst/>
          </a:prstGeom>
          <a:noFill/>
          <a:ln>
            <a:noFill/>
          </a:ln>
        </p:spPr>
        <p:txBody>
          <a:bodyPr spcFirstLastPara="1" wrap="square" lIns="0" tIns="0" rIns="0" bIns="0" anchor="ctr" anchorCtr="0">
            <a:noAutofit/>
          </a:bodyPr>
          <a:lstStyle/>
          <a:p>
            <a:pPr marL="0" marR="0" lvl="0" indent="0" algn="l" rtl="0">
              <a:lnSpc>
                <a:spcPct val="80000"/>
              </a:lnSpc>
              <a:spcBef>
                <a:spcPts val="0"/>
              </a:spcBef>
              <a:spcAft>
                <a:spcPts val="0"/>
              </a:spcAft>
              <a:buClr>
                <a:srgbClr val="2C74B3"/>
              </a:buClr>
              <a:buSzPts val="1900"/>
              <a:buFont typeface="Calibri"/>
              <a:buNone/>
            </a:pPr>
            <a:r>
              <a:rPr lang="en-US" sz="1900" b="1" i="0" u="none" strike="noStrike" cap="none">
                <a:solidFill>
                  <a:schemeClr val="dk2"/>
                </a:solidFill>
                <a:latin typeface="Calibri"/>
                <a:ea typeface="Calibri"/>
                <a:cs typeface="Calibri"/>
                <a:sym typeface="Calibri"/>
              </a:rPr>
              <a:t>Block 3:  uⱼ  (j = 1..J)</a:t>
            </a:r>
            <a:endParaRPr sz="1900" b="0" i="0" u="none" strike="noStrike" cap="none">
              <a:solidFill>
                <a:schemeClr val="dk2"/>
              </a:solidFill>
              <a:latin typeface="Calibri"/>
              <a:ea typeface="Calibri"/>
              <a:cs typeface="Calibri"/>
              <a:sym typeface="Calibri"/>
            </a:endParaRPr>
          </a:p>
        </p:txBody>
      </p:sp>
      <p:pic>
        <p:nvPicPr>
          <p:cNvPr id="331" name="Google Shape;331;g3d18d3d8234_1_7" descr="/home/claude/eqs/fc_uj.png"/>
          <p:cNvPicPr preferRelativeResize="0"/>
          <p:nvPr/>
        </p:nvPicPr>
        <p:blipFill rotWithShape="1">
          <a:blip r:embed="rId5">
            <a:alphaModFix/>
          </a:blip>
          <a:srcRect/>
          <a:stretch/>
        </p:blipFill>
        <p:spPr>
          <a:xfrm>
            <a:off x="3475414" y="2901039"/>
            <a:ext cx="5757402" cy="548625"/>
          </a:xfrm>
          <a:prstGeom prst="rect">
            <a:avLst/>
          </a:prstGeom>
          <a:noFill/>
          <a:ln>
            <a:noFill/>
          </a:ln>
        </p:spPr>
      </p:pic>
      <p:sp>
        <p:nvSpPr>
          <p:cNvPr id="332" name="Google Shape;332;g3d18d3d8234_1_7"/>
          <p:cNvSpPr/>
          <p:nvPr/>
        </p:nvSpPr>
        <p:spPr>
          <a:xfrm>
            <a:off x="1455106" y="3453743"/>
            <a:ext cx="3048000" cy="426900"/>
          </a:xfrm>
          <a:prstGeom prst="rect">
            <a:avLst/>
          </a:prstGeom>
          <a:noFill/>
          <a:ln>
            <a:noFill/>
          </a:ln>
        </p:spPr>
        <p:txBody>
          <a:bodyPr spcFirstLastPara="1" wrap="square" lIns="0" tIns="0" rIns="0" bIns="0" anchor="ctr" anchorCtr="0">
            <a:noAutofit/>
          </a:bodyPr>
          <a:lstStyle/>
          <a:p>
            <a:pPr marL="0" marR="0" lvl="0" indent="0" algn="l" rtl="0">
              <a:lnSpc>
                <a:spcPct val="80000"/>
              </a:lnSpc>
              <a:spcBef>
                <a:spcPts val="0"/>
              </a:spcBef>
              <a:spcAft>
                <a:spcPts val="0"/>
              </a:spcAft>
              <a:buClr>
                <a:srgbClr val="2C74B3"/>
              </a:buClr>
              <a:buSzPts val="1900"/>
              <a:buFont typeface="Calibri"/>
              <a:buNone/>
            </a:pPr>
            <a:r>
              <a:rPr lang="en-US" sz="1900" b="1" i="0" u="none" strike="noStrike" cap="none">
                <a:solidFill>
                  <a:schemeClr val="dk2"/>
                </a:solidFill>
                <a:latin typeface="Calibri"/>
                <a:ea typeface="Calibri"/>
                <a:cs typeface="Calibri"/>
                <a:sym typeface="Calibri"/>
              </a:rPr>
              <a:t>Block 4:  φ = log τ</a:t>
            </a:r>
            <a:endParaRPr sz="1900" b="0" i="0" u="none" strike="noStrike" cap="none">
              <a:solidFill>
                <a:schemeClr val="dk2"/>
              </a:solidFill>
              <a:latin typeface="Calibri"/>
              <a:ea typeface="Calibri"/>
              <a:cs typeface="Calibri"/>
              <a:sym typeface="Calibri"/>
            </a:endParaRPr>
          </a:p>
        </p:txBody>
      </p:sp>
      <p:pic>
        <p:nvPicPr>
          <p:cNvPr id="333" name="Google Shape;333;g3d18d3d8234_1_7" descr="/home/claude/eqs/fc_phi.png"/>
          <p:cNvPicPr preferRelativeResize="0"/>
          <p:nvPr/>
        </p:nvPicPr>
        <p:blipFill rotWithShape="1">
          <a:blip r:embed="rId6">
            <a:alphaModFix/>
          </a:blip>
          <a:srcRect/>
          <a:stretch/>
        </p:blipFill>
        <p:spPr>
          <a:xfrm>
            <a:off x="3236414" y="3380830"/>
            <a:ext cx="6243645" cy="666250"/>
          </a:xfrm>
          <a:prstGeom prst="rect">
            <a:avLst/>
          </a:prstGeom>
          <a:noFill/>
          <a:ln>
            <a:noFill/>
          </a:ln>
        </p:spPr>
      </p:pic>
      <p:sp>
        <p:nvSpPr>
          <p:cNvPr id="334" name="Google Shape;334;g3d18d3d8234_1_7"/>
          <p:cNvSpPr txBox="1"/>
          <p:nvPr/>
        </p:nvSpPr>
        <p:spPr>
          <a:xfrm>
            <a:off x="977075" y="4192750"/>
            <a:ext cx="10605000" cy="205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144272"/>
              </a:buClr>
              <a:buSzPts val="1700"/>
              <a:buFont typeface="Calibri"/>
              <a:buNone/>
            </a:pPr>
            <a:r>
              <a:rPr lang="en-US" sz="1900" b="1">
                <a:solidFill>
                  <a:schemeClr val="dk2"/>
                </a:solidFill>
                <a:latin typeface="Calibri"/>
                <a:ea typeface="Calibri"/>
                <a:cs typeface="Calibri"/>
                <a:sym typeface="Calibri"/>
              </a:rPr>
              <a:t>Key observations:</a:t>
            </a:r>
            <a:endParaRPr sz="1900" b="1">
              <a:solidFill>
                <a:schemeClr val="dk2"/>
              </a:solidFill>
              <a:latin typeface="Calibri"/>
              <a:ea typeface="Calibri"/>
              <a:cs typeface="Calibri"/>
              <a:sym typeface="Calibri"/>
            </a:endParaRPr>
          </a:p>
          <a:p>
            <a:pPr marL="0" lvl="0" indent="0" algn="l" rtl="0">
              <a:spcBef>
                <a:spcPts val="0"/>
              </a:spcBef>
              <a:spcAft>
                <a:spcPts val="0"/>
              </a:spcAft>
              <a:buClr>
                <a:srgbClr val="1E293B"/>
              </a:buClr>
              <a:buSzPts val="1500"/>
              <a:buFont typeface="Calibri"/>
              <a:buNone/>
            </a:pPr>
            <a:r>
              <a:rPr lang="en-US" sz="1900">
                <a:solidFill>
                  <a:schemeClr val="dk2"/>
                </a:solidFill>
                <a:latin typeface="Calibri"/>
                <a:ea typeface="Calibri"/>
                <a:cs typeface="Calibri"/>
                <a:sym typeface="Calibri"/>
              </a:rPr>
              <a:t>Blocks 1–3 share the same likelihood terms — they differ only in which prior penalty is added.</a:t>
            </a:r>
            <a:endParaRPr sz="1900">
              <a:solidFill>
                <a:schemeClr val="dk2"/>
              </a:solidFill>
              <a:latin typeface="Calibri"/>
              <a:ea typeface="Calibri"/>
              <a:cs typeface="Calibri"/>
              <a:sym typeface="Calibri"/>
            </a:endParaRPr>
          </a:p>
          <a:p>
            <a:pPr marL="0" lvl="0" indent="0" algn="l" rtl="0">
              <a:spcBef>
                <a:spcPts val="0"/>
              </a:spcBef>
              <a:spcAft>
                <a:spcPts val="0"/>
              </a:spcAft>
              <a:buClr>
                <a:srgbClr val="1E293B"/>
              </a:buClr>
              <a:buSzPts val="1500"/>
              <a:buFont typeface="Calibri"/>
              <a:buNone/>
            </a:pPr>
            <a:r>
              <a:rPr lang="en-US" sz="1900">
                <a:solidFill>
                  <a:schemeClr val="dk2"/>
                </a:solidFill>
                <a:latin typeface="Calibri"/>
                <a:ea typeface="Calibri"/>
                <a:cs typeface="Calibri"/>
                <a:sym typeface="Calibri"/>
              </a:rPr>
              <a:t>Block 3 (uⱼ) sums only over group-j observations — this is a major computational saving.</a:t>
            </a:r>
            <a:endParaRPr sz="1900">
              <a:solidFill>
                <a:schemeClr val="dk2"/>
              </a:solidFill>
              <a:latin typeface="Calibri"/>
              <a:ea typeface="Calibri"/>
              <a:cs typeface="Calibri"/>
              <a:sym typeface="Calibri"/>
            </a:endParaRPr>
          </a:p>
          <a:p>
            <a:pPr marL="0" lvl="0" indent="0" algn="l" rtl="0">
              <a:spcBef>
                <a:spcPts val="0"/>
              </a:spcBef>
              <a:spcAft>
                <a:spcPts val="0"/>
              </a:spcAft>
              <a:buClr>
                <a:srgbClr val="1E293B"/>
              </a:buClr>
              <a:buSzPts val="1500"/>
              <a:buFont typeface="Calibri"/>
              <a:buNone/>
            </a:pPr>
            <a:r>
              <a:rPr lang="en-US" sz="1900">
                <a:solidFill>
                  <a:schemeClr val="dk2"/>
                </a:solidFill>
                <a:latin typeface="Calibri"/>
                <a:ea typeface="Calibri"/>
                <a:cs typeface="Calibri"/>
                <a:sym typeface="Calibri"/>
              </a:rPr>
              <a:t>Block 4 (φ) does NOT involve the likelihood at all. Data inform τ only indirectly through the posterior draws of uⱼ.</a:t>
            </a:r>
            <a:br>
              <a:rPr lang="en-US" sz="1900">
                <a:solidFill>
                  <a:schemeClr val="dk2"/>
                </a:solidFill>
                <a:latin typeface="Calibri"/>
                <a:ea typeface="Calibri"/>
                <a:cs typeface="Calibri"/>
                <a:sym typeface="Calibri"/>
              </a:rPr>
            </a:br>
            <a:r>
              <a:rPr lang="en-US" sz="1900" b="1">
                <a:solidFill>
                  <a:schemeClr val="dk2"/>
                </a:solidFill>
                <a:latin typeface="Calibri"/>
                <a:ea typeface="Calibri"/>
                <a:cs typeface="Calibri"/>
                <a:sym typeface="Calibri"/>
              </a:rPr>
              <a:t>None of these conditionals are available in closed form - Metropolis-Hastings required for every block.</a:t>
            </a:r>
            <a:endParaRPr sz="1900">
              <a:solidFill>
                <a:schemeClr val="dk2"/>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9"/>
        <p:cNvGrpSpPr/>
        <p:nvPr/>
      </p:nvGrpSpPr>
      <p:grpSpPr>
        <a:xfrm>
          <a:off x="0" y="0"/>
          <a:ext cx="0" cy="0"/>
          <a:chOff x="0" y="0"/>
          <a:chExt cx="0" cy="0"/>
        </a:xfrm>
      </p:grpSpPr>
      <p:sp>
        <p:nvSpPr>
          <p:cNvPr id="340" name="Google Shape;340;g3d18d3d8234_1_188"/>
          <p:cNvSpPr/>
          <p:nvPr/>
        </p:nvSpPr>
        <p:spPr>
          <a:xfrm>
            <a:off x="0" y="0"/>
            <a:ext cx="12191700" cy="1036500"/>
          </a:xfrm>
          <a:prstGeom prst="rect">
            <a:avLst/>
          </a:prstGeom>
          <a:solidFill>
            <a:srgbClr val="1B3A5C"/>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41" name="Google Shape;341;g3d18d3d8234_1_188"/>
          <p:cNvSpPr/>
          <p:nvPr/>
        </p:nvSpPr>
        <p:spPr>
          <a:xfrm>
            <a:off x="609584" y="121920"/>
            <a:ext cx="10972500" cy="792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200"/>
              <a:buFont typeface="Calibri"/>
              <a:buNone/>
            </a:pPr>
            <a:r>
              <a:rPr lang="en-US" sz="2800" b="1">
                <a:solidFill>
                  <a:srgbClr val="FFFFFF"/>
                </a:solidFill>
                <a:latin typeface="Calibri"/>
                <a:ea typeface="Calibri"/>
                <a:cs typeface="Calibri"/>
                <a:sym typeface="Calibri"/>
              </a:rPr>
              <a:t>Posterior Propriety &amp; Identifiability</a:t>
            </a:r>
            <a:endParaRPr sz="3200" b="0" i="0" u="none" strike="noStrike" cap="none">
              <a:solidFill>
                <a:schemeClr val="dk1"/>
              </a:solidFill>
              <a:latin typeface="Calibri"/>
              <a:ea typeface="Calibri"/>
              <a:cs typeface="Calibri"/>
              <a:sym typeface="Calibri"/>
            </a:endParaRPr>
          </a:p>
        </p:txBody>
      </p:sp>
      <p:sp>
        <p:nvSpPr>
          <p:cNvPr id="342" name="Google Shape;342;g3d18d3d8234_1_188"/>
          <p:cNvSpPr/>
          <p:nvPr/>
        </p:nvSpPr>
        <p:spPr>
          <a:xfrm>
            <a:off x="609584" y="1219200"/>
            <a:ext cx="48768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2300"/>
              <a:buFont typeface="Calibri"/>
              <a:buNone/>
            </a:pPr>
            <a:r>
              <a:rPr lang="en-US" sz="2300" b="1" i="0" u="none" strike="noStrike" cap="none">
                <a:solidFill>
                  <a:schemeClr val="dk2"/>
                </a:solidFill>
                <a:latin typeface="Calibri"/>
                <a:ea typeface="Calibri"/>
                <a:cs typeface="Calibri"/>
                <a:sym typeface="Calibri"/>
              </a:rPr>
              <a:t>Posterior Propriety</a:t>
            </a:r>
            <a:endParaRPr sz="2300" b="0" i="0" u="none" strike="noStrike" cap="none">
              <a:solidFill>
                <a:schemeClr val="dk2"/>
              </a:solidFill>
              <a:latin typeface="Calibri"/>
              <a:ea typeface="Calibri"/>
              <a:cs typeface="Calibri"/>
              <a:sym typeface="Calibri"/>
            </a:endParaRPr>
          </a:p>
        </p:txBody>
      </p:sp>
      <p:sp>
        <p:nvSpPr>
          <p:cNvPr id="343" name="Google Shape;343;g3d18d3d8234_1_188"/>
          <p:cNvSpPr/>
          <p:nvPr/>
        </p:nvSpPr>
        <p:spPr>
          <a:xfrm>
            <a:off x="609575" y="1584975"/>
            <a:ext cx="10972500" cy="1270500"/>
          </a:xfrm>
          <a:prstGeom prst="rect">
            <a:avLst/>
          </a:prstGeom>
          <a:solidFill>
            <a:srgbClr val="FAFAFA"/>
          </a:solidFill>
          <a:ln w="12700" cap="flat" cmpd="sng">
            <a:solidFill>
              <a:srgbClr val="E0E0E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44" name="Google Shape;344;g3d18d3d8234_1_188"/>
          <p:cNvSpPr/>
          <p:nvPr/>
        </p:nvSpPr>
        <p:spPr>
          <a:xfrm>
            <a:off x="853408" y="1725714"/>
            <a:ext cx="10485000" cy="985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700"/>
              <a:buFont typeface="Calibri"/>
              <a:buNone/>
            </a:pPr>
            <a:r>
              <a:rPr lang="en-US" sz="1900" b="1" i="1" u="none" strike="noStrike" cap="none">
                <a:solidFill>
                  <a:srgbClr val="1E293B"/>
                </a:solidFill>
                <a:latin typeface="Calibri"/>
                <a:ea typeface="Calibri"/>
                <a:cs typeface="Calibri"/>
                <a:sym typeface="Calibri"/>
              </a:rPr>
              <a:t>Proposition. </a:t>
            </a:r>
            <a:r>
              <a:rPr lang="en-US" sz="1900" b="0" i="0" u="none" strike="noStrike" cap="none">
                <a:solidFill>
                  <a:srgbClr val="1E293B"/>
                </a:solidFill>
                <a:latin typeface="Calibri"/>
                <a:ea typeface="Calibri"/>
                <a:cs typeface="Calibri"/>
                <a:sym typeface="Calibri"/>
              </a:rPr>
              <a:t>The posterior p(α, β, u, τ | y) is proper (integrates to a finite value).</a:t>
            </a:r>
            <a:br>
              <a:rPr lang="en-US" sz="1900" b="0" i="0" u="none" strike="noStrike" cap="none">
                <a:solidFill>
                  <a:srgbClr val="1E293B"/>
                </a:solidFill>
                <a:latin typeface="Calibri"/>
                <a:ea typeface="Calibri"/>
                <a:cs typeface="Calibri"/>
                <a:sym typeface="Calibri"/>
              </a:rPr>
            </a:br>
            <a:endParaRPr sz="1000">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700"/>
              <a:buFont typeface="Calibri"/>
              <a:buNone/>
            </a:pPr>
            <a:r>
              <a:rPr lang="en-US" sz="1900" b="0" i="0" u="none" strike="noStrike" cap="none">
                <a:solidFill>
                  <a:srgbClr val="4A5568"/>
                </a:solidFill>
                <a:latin typeface="Calibri"/>
                <a:ea typeface="Calibri"/>
                <a:cs typeface="Calibri"/>
                <a:sym typeface="Calibri"/>
              </a:rPr>
              <a:t>Proof:  (i) Bernoulli likelihood is bounded: 0 ≤ p(y | ·) ≤ 1;   (ii) All priors are proper distributions.</a:t>
            </a:r>
            <a:endParaRPr sz="19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27AE60"/>
              </a:buClr>
              <a:buSzPts val="1600"/>
              <a:buFont typeface="Calibri"/>
              <a:buNone/>
            </a:pPr>
            <a:r>
              <a:rPr lang="en-US" sz="1900" b="1" i="0" u="none" strike="noStrike" cap="none">
                <a:solidFill>
                  <a:srgbClr val="3A7CA5"/>
                </a:solidFill>
                <a:latin typeface="Calibri"/>
                <a:ea typeface="Calibri"/>
                <a:cs typeface="Calibri"/>
                <a:sym typeface="Calibri"/>
              </a:rPr>
              <a:t>  ⟹  Joint integrand bounded above by ∏(proper priors) → integrates to 1.  </a:t>
            </a:r>
            <a:endParaRPr sz="1900" b="0" i="0" u="none" strike="noStrike" cap="none">
              <a:solidFill>
                <a:srgbClr val="3A7CA5"/>
              </a:solidFill>
              <a:latin typeface="Calibri"/>
              <a:ea typeface="Calibri"/>
              <a:cs typeface="Calibri"/>
              <a:sym typeface="Calibri"/>
            </a:endParaRPr>
          </a:p>
        </p:txBody>
      </p:sp>
      <p:sp>
        <p:nvSpPr>
          <p:cNvPr id="345" name="Google Shape;345;g3d18d3d8234_1_188"/>
          <p:cNvSpPr/>
          <p:nvPr/>
        </p:nvSpPr>
        <p:spPr>
          <a:xfrm>
            <a:off x="609584" y="3116104"/>
            <a:ext cx="48768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2300"/>
              <a:buFont typeface="Calibri"/>
              <a:buNone/>
            </a:pPr>
            <a:r>
              <a:rPr lang="en-US" sz="2300" b="1" i="0" u="none" strike="noStrike" cap="none">
                <a:solidFill>
                  <a:schemeClr val="dk2"/>
                </a:solidFill>
                <a:latin typeface="Calibri"/>
                <a:ea typeface="Calibri"/>
                <a:cs typeface="Calibri"/>
                <a:sym typeface="Calibri"/>
              </a:rPr>
              <a:t>Identifiability</a:t>
            </a:r>
            <a:endParaRPr sz="2300" b="0" i="0" u="none" strike="noStrike" cap="none">
              <a:solidFill>
                <a:schemeClr val="dk2"/>
              </a:solidFill>
              <a:latin typeface="Calibri"/>
              <a:ea typeface="Calibri"/>
              <a:cs typeface="Calibri"/>
              <a:sym typeface="Calibri"/>
            </a:endParaRPr>
          </a:p>
        </p:txBody>
      </p:sp>
      <p:sp>
        <p:nvSpPr>
          <p:cNvPr id="346" name="Google Shape;346;g3d18d3d8234_1_188"/>
          <p:cNvSpPr/>
          <p:nvPr/>
        </p:nvSpPr>
        <p:spPr>
          <a:xfrm>
            <a:off x="609575" y="3598369"/>
            <a:ext cx="10972500" cy="2462700"/>
          </a:xfrm>
          <a:prstGeom prst="rect">
            <a:avLst/>
          </a:prstGeom>
          <a:solidFill>
            <a:srgbClr val="FAFAFA"/>
          </a:solidFill>
          <a:ln w="12700" cap="flat" cmpd="sng">
            <a:solidFill>
              <a:srgbClr val="E0E0E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47" name="Google Shape;347;g3d18d3d8234_1_188"/>
          <p:cNvSpPr/>
          <p:nvPr/>
        </p:nvSpPr>
        <p:spPr>
          <a:xfrm>
            <a:off x="853417" y="3632585"/>
            <a:ext cx="10485000" cy="487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1700"/>
              <a:buFont typeface="Calibri"/>
              <a:buNone/>
            </a:pPr>
            <a:r>
              <a:rPr lang="en-US" sz="1900" b="1" i="0" u="none" strike="noStrike" cap="none">
                <a:solidFill>
                  <a:srgbClr val="C0392B"/>
                </a:solidFill>
                <a:latin typeface="Calibri"/>
                <a:ea typeface="Calibri"/>
                <a:cs typeface="Calibri"/>
                <a:sym typeface="Calibri"/>
              </a:rPr>
              <a:t>Problem:  </a:t>
            </a:r>
            <a:r>
              <a:rPr lang="en-US" sz="1900" b="0" i="0" u="none" strike="noStrike" cap="none">
                <a:solidFill>
                  <a:srgbClr val="1E293B"/>
                </a:solidFill>
                <a:latin typeface="Calibri"/>
                <a:ea typeface="Calibri"/>
                <a:cs typeface="Calibri"/>
                <a:sym typeface="Calibri"/>
              </a:rPr>
              <a:t>α and uⱼ are weakly non-identifiable.  Shifting α → α+c and uⱼ → uⱼ−c preserves ηᵢ:</a:t>
            </a:r>
            <a:endParaRPr sz="1900" b="0" i="0" u="none" strike="noStrike" cap="none">
              <a:solidFill>
                <a:schemeClr val="dk1"/>
              </a:solidFill>
              <a:latin typeface="Calibri"/>
              <a:ea typeface="Calibri"/>
              <a:cs typeface="Calibri"/>
              <a:sym typeface="Calibri"/>
            </a:endParaRPr>
          </a:p>
        </p:txBody>
      </p:sp>
      <p:pic>
        <p:nvPicPr>
          <p:cNvPr id="348" name="Google Shape;348;g3d18d3d8234_1_188" descr="/home/claude/latex_eqs/ident_eta.png"/>
          <p:cNvPicPr preferRelativeResize="0"/>
          <p:nvPr/>
        </p:nvPicPr>
        <p:blipFill rotWithShape="1">
          <a:blip r:embed="rId3">
            <a:alphaModFix/>
          </a:blip>
          <a:srcRect/>
          <a:stretch/>
        </p:blipFill>
        <p:spPr>
          <a:xfrm>
            <a:off x="1219168" y="3938166"/>
            <a:ext cx="9143752" cy="823518"/>
          </a:xfrm>
          <a:prstGeom prst="rect">
            <a:avLst/>
          </a:prstGeom>
          <a:noFill/>
          <a:ln>
            <a:noFill/>
          </a:ln>
        </p:spPr>
      </p:pic>
      <p:sp>
        <p:nvSpPr>
          <p:cNvPr id="349" name="Google Shape;349;g3d18d3d8234_1_188"/>
          <p:cNvSpPr/>
          <p:nvPr/>
        </p:nvSpPr>
        <p:spPr>
          <a:xfrm>
            <a:off x="853417" y="4626171"/>
            <a:ext cx="10485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600"/>
              <a:buFont typeface="Calibri"/>
              <a:buNone/>
            </a:pPr>
            <a:r>
              <a:rPr lang="en-US" sz="1900" b="0" i="0" u="none" strike="noStrike" cap="none">
                <a:solidFill>
                  <a:srgbClr val="1E293B"/>
                </a:solidFill>
                <a:latin typeface="Calibri"/>
                <a:ea typeface="Calibri"/>
                <a:cs typeface="Calibri"/>
                <a:sym typeface="Calibri"/>
              </a:rPr>
              <a:t>This creates a ridge in the posterior — α and mean(u) are perfectly negatively correlated.</a:t>
            </a:r>
            <a:endParaRPr sz="1900" b="0" i="0" u="none" strike="noStrike" cap="none">
              <a:solidFill>
                <a:schemeClr val="dk1"/>
              </a:solidFill>
              <a:latin typeface="Calibri"/>
              <a:ea typeface="Calibri"/>
              <a:cs typeface="Calibri"/>
              <a:sym typeface="Calibri"/>
            </a:endParaRPr>
          </a:p>
        </p:txBody>
      </p:sp>
      <p:sp>
        <p:nvSpPr>
          <p:cNvPr id="350" name="Google Shape;350;g3d18d3d8234_1_188"/>
          <p:cNvSpPr/>
          <p:nvPr/>
        </p:nvSpPr>
        <p:spPr>
          <a:xfrm>
            <a:off x="853417" y="5052891"/>
            <a:ext cx="10485000" cy="85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5568"/>
              </a:buClr>
              <a:buSzPts val="1600"/>
              <a:buFont typeface="Calibri"/>
              <a:buNone/>
            </a:pPr>
            <a:r>
              <a:rPr lang="en-US" sz="1900" b="1" i="0" u="none" strike="noStrike" cap="none">
                <a:solidFill>
                  <a:srgbClr val="4A5568"/>
                </a:solidFill>
                <a:latin typeface="Calibri"/>
                <a:ea typeface="Calibri"/>
                <a:cs typeface="Calibri"/>
                <a:sym typeface="Calibri"/>
              </a:rPr>
              <a:t>Resolution:</a:t>
            </a:r>
            <a:br>
              <a:rPr lang="en-US" sz="1900" b="1" i="0" u="none" strike="noStrike" cap="none">
                <a:solidFill>
                  <a:srgbClr val="4A5568"/>
                </a:solidFill>
                <a:latin typeface="Calibri"/>
                <a:ea typeface="Calibri"/>
                <a:cs typeface="Calibri"/>
                <a:sym typeface="Calibri"/>
              </a:rPr>
            </a:br>
            <a:r>
              <a:rPr lang="en-US" sz="1900" b="1" i="0" u="none" strike="noStrike" cap="none">
                <a:solidFill>
                  <a:srgbClr val="1E293B"/>
                </a:solidFill>
                <a:latin typeface="Calibri"/>
                <a:ea typeface="Calibri"/>
                <a:cs typeface="Calibri"/>
                <a:sym typeface="Calibri"/>
              </a:rPr>
              <a:t>1. </a:t>
            </a:r>
            <a:r>
              <a:rPr lang="en-US" sz="1900" b="0" i="0" u="none" strike="noStrike" cap="none">
                <a:solidFill>
                  <a:srgbClr val="1E293B"/>
                </a:solidFill>
                <a:latin typeface="Calibri"/>
                <a:ea typeface="Calibri"/>
                <a:cs typeface="Calibri"/>
                <a:sym typeface="Calibri"/>
              </a:rPr>
              <a:t>Priors:  p(α) and p(uⱼ|τ) both centered at 0 → break the shift symmetry.</a:t>
            </a:r>
            <a:endParaRPr sz="19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600"/>
              <a:buFont typeface="Calibri"/>
              <a:buNone/>
            </a:pPr>
            <a:r>
              <a:rPr lang="en-US" sz="1900" b="1" i="0" u="none" strike="noStrike" cap="none">
                <a:solidFill>
                  <a:srgbClr val="1E293B"/>
                </a:solidFill>
                <a:latin typeface="Calibri"/>
                <a:ea typeface="Calibri"/>
                <a:cs typeface="Calibri"/>
                <a:sym typeface="Calibri"/>
              </a:rPr>
              <a:t>2. </a:t>
            </a:r>
            <a:r>
              <a:rPr lang="en-US" sz="1900" b="1" i="0" u="none" strike="noStrike" cap="none">
                <a:solidFill>
                  <a:srgbClr val="2C74B3"/>
                </a:solidFill>
                <a:latin typeface="Calibri"/>
                <a:ea typeface="Calibri"/>
                <a:cs typeface="Calibri"/>
                <a:sym typeface="Calibri"/>
              </a:rPr>
              <a:t>Computation:  Block 5 (joint translation move) explores along this ridge → improves mixing for α.</a:t>
            </a:r>
            <a:endParaRPr sz="19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354"/>
        <p:cNvGrpSpPr/>
        <p:nvPr/>
      </p:nvGrpSpPr>
      <p:grpSpPr>
        <a:xfrm>
          <a:off x="0" y="0"/>
          <a:ext cx="0" cy="0"/>
          <a:chOff x="0" y="0"/>
          <a:chExt cx="0" cy="0"/>
        </a:xfrm>
      </p:grpSpPr>
      <p:sp>
        <p:nvSpPr>
          <p:cNvPr id="355" name="Google Shape;355;p17"/>
          <p:cNvSpPr/>
          <p:nvPr/>
        </p:nvSpPr>
        <p:spPr>
          <a:xfrm>
            <a:off x="0" y="0"/>
            <a:ext cx="12191695" cy="1005840"/>
          </a:xfrm>
          <a:prstGeom prst="rect">
            <a:avLst/>
          </a:prstGeom>
          <a:solidFill>
            <a:srgbClr val="1B2A4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6" name="Google Shape;356;p17"/>
          <p:cNvSpPr txBox="1"/>
          <p:nvPr/>
        </p:nvSpPr>
        <p:spPr>
          <a:xfrm>
            <a:off x="548640" y="137160"/>
            <a:ext cx="109728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Reparameterization:  phi = log(tau)</a:t>
            </a:r>
            <a:endParaRPr/>
          </a:p>
        </p:txBody>
      </p:sp>
      <p:sp>
        <p:nvSpPr>
          <p:cNvPr id="357" name="Google Shape;357;p17"/>
          <p:cNvSpPr txBox="1"/>
          <p:nvPr/>
        </p:nvSpPr>
        <p:spPr>
          <a:xfrm>
            <a:off x="731520" y="1280160"/>
            <a:ext cx="100584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200" b="1" i="0" u="none" strike="noStrike" cap="none">
                <a:solidFill>
                  <a:srgbClr val="233D6B"/>
                </a:solidFill>
                <a:latin typeface="Calibri"/>
                <a:ea typeface="Calibri"/>
                <a:cs typeface="Calibri"/>
                <a:sym typeface="Calibri"/>
              </a:rPr>
              <a:t>Why reparameterize?</a:t>
            </a:r>
            <a:endParaRPr/>
          </a:p>
        </p:txBody>
      </p:sp>
      <p:sp>
        <p:nvSpPr>
          <p:cNvPr id="358" name="Google Shape;358;p17"/>
          <p:cNvSpPr txBox="1"/>
          <p:nvPr/>
        </p:nvSpPr>
        <p:spPr>
          <a:xfrm>
            <a:off x="1097280" y="1828800"/>
            <a:ext cx="100584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chemeClr val="dk1"/>
                </a:solidFill>
                <a:latin typeface="Calibri"/>
                <a:ea typeface="Calibri"/>
                <a:cs typeface="Calibri"/>
                <a:sym typeface="Calibri"/>
              </a:rPr>
              <a:t>   tau &gt; 0  constraint makes random walk on tau inefficient near boundary</a:t>
            </a:r>
            <a:endParaRPr sz="1900">
              <a:solidFill>
                <a:schemeClr val="dk1"/>
              </a:solidFill>
            </a:endParaRPr>
          </a:p>
        </p:txBody>
      </p:sp>
      <p:sp>
        <p:nvSpPr>
          <p:cNvPr id="359" name="Google Shape;359;p17"/>
          <p:cNvSpPr txBox="1"/>
          <p:nvPr/>
        </p:nvSpPr>
        <p:spPr>
          <a:xfrm>
            <a:off x="1097280" y="2240280"/>
            <a:ext cx="100584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chemeClr val="dk1"/>
                </a:solidFill>
                <a:latin typeface="Calibri"/>
                <a:ea typeface="Calibri"/>
                <a:cs typeface="Calibri"/>
                <a:sym typeface="Calibri"/>
              </a:rPr>
              <a:t>   phi = log(tau) maps to unconstrained R, enabling standard Gaussian proposals</a:t>
            </a:r>
            <a:endParaRPr sz="1900">
              <a:solidFill>
                <a:schemeClr val="dk1"/>
              </a:solidFill>
            </a:endParaRPr>
          </a:p>
        </p:txBody>
      </p:sp>
      <p:sp>
        <p:nvSpPr>
          <p:cNvPr id="360" name="Google Shape;360;p17"/>
          <p:cNvSpPr txBox="1"/>
          <p:nvPr/>
        </p:nvSpPr>
        <p:spPr>
          <a:xfrm>
            <a:off x="1097280" y="2651760"/>
            <a:ext cx="100584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chemeClr val="dk1"/>
                </a:solidFill>
                <a:latin typeface="Calibri"/>
                <a:ea typeface="Calibri"/>
                <a:cs typeface="Calibri"/>
                <a:sym typeface="Calibri"/>
              </a:rPr>
              <a:t>   Requires Jacobian correction:  + phi  (from |d(tau)/d(phi)| = exp(phi))</a:t>
            </a:r>
            <a:endParaRPr sz="1900">
              <a:solidFill>
                <a:schemeClr val="dk1"/>
              </a:solidFill>
            </a:endParaRPr>
          </a:p>
        </p:txBody>
      </p:sp>
      <p:pic>
        <p:nvPicPr>
          <p:cNvPr id="361" name="Google Shape;361;p17" descr="eq_reparam.png"/>
          <p:cNvPicPr preferRelativeResize="0"/>
          <p:nvPr/>
        </p:nvPicPr>
        <p:blipFill rotWithShape="1">
          <a:blip r:embed="rId3">
            <a:alphaModFix/>
          </a:blip>
          <a:srcRect/>
          <a:stretch/>
        </p:blipFill>
        <p:spPr>
          <a:xfrm>
            <a:off x="1222009" y="3209830"/>
            <a:ext cx="8836392" cy="972000"/>
          </a:xfrm>
          <a:prstGeom prst="rect">
            <a:avLst/>
          </a:prstGeom>
          <a:noFill/>
          <a:ln>
            <a:noFill/>
          </a:ln>
        </p:spPr>
      </p:pic>
      <p:sp>
        <p:nvSpPr>
          <p:cNvPr id="362" name="Google Shape;362;p17"/>
          <p:cNvSpPr txBox="1"/>
          <p:nvPr/>
        </p:nvSpPr>
        <p:spPr>
          <a:xfrm>
            <a:off x="1371600" y="4301696"/>
            <a:ext cx="91440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chemeClr val="dk1"/>
                </a:solidFill>
                <a:latin typeface="Calibri"/>
                <a:ea typeface="Calibri"/>
                <a:cs typeface="Calibri"/>
                <a:sym typeface="Calibri"/>
              </a:rPr>
              <a:t>   -J phi :  from  -J log(tau)</a:t>
            </a:r>
            <a:endParaRPr sz="1900">
              <a:solidFill>
                <a:schemeClr val="dk1"/>
              </a:solidFill>
            </a:endParaRPr>
          </a:p>
        </p:txBody>
      </p:sp>
      <p:sp>
        <p:nvSpPr>
          <p:cNvPr id="363" name="Google Shape;363;p17"/>
          <p:cNvSpPr txBox="1"/>
          <p:nvPr/>
        </p:nvSpPr>
        <p:spPr>
          <a:xfrm>
            <a:off x="1371600" y="4713176"/>
            <a:ext cx="91440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chemeClr val="dk1"/>
                </a:solidFill>
                <a:latin typeface="Calibri"/>
                <a:ea typeface="Calibri"/>
                <a:cs typeface="Calibri"/>
                <a:sym typeface="Calibri"/>
              </a:rPr>
              <a:t>   + phi :  Jacobian correction</a:t>
            </a:r>
            <a:endParaRPr sz="1900">
              <a:solidFill>
                <a:schemeClr val="dk1"/>
              </a:solidFill>
            </a:endParaRPr>
          </a:p>
        </p:txBody>
      </p:sp>
      <p:sp>
        <p:nvSpPr>
          <p:cNvPr id="364" name="Google Shape;364;p17"/>
          <p:cNvSpPr txBox="1"/>
          <p:nvPr/>
        </p:nvSpPr>
        <p:spPr>
          <a:xfrm>
            <a:off x="1371600" y="5124656"/>
            <a:ext cx="91440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chemeClr val="dk1"/>
                </a:solidFill>
                <a:latin typeface="Calibri"/>
                <a:ea typeface="Calibri"/>
                <a:cs typeface="Calibri"/>
                <a:sym typeface="Calibri"/>
              </a:rPr>
              <a:t>   exp(-2 phi) :  tau^{-2}  in random-effect variance</a:t>
            </a:r>
            <a:endParaRPr sz="1900">
              <a:solidFill>
                <a:schemeClr val="dk1"/>
              </a:solidFill>
            </a:endParaRPr>
          </a:p>
        </p:txBody>
      </p:sp>
      <p:sp>
        <p:nvSpPr>
          <p:cNvPr id="365" name="Google Shape;365;p17"/>
          <p:cNvSpPr txBox="1"/>
          <p:nvPr/>
        </p:nvSpPr>
        <p:spPr>
          <a:xfrm>
            <a:off x="1371600" y="5536136"/>
            <a:ext cx="91440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chemeClr val="dk1"/>
                </a:solidFill>
                <a:latin typeface="Calibri"/>
                <a:ea typeface="Calibri"/>
                <a:cs typeface="Calibri"/>
                <a:sym typeface="Calibri"/>
              </a:rPr>
              <a:t>   Does NOT involve the likelihood  --&gt;  O(J) cost per update</a:t>
            </a:r>
            <a:endParaRPr sz="19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0"/>
        <p:cNvGrpSpPr/>
        <p:nvPr/>
      </p:nvGrpSpPr>
      <p:grpSpPr>
        <a:xfrm>
          <a:off x="0" y="0"/>
          <a:ext cx="0" cy="0"/>
          <a:chOff x="0" y="0"/>
          <a:chExt cx="0" cy="0"/>
        </a:xfrm>
      </p:grpSpPr>
      <p:sp>
        <p:nvSpPr>
          <p:cNvPr id="371" name="Google Shape;371;g3d18d3d8234_1_205"/>
          <p:cNvSpPr/>
          <p:nvPr/>
        </p:nvSpPr>
        <p:spPr>
          <a:xfrm>
            <a:off x="0" y="0"/>
            <a:ext cx="12191700" cy="1036500"/>
          </a:xfrm>
          <a:prstGeom prst="rect">
            <a:avLst/>
          </a:prstGeom>
          <a:solidFill>
            <a:srgbClr val="1B3A5C"/>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72" name="Google Shape;372;g3d18d3d8234_1_205"/>
          <p:cNvSpPr/>
          <p:nvPr/>
        </p:nvSpPr>
        <p:spPr>
          <a:xfrm>
            <a:off x="609584" y="121920"/>
            <a:ext cx="10972500" cy="792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200"/>
              <a:buFont typeface="Calibri"/>
              <a:buNone/>
            </a:pPr>
            <a:r>
              <a:rPr lang="en-US" sz="2800" b="1">
                <a:solidFill>
                  <a:srgbClr val="FFFFFF"/>
                </a:solidFill>
                <a:latin typeface="Calibri"/>
                <a:ea typeface="Calibri"/>
                <a:cs typeface="Calibri"/>
                <a:sym typeface="Calibri"/>
              </a:rPr>
              <a:t>Reparameterization:  φ = log(τ)  — Derivation</a:t>
            </a:r>
            <a:endParaRPr sz="2800" b="1">
              <a:solidFill>
                <a:srgbClr val="FFFFFF"/>
              </a:solidFill>
              <a:latin typeface="Calibri"/>
              <a:ea typeface="Calibri"/>
              <a:cs typeface="Calibri"/>
              <a:sym typeface="Calibri"/>
            </a:endParaRPr>
          </a:p>
        </p:txBody>
      </p:sp>
      <p:sp>
        <p:nvSpPr>
          <p:cNvPr id="373" name="Google Shape;373;g3d18d3d8234_1_205"/>
          <p:cNvSpPr/>
          <p:nvPr/>
        </p:nvSpPr>
        <p:spPr>
          <a:xfrm>
            <a:off x="609584" y="1219200"/>
            <a:ext cx="48768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2000"/>
              <a:buFont typeface="Calibri"/>
              <a:buNone/>
            </a:pPr>
            <a:r>
              <a:rPr lang="en-US" sz="2000" b="1" i="0" u="none" strike="noStrike" cap="none">
                <a:solidFill>
                  <a:schemeClr val="dk2"/>
                </a:solidFill>
                <a:latin typeface="Calibri"/>
                <a:ea typeface="Calibri"/>
                <a:cs typeface="Calibri"/>
                <a:sym typeface="Calibri"/>
              </a:rPr>
              <a:t>Why reparameterize?</a:t>
            </a:r>
            <a:endParaRPr sz="2000" b="0" i="0" u="none" strike="noStrike" cap="none">
              <a:solidFill>
                <a:schemeClr val="dk2"/>
              </a:solidFill>
              <a:latin typeface="Calibri"/>
              <a:ea typeface="Calibri"/>
              <a:cs typeface="Calibri"/>
              <a:sym typeface="Calibri"/>
            </a:endParaRPr>
          </a:p>
        </p:txBody>
      </p:sp>
      <p:sp>
        <p:nvSpPr>
          <p:cNvPr id="374" name="Google Shape;374;g3d18d3d8234_1_205"/>
          <p:cNvSpPr/>
          <p:nvPr/>
        </p:nvSpPr>
        <p:spPr>
          <a:xfrm>
            <a:off x="609584" y="1645920"/>
            <a:ext cx="10972500" cy="426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600"/>
              <a:buFont typeface="Calibri"/>
              <a:buNone/>
            </a:pPr>
            <a:r>
              <a:rPr lang="en-US" sz="1900" b="0" i="0" u="none" strike="noStrike" cap="none">
                <a:solidFill>
                  <a:srgbClr val="1E293B"/>
                </a:solidFill>
                <a:latin typeface="Calibri"/>
                <a:ea typeface="Calibri"/>
                <a:cs typeface="Calibri"/>
                <a:sym typeface="Calibri"/>
              </a:rPr>
              <a:t>τ &gt; 0 constraint makes random-walk MH inefficient near boundary (proposals τ* &lt; 0 wasted).  φ = log(τ) maps to unconstrained ℝ.</a:t>
            </a:r>
            <a:endParaRPr sz="1900" b="0" i="0" u="none" strike="noStrike" cap="none">
              <a:solidFill>
                <a:schemeClr val="dk1"/>
              </a:solidFill>
              <a:latin typeface="Calibri"/>
              <a:ea typeface="Calibri"/>
              <a:cs typeface="Calibri"/>
              <a:sym typeface="Calibri"/>
            </a:endParaRPr>
          </a:p>
        </p:txBody>
      </p:sp>
      <p:sp>
        <p:nvSpPr>
          <p:cNvPr id="375" name="Google Shape;375;g3d18d3d8234_1_205"/>
          <p:cNvSpPr/>
          <p:nvPr/>
        </p:nvSpPr>
        <p:spPr>
          <a:xfrm>
            <a:off x="609584" y="2255520"/>
            <a:ext cx="10972500" cy="4206300"/>
          </a:xfrm>
          <a:prstGeom prst="rect">
            <a:avLst/>
          </a:prstGeom>
          <a:solidFill>
            <a:srgbClr val="FAFAFA"/>
          </a:solidFill>
          <a:ln w="12700" cap="flat" cmpd="sng">
            <a:solidFill>
              <a:srgbClr val="E0E0E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76" name="Google Shape;376;g3d18d3d8234_1_205"/>
          <p:cNvSpPr/>
          <p:nvPr/>
        </p:nvSpPr>
        <p:spPr>
          <a:xfrm>
            <a:off x="853417" y="2316480"/>
            <a:ext cx="42672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700"/>
              <a:buFont typeface="Calibri"/>
              <a:buNone/>
            </a:pPr>
            <a:r>
              <a:rPr lang="en-US" sz="1900" b="1" i="0" u="none" strike="noStrike" cap="none">
                <a:solidFill>
                  <a:srgbClr val="1E293B"/>
                </a:solidFill>
                <a:latin typeface="Calibri"/>
                <a:ea typeface="Calibri"/>
                <a:cs typeface="Calibri"/>
                <a:sym typeface="Calibri"/>
              </a:rPr>
              <a:t>Step 1.  Change of variable:</a:t>
            </a:r>
            <a:endParaRPr sz="1900" b="0" i="0" u="none" strike="noStrike" cap="none">
              <a:solidFill>
                <a:schemeClr val="dk1"/>
              </a:solidFill>
              <a:latin typeface="Calibri"/>
              <a:ea typeface="Calibri"/>
              <a:cs typeface="Calibri"/>
              <a:sym typeface="Calibri"/>
            </a:endParaRPr>
          </a:p>
        </p:txBody>
      </p:sp>
      <p:pic>
        <p:nvPicPr>
          <p:cNvPr id="377" name="Google Shape;377;g3d18d3d8234_1_205" descr="/home/claude/latex_eqs/step1.png"/>
          <p:cNvPicPr preferRelativeResize="0"/>
          <p:nvPr/>
        </p:nvPicPr>
        <p:blipFill rotWithShape="1">
          <a:blip r:embed="rId3">
            <a:alphaModFix/>
          </a:blip>
          <a:srcRect/>
          <a:stretch/>
        </p:blipFill>
        <p:spPr>
          <a:xfrm>
            <a:off x="3801570" y="2230797"/>
            <a:ext cx="1828750" cy="512403"/>
          </a:xfrm>
          <a:prstGeom prst="rect">
            <a:avLst/>
          </a:prstGeom>
          <a:noFill/>
          <a:ln>
            <a:noFill/>
          </a:ln>
        </p:spPr>
      </p:pic>
      <p:sp>
        <p:nvSpPr>
          <p:cNvPr id="378" name="Google Shape;378;g3d18d3d8234_1_205"/>
          <p:cNvSpPr/>
          <p:nvPr/>
        </p:nvSpPr>
        <p:spPr>
          <a:xfrm>
            <a:off x="853417" y="2804160"/>
            <a:ext cx="3048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700"/>
              <a:buFont typeface="Calibri"/>
              <a:buNone/>
            </a:pPr>
            <a:r>
              <a:rPr lang="en-US" sz="1900" b="1" i="0" u="none" strike="noStrike" cap="none">
                <a:solidFill>
                  <a:srgbClr val="1E293B"/>
                </a:solidFill>
                <a:latin typeface="Calibri"/>
                <a:ea typeface="Calibri"/>
                <a:cs typeface="Calibri"/>
                <a:sym typeface="Calibri"/>
              </a:rPr>
              <a:t>Step 2.  Jacobian:</a:t>
            </a:r>
            <a:endParaRPr sz="1900" b="0" i="0" u="none" strike="noStrike" cap="none">
              <a:solidFill>
                <a:schemeClr val="dk1"/>
              </a:solidFill>
              <a:latin typeface="Calibri"/>
              <a:ea typeface="Calibri"/>
              <a:cs typeface="Calibri"/>
              <a:sym typeface="Calibri"/>
            </a:endParaRPr>
          </a:p>
        </p:txBody>
      </p:sp>
      <p:pic>
        <p:nvPicPr>
          <p:cNvPr id="379" name="Google Shape;379;g3d18d3d8234_1_205" descr="/home/claude/latex_eqs/step2.png"/>
          <p:cNvPicPr preferRelativeResize="0"/>
          <p:nvPr/>
        </p:nvPicPr>
        <p:blipFill rotWithShape="1">
          <a:blip r:embed="rId4">
            <a:alphaModFix/>
          </a:blip>
          <a:srcRect/>
          <a:stretch/>
        </p:blipFill>
        <p:spPr>
          <a:xfrm>
            <a:off x="1435300" y="2629224"/>
            <a:ext cx="6705425" cy="786878"/>
          </a:xfrm>
          <a:prstGeom prst="rect">
            <a:avLst/>
          </a:prstGeom>
          <a:noFill/>
          <a:ln>
            <a:noFill/>
          </a:ln>
        </p:spPr>
      </p:pic>
      <p:sp>
        <p:nvSpPr>
          <p:cNvPr id="380" name="Google Shape;380;g3d18d3d8234_1_205"/>
          <p:cNvSpPr/>
          <p:nvPr/>
        </p:nvSpPr>
        <p:spPr>
          <a:xfrm>
            <a:off x="853417" y="3294517"/>
            <a:ext cx="97533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700"/>
              <a:buFont typeface="Calibri"/>
              <a:buNone/>
            </a:pPr>
            <a:r>
              <a:rPr lang="en-US" sz="1900" b="1" i="0" u="none" strike="noStrike" cap="none">
                <a:solidFill>
                  <a:srgbClr val="1E293B"/>
                </a:solidFill>
                <a:latin typeface="Calibri"/>
                <a:ea typeface="Calibri"/>
                <a:cs typeface="Calibri"/>
                <a:sym typeface="Calibri"/>
              </a:rPr>
              <a:t>Step 3.  Substitute into terms (IV) + (V) of the log-posterior:</a:t>
            </a:r>
            <a:endParaRPr sz="1900" b="0" i="0" u="none" strike="noStrike" cap="none">
              <a:solidFill>
                <a:schemeClr val="dk1"/>
              </a:solidFill>
              <a:latin typeface="Calibri"/>
              <a:ea typeface="Calibri"/>
              <a:cs typeface="Calibri"/>
              <a:sym typeface="Calibri"/>
            </a:endParaRPr>
          </a:p>
        </p:txBody>
      </p:sp>
      <p:pic>
        <p:nvPicPr>
          <p:cNvPr id="381" name="Google Shape;381;g3d18d3d8234_1_205" descr="/home/claude/latex_eqs/iv_orig.png"/>
          <p:cNvPicPr preferRelativeResize="0"/>
          <p:nvPr/>
        </p:nvPicPr>
        <p:blipFill rotWithShape="1">
          <a:blip r:embed="rId5">
            <a:alphaModFix/>
          </a:blip>
          <a:srcRect/>
          <a:stretch/>
        </p:blipFill>
        <p:spPr>
          <a:xfrm>
            <a:off x="1219300" y="3671800"/>
            <a:ext cx="5764171" cy="751794"/>
          </a:xfrm>
          <a:prstGeom prst="rect">
            <a:avLst/>
          </a:prstGeom>
          <a:noFill/>
          <a:ln>
            <a:noFill/>
          </a:ln>
        </p:spPr>
      </p:pic>
      <p:pic>
        <p:nvPicPr>
          <p:cNvPr id="382" name="Google Shape;382;g3d18d3d8234_1_205" descr="/home/claude/latex_eqs/iv_sub.png"/>
          <p:cNvPicPr preferRelativeResize="0"/>
          <p:nvPr/>
        </p:nvPicPr>
        <p:blipFill rotWithShape="1">
          <a:blip r:embed="rId6">
            <a:alphaModFix/>
          </a:blip>
          <a:srcRect/>
          <a:stretch/>
        </p:blipFill>
        <p:spPr>
          <a:xfrm>
            <a:off x="3532917" y="3674112"/>
            <a:ext cx="5611945" cy="751789"/>
          </a:xfrm>
          <a:prstGeom prst="rect">
            <a:avLst/>
          </a:prstGeom>
          <a:noFill/>
          <a:ln>
            <a:noFill/>
          </a:ln>
        </p:spPr>
      </p:pic>
      <p:pic>
        <p:nvPicPr>
          <p:cNvPr id="383" name="Google Shape;383;g3d18d3d8234_1_205" descr="/home/claude/latex_eqs/v_sub.png"/>
          <p:cNvPicPr preferRelativeResize="0"/>
          <p:nvPr/>
        </p:nvPicPr>
        <p:blipFill rotWithShape="1">
          <a:blip r:embed="rId7">
            <a:alphaModFix/>
          </a:blip>
          <a:srcRect/>
          <a:stretch/>
        </p:blipFill>
        <p:spPr>
          <a:xfrm>
            <a:off x="1219175" y="4404385"/>
            <a:ext cx="4913755" cy="870740"/>
          </a:xfrm>
          <a:prstGeom prst="rect">
            <a:avLst/>
          </a:prstGeom>
          <a:noFill/>
          <a:ln>
            <a:noFill/>
          </a:ln>
        </p:spPr>
      </p:pic>
      <p:sp>
        <p:nvSpPr>
          <p:cNvPr id="384" name="Google Shape;384;g3d18d3d8234_1_205"/>
          <p:cNvSpPr/>
          <p:nvPr/>
        </p:nvSpPr>
        <p:spPr>
          <a:xfrm>
            <a:off x="853417" y="5199978"/>
            <a:ext cx="6095700" cy="304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700"/>
              <a:buFont typeface="Calibri"/>
              <a:buNone/>
            </a:pPr>
            <a:r>
              <a:rPr lang="en-US" sz="1900" b="1" i="0" u="none" strike="noStrike" cap="none">
                <a:solidFill>
                  <a:srgbClr val="1E293B"/>
                </a:solidFill>
                <a:latin typeface="Calibri"/>
                <a:ea typeface="Calibri"/>
                <a:cs typeface="Calibri"/>
                <a:sym typeface="Calibri"/>
              </a:rPr>
              <a:t>Step 4.  Combine (IV) + (V) + Jacobian:</a:t>
            </a:r>
            <a:endParaRPr sz="1900" b="0" i="0" u="none" strike="noStrike" cap="none">
              <a:solidFill>
                <a:schemeClr val="dk1"/>
              </a:solidFill>
              <a:latin typeface="Calibri"/>
              <a:ea typeface="Calibri"/>
              <a:cs typeface="Calibri"/>
              <a:sym typeface="Calibri"/>
            </a:endParaRPr>
          </a:p>
        </p:txBody>
      </p:sp>
      <p:pic>
        <p:nvPicPr>
          <p:cNvPr id="385" name="Google Shape;385;g3d18d3d8234_1_205" descr="/home/claude/latex_eqs/reparam_final.png"/>
          <p:cNvPicPr preferRelativeResize="0"/>
          <p:nvPr/>
        </p:nvPicPr>
        <p:blipFill rotWithShape="1">
          <a:blip r:embed="rId8">
            <a:alphaModFix/>
          </a:blip>
          <a:srcRect/>
          <a:stretch/>
        </p:blipFill>
        <p:spPr>
          <a:xfrm>
            <a:off x="2284316" y="5572897"/>
            <a:ext cx="7819778" cy="751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18"/>
          <p:cNvSpPr/>
          <p:nvPr/>
        </p:nvSpPr>
        <p:spPr>
          <a:xfrm>
            <a:off x="0" y="0"/>
            <a:ext cx="12191695" cy="6858000"/>
          </a:xfrm>
          <a:prstGeom prst="rect">
            <a:avLst/>
          </a:prstGeom>
          <a:solidFill>
            <a:srgbClr val="233D6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1" name="Google Shape;391;p18"/>
          <p:cNvSpPr/>
          <p:nvPr/>
        </p:nvSpPr>
        <p:spPr>
          <a:xfrm>
            <a:off x="1371600" y="2834640"/>
            <a:ext cx="1828800" cy="54864"/>
          </a:xfrm>
          <a:prstGeom prst="rect">
            <a:avLst/>
          </a:prstGeom>
          <a:solidFill>
            <a:srgbClr val="3A7CA5"/>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2" name="Google Shape;392;p18"/>
          <p:cNvSpPr txBox="1"/>
          <p:nvPr/>
        </p:nvSpPr>
        <p:spPr>
          <a:xfrm>
            <a:off x="1371600" y="3108960"/>
            <a:ext cx="9144000" cy="109728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600" b="1" i="0" u="none" strike="noStrike" cap="none">
                <a:solidFill>
                  <a:srgbClr val="FFFFFF"/>
                </a:solidFill>
                <a:latin typeface="Calibri"/>
                <a:ea typeface="Calibri"/>
                <a:cs typeface="Calibri"/>
                <a:sym typeface="Calibri"/>
              </a:rPr>
              <a:t>Part 5</a:t>
            </a:r>
            <a:endParaRPr/>
          </a:p>
        </p:txBody>
      </p:sp>
      <p:sp>
        <p:nvSpPr>
          <p:cNvPr id="393" name="Google Shape;393;p18"/>
          <p:cNvSpPr txBox="1"/>
          <p:nvPr/>
        </p:nvSpPr>
        <p:spPr>
          <a:xfrm>
            <a:off x="1371600" y="4023360"/>
            <a:ext cx="91440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000" b="0" i="0" u="none" strike="noStrike" cap="none">
                <a:solidFill>
                  <a:srgbClr val="3A7CA5"/>
                </a:solidFill>
                <a:latin typeface="Calibri"/>
                <a:ea typeface="Calibri"/>
                <a:cs typeface="Calibri"/>
                <a:sym typeface="Calibri"/>
              </a:rPr>
              <a:t>Sampling Strategy</a:t>
            </a:r>
            <a:endParaRPr sz="3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19"/>
          <p:cNvSpPr/>
          <p:nvPr/>
        </p:nvSpPr>
        <p:spPr>
          <a:xfrm>
            <a:off x="0" y="0"/>
            <a:ext cx="12191695" cy="1005840"/>
          </a:xfrm>
          <a:prstGeom prst="rect">
            <a:avLst/>
          </a:prstGeom>
          <a:solidFill>
            <a:srgbClr val="1B2A4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9" name="Google Shape;399;p19"/>
          <p:cNvSpPr txBox="1"/>
          <p:nvPr/>
        </p:nvSpPr>
        <p:spPr>
          <a:xfrm>
            <a:off x="548640" y="137160"/>
            <a:ext cx="109728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Metropolis-within-Gibbs:  Block Structure</a:t>
            </a:r>
            <a:endParaRPr/>
          </a:p>
        </p:txBody>
      </p:sp>
      <p:sp>
        <p:nvSpPr>
          <p:cNvPr id="400" name="Google Shape;400;p19"/>
          <p:cNvSpPr/>
          <p:nvPr/>
        </p:nvSpPr>
        <p:spPr>
          <a:xfrm>
            <a:off x="1185438" y="1515550"/>
            <a:ext cx="9820800" cy="785100"/>
          </a:xfrm>
          <a:prstGeom prst="roundRect">
            <a:avLst>
              <a:gd name="adj" fmla="val 16667"/>
            </a:avLst>
          </a:prstGeom>
          <a:solidFill>
            <a:srgbClr val="F5F7FA"/>
          </a:solidFill>
          <a:ln w="12700" cap="flat" cmpd="sng">
            <a:solidFill>
              <a:srgbClr val="3A7CA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900" b="0" i="0" u="none" strike="noStrike" cap="none">
              <a:solidFill>
                <a:schemeClr val="dk1"/>
              </a:solidFill>
              <a:latin typeface="Calibri"/>
              <a:ea typeface="Calibri"/>
              <a:cs typeface="Calibri"/>
              <a:sym typeface="Calibri"/>
            </a:endParaRPr>
          </a:p>
        </p:txBody>
      </p:sp>
      <p:sp>
        <p:nvSpPr>
          <p:cNvPr id="401" name="Google Shape;401;p19"/>
          <p:cNvSpPr txBox="1"/>
          <p:nvPr/>
        </p:nvSpPr>
        <p:spPr>
          <a:xfrm>
            <a:off x="1430950" y="1556870"/>
            <a:ext cx="40917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233D6B"/>
                </a:solidFill>
                <a:latin typeface="Calibri"/>
                <a:ea typeface="Calibri"/>
                <a:cs typeface="Calibri"/>
                <a:sym typeface="Calibri"/>
              </a:rPr>
              <a:t>Block 1:  alpha</a:t>
            </a:r>
            <a:endParaRPr sz="1900"/>
          </a:p>
        </p:txBody>
      </p:sp>
      <p:sp>
        <p:nvSpPr>
          <p:cNvPr id="402" name="Google Shape;402;p19"/>
          <p:cNvSpPr txBox="1"/>
          <p:nvPr/>
        </p:nvSpPr>
        <p:spPr>
          <a:xfrm>
            <a:off x="1430950" y="1887432"/>
            <a:ext cx="73656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666666"/>
                </a:solidFill>
                <a:latin typeface="Calibri"/>
                <a:ea typeface="Calibri"/>
                <a:cs typeface="Calibri"/>
                <a:sym typeface="Calibri"/>
              </a:rPr>
              <a:t>Symmetric random walk;  incremental update  delta_eta = alpha* - alpha</a:t>
            </a:r>
            <a:endParaRPr sz="1900"/>
          </a:p>
        </p:txBody>
      </p:sp>
      <p:sp>
        <p:nvSpPr>
          <p:cNvPr id="403" name="Google Shape;403;p19"/>
          <p:cNvSpPr txBox="1"/>
          <p:nvPr/>
        </p:nvSpPr>
        <p:spPr>
          <a:xfrm>
            <a:off x="9287356" y="1722151"/>
            <a:ext cx="1636800" cy="384900"/>
          </a:xfrm>
          <a:prstGeom prst="rect">
            <a:avLst/>
          </a:prstGeom>
          <a:noFill/>
          <a:ln>
            <a:noFill/>
          </a:ln>
        </p:spPr>
        <p:txBody>
          <a:bodyPr spcFirstLastPara="1" wrap="square" lIns="91425" tIns="45700" rIns="91425" bIns="45700" anchor="t" anchorCtr="0">
            <a:spAutoFit/>
          </a:bodyPr>
          <a:lstStyle/>
          <a:p>
            <a:pPr marL="0" marR="0" lvl="0" indent="0" algn="ctr" rtl="0">
              <a:lnSpc>
                <a:spcPct val="130000"/>
              </a:lnSpc>
              <a:spcBef>
                <a:spcPts val="0"/>
              </a:spcBef>
              <a:spcAft>
                <a:spcPts val="0"/>
              </a:spcAft>
              <a:buNone/>
            </a:pPr>
            <a:r>
              <a:rPr lang="en-US" sz="1900" b="1" i="0" u="none" strike="noStrike" cap="none">
                <a:solidFill>
                  <a:srgbClr val="3A7CA5"/>
                </a:solidFill>
                <a:latin typeface="Calibri"/>
                <a:ea typeface="Calibri"/>
                <a:cs typeface="Calibri"/>
                <a:sym typeface="Calibri"/>
              </a:rPr>
              <a:t>O(N)</a:t>
            </a:r>
            <a:endParaRPr sz="1900"/>
          </a:p>
        </p:txBody>
      </p:sp>
      <p:sp>
        <p:nvSpPr>
          <p:cNvPr id="404" name="Google Shape;404;p19"/>
          <p:cNvSpPr/>
          <p:nvPr/>
        </p:nvSpPr>
        <p:spPr>
          <a:xfrm>
            <a:off x="1185438" y="2424595"/>
            <a:ext cx="9820800" cy="785100"/>
          </a:xfrm>
          <a:prstGeom prst="roundRect">
            <a:avLst>
              <a:gd name="adj" fmla="val 16667"/>
            </a:avLst>
          </a:prstGeom>
          <a:solidFill>
            <a:srgbClr val="F5F7FA"/>
          </a:solidFill>
          <a:ln w="12700" cap="flat" cmpd="sng">
            <a:solidFill>
              <a:srgbClr val="3A7CA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900" b="0" i="0" u="none" strike="noStrike" cap="none">
              <a:solidFill>
                <a:schemeClr val="dk1"/>
              </a:solidFill>
              <a:latin typeface="Calibri"/>
              <a:ea typeface="Calibri"/>
              <a:cs typeface="Calibri"/>
              <a:sym typeface="Calibri"/>
            </a:endParaRPr>
          </a:p>
        </p:txBody>
      </p:sp>
      <p:sp>
        <p:nvSpPr>
          <p:cNvPr id="405" name="Google Shape;405;p19"/>
          <p:cNvSpPr txBox="1"/>
          <p:nvPr/>
        </p:nvSpPr>
        <p:spPr>
          <a:xfrm>
            <a:off x="1430950" y="2465915"/>
            <a:ext cx="40917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233D6B"/>
                </a:solidFill>
                <a:latin typeface="Calibri"/>
                <a:ea typeface="Calibri"/>
                <a:cs typeface="Calibri"/>
                <a:sym typeface="Calibri"/>
              </a:rPr>
              <a:t>Block 2:  beta_k  (k = 1..43)</a:t>
            </a:r>
            <a:endParaRPr sz="1900"/>
          </a:p>
        </p:txBody>
      </p:sp>
      <p:sp>
        <p:nvSpPr>
          <p:cNvPr id="406" name="Google Shape;406;p19"/>
          <p:cNvSpPr txBox="1"/>
          <p:nvPr/>
        </p:nvSpPr>
        <p:spPr>
          <a:xfrm>
            <a:off x="1430950" y="2796477"/>
            <a:ext cx="73656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666666"/>
                </a:solidFill>
                <a:latin typeface="Calibri"/>
                <a:ea typeface="Calibri"/>
                <a:cs typeface="Calibri"/>
                <a:sym typeface="Calibri"/>
              </a:rPr>
              <a:t>Component-wise update;  delta_eta = (beta_k* - beta_k) * X[:,k]</a:t>
            </a:r>
            <a:endParaRPr sz="1900"/>
          </a:p>
        </p:txBody>
      </p:sp>
      <p:sp>
        <p:nvSpPr>
          <p:cNvPr id="407" name="Google Shape;407;p19"/>
          <p:cNvSpPr txBox="1"/>
          <p:nvPr/>
        </p:nvSpPr>
        <p:spPr>
          <a:xfrm>
            <a:off x="9287356" y="2631196"/>
            <a:ext cx="1636800" cy="384900"/>
          </a:xfrm>
          <a:prstGeom prst="rect">
            <a:avLst/>
          </a:prstGeom>
          <a:noFill/>
          <a:ln>
            <a:noFill/>
          </a:ln>
        </p:spPr>
        <p:txBody>
          <a:bodyPr spcFirstLastPara="1" wrap="square" lIns="91425" tIns="45700" rIns="91425" bIns="45700" anchor="t" anchorCtr="0">
            <a:spAutoFit/>
          </a:bodyPr>
          <a:lstStyle/>
          <a:p>
            <a:pPr marL="0" marR="0" lvl="0" indent="0" algn="ctr" rtl="0">
              <a:lnSpc>
                <a:spcPct val="130000"/>
              </a:lnSpc>
              <a:spcBef>
                <a:spcPts val="0"/>
              </a:spcBef>
              <a:spcAft>
                <a:spcPts val="0"/>
              </a:spcAft>
              <a:buNone/>
            </a:pPr>
            <a:r>
              <a:rPr lang="en-US" sz="1900" b="1" i="0" u="none" strike="noStrike" cap="none">
                <a:solidFill>
                  <a:srgbClr val="3A7CA5"/>
                </a:solidFill>
                <a:latin typeface="Calibri"/>
                <a:ea typeface="Calibri"/>
                <a:cs typeface="Calibri"/>
                <a:sym typeface="Calibri"/>
              </a:rPr>
              <a:t>O(N) each</a:t>
            </a:r>
            <a:endParaRPr sz="1900"/>
          </a:p>
        </p:txBody>
      </p:sp>
      <p:sp>
        <p:nvSpPr>
          <p:cNvPr id="408" name="Google Shape;408;p19"/>
          <p:cNvSpPr/>
          <p:nvPr/>
        </p:nvSpPr>
        <p:spPr>
          <a:xfrm>
            <a:off x="1185438" y="3333640"/>
            <a:ext cx="9820800" cy="785100"/>
          </a:xfrm>
          <a:prstGeom prst="roundRect">
            <a:avLst>
              <a:gd name="adj" fmla="val 16667"/>
            </a:avLst>
          </a:prstGeom>
          <a:solidFill>
            <a:srgbClr val="F5F7FA"/>
          </a:solidFill>
          <a:ln w="12700" cap="flat" cmpd="sng">
            <a:solidFill>
              <a:srgbClr val="3A7CA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900" b="0" i="0" u="none" strike="noStrike" cap="none">
              <a:solidFill>
                <a:schemeClr val="dk1"/>
              </a:solidFill>
              <a:latin typeface="Calibri"/>
              <a:ea typeface="Calibri"/>
              <a:cs typeface="Calibri"/>
              <a:sym typeface="Calibri"/>
            </a:endParaRPr>
          </a:p>
        </p:txBody>
      </p:sp>
      <p:sp>
        <p:nvSpPr>
          <p:cNvPr id="409" name="Google Shape;409;p19"/>
          <p:cNvSpPr txBox="1"/>
          <p:nvPr/>
        </p:nvSpPr>
        <p:spPr>
          <a:xfrm>
            <a:off x="1430950" y="3374960"/>
            <a:ext cx="40917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233D6B"/>
                </a:solidFill>
                <a:latin typeface="Calibri"/>
                <a:ea typeface="Calibri"/>
                <a:cs typeface="Calibri"/>
                <a:sym typeface="Calibri"/>
              </a:rPr>
              <a:t>Block 3:  u_j  (j = 1..19)</a:t>
            </a:r>
            <a:endParaRPr sz="1900"/>
          </a:p>
        </p:txBody>
      </p:sp>
      <p:sp>
        <p:nvSpPr>
          <p:cNvPr id="410" name="Google Shape;410;p19"/>
          <p:cNvSpPr txBox="1"/>
          <p:nvPr/>
        </p:nvSpPr>
        <p:spPr>
          <a:xfrm>
            <a:off x="1430950" y="3705522"/>
            <a:ext cx="73656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666666"/>
                </a:solidFill>
                <a:latin typeface="Calibri"/>
                <a:ea typeface="Calibri"/>
                <a:cs typeface="Calibri"/>
                <a:sym typeface="Calibri"/>
              </a:rPr>
              <a:t>Component-wise;  likelihood uses only group-j observations (n_j &lt;&lt; N)</a:t>
            </a:r>
            <a:endParaRPr sz="1900"/>
          </a:p>
        </p:txBody>
      </p:sp>
      <p:sp>
        <p:nvSpPr>
          <p:cNvPr id="411" name="Google Shape;411;p19"/>
          <p:cNvSpPr txBox="1"/>
          <p:nvPr/>
        </p:nvSpPr>
        <p:spPr>
          <a:xfrm>
            <a:off x="9287356" y="3540241"/>
            <a:ext cx="1636800" cy="384900"/>
          </a:xfrm>
          <a:prstGeom prst="rect">
            <a:avLst/>
          </a:prstGeom>
          <a:noFill/>
          <a:ln>
            <a:noFill/>
          </a:ln>
        </p:spPr>
        <p:txBody>
          <a:bodyPr spcFirstLastPara="1" wrap="square" lIns="91425" tIns="45700" rIns="91425" bIns="45700" anchor="t" anchorCtr="0">
            <a:spAutoFit/>
          </a:bodyPr>
          <a:lstStyle/>
          <a:p>
            <a:pPr marL="0" marR="0" lvl="0" indent="0" algn="ctr" rtl="0">
              <a:lnSpc>
                <a:spcPct val="130000"/>
              </a:lnSpc>
              <a:spcBef>
                <a:spcPts val="0"/>
              </a:spcBef>
              <a:spcAft>
                <a:spcPts val="0"/>
              </a:spcAft>
              <a:buNone/>
            </a:pPr>
            <a:r>
              <a:rPr lang="en-US" sz="1900" b="1" i="0" u="none" strike="noStrike" cap="none">
                <a:solidFill>
                  <a:srgbClr val="3A7CA5"/>
                </a:solidFill>
                <a:latin typeface="Calibri"/>
                <a:ea typeface="Calibri"/>
                <a:cs typeface="Calibri"/>
                <a:sym typeface="Calibri"/>
              </a:rPr>
              <a:t>O(n_j) each</a:t>
            </a:r>
            <a:endParaRPr sz="1900"/>
          </a:p>
        </p:txBody>
      </p:sp>
      <p:sp>
        <p:nvSpPr>
          <p:cNvPr id="412" name="Google Shape;412;p19"/>
          <p:cNvSpPr/>
          <p:nvPr/>
        </p:nvSpPr>
        <p:spPr>
          <a:xfrm>
            <a:off x="1185438" y="4242685"/>
            <a:ext cx="9820800" cy="785100"/>
          </a:xfrm>
          <a:prstGeom prst="roundRect">
            <a:avLst>
              <a:gd name="adj" fmla="val 16667"/>
            </a:avLst>
          </a:prstGeom>
          <a:solidFill>
            <a:srgbClr val="F5F7FA"/>
          </a:solidFill>
          <a:ln w="12700" cap="flat" cmpd="sng">
            <a:solidFill>
              <a:srgbClr val="3A7CA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900" b="0" i="0" u="none" strike="noStrike" cap="none">
              <a:solidFill>
                <a:schemeClr val="dk1"/>
              </a:solidFill>
              <a:latin typeface="Calibri"/>
              <a:ea typeface="Calibri"/>
              <a:cs typeface="Calibri"/>
              <a:sym typeface="Calibri"/>
            </a:endParaRPr>
          </a:p>
        </p:txBody>
      </p:sp>
      <p:sp>
        <p:nvSpPr>
          <p:cNvPr id="413" name="Google Shape;413;p19"/>
          <p:cNvSpPr txBox="1"/>
          <p:nvPr/>
        </p:nvSpPr>
        <p:spPr>
          <a:xfrm>
            <a:off x="1430950" y="4284005"/>
            <a:ext cx="40917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233D6B"/>
                </a:solidFill>
                <a:latin typeface="Calibri"/>
                <a:ea typeface="Calibri"/>
                <a:cs typeface="Calibri"/>
                <a:sym typeface="Calibri"/>
              </a:rPr>
              <a:t>Block 4:  log(tau)</a:t>
            </a:r>
            <a:endParaRPr sz="1900"/>
          </a:p>
        </p:txBody>
      </p:sp>
      <p:sp>
        <p:nvSpPr>
          <p:cNvPr id="414" name="Google Shape;414;p19"/>
          <p:cNvSpPr txBox="1"/>
          <p:nvPr/>
        </p:nvSpPr>
        <p:spPr>
          <a:xfrm>
            <a:off x="1430950" y="4614566"/>
            <a:ext cx="73656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666666"/>
                </a:solidFill>
                <a:latin typeface="Calibri"/>
                <a:ea typeface="Calibri"/>
                <a:cs typeface="Calibri"/>
                <a:sym typeface="Calibri"/>
              </a:rPr>
              <a:t>Does not involve likelihood;  only depends on current u_j draws</a:t>
            </a:r>
            <a:endParaRPr sz="1900"/>
          </a:p>
        </p:txBody>
      </p:sp>
      <p:sp>
        <p:nvSpPr>
          <p:cNvPr id="415" name="Google Shape;415;p19"/>
          <p:cNvSpPr txBox="1"/>
          <p:nvPr/>
        </p:nvSpPr>
        <p:spPr>
          <a:xfrm>
            <a:off x="9287356" y="4449286"/>
            <a:ext cx="1636800" cy="384900"/>
          </a:xfrm>
          <a:prstGeom prst="rect">
            <a:avLst/>
          </a:prstGeom>
          <a:noFill/>
          <a:ln>
            <a:noFill/>
          </a:ln>
        </p:spPr>
        <p:txBody>
          <a:bodyPr spcFirstLastPara="1" wrap="square" lIns="91425" tIns="45700" rIns="91425" bIns="45700" anchor="t" anchorCtr="0">
            <a:spAutoFit/>
          </a:bodyPr>
          <a:lstStyle/>
          <a:p>
            <a:pPr marL="0" marR="0" lvl="0" indent="0" algn="ctr" rtl="0">
              <a:lnSpc>
                <a:spcPct val="130000"/>
              </a:lnSpc>
              <a:spcBef>
                <a:spcPts val="0"/>
              </a:spcBef>
              <a:spcAft>
                <a:spcPts val="0"/>
              </a:spcAft>
              <a:buNone/>
            </a:pPr>
            <a:r>
              <a:rPr lang="en-US" sz="1900" b="1" i="0" u="none" strike="noStrike" cap="none">
                <a:solidFill>
                  <a:srgbClr val="3A7CA5"/>
                </a:solidFill>
                <a:latin typeface="Calibri"/>
                <a:ea typeface="Calibri"/>
                <a:cs typeface="Calibri"/>
                <a:sym typeface="Calibri"/>
              </a:rPr>
              <a:t>O(J)</a:t>
            </a:r>
            <a:endParaRPr sz="1900"/>
          </a:p>
        </p:txBody>
      </p:sp>
      <p:sp>
        <p:nvSpPr>
          <p:cNvPr id="416" name="Google Shape;416;p19"/>
          <p:cNvSpPr/>
          <p:nvPr/>
        </p:nvSpPr>
        <p:spPr>
          <a:xfrm>
            <a:off x="1185438" y="5151729"/>
            <a:ext cx="9820800" cy="785100"/>
          </a:xfrm>
          <a:prstGeom prst="roundRect">
            <a:avLst>
              <a:gd name="adj" fmla="val 16667"/>
            </a:avLst>
          </a:prstGeom>
          <a:solidFill>
            <a:srgbClr val="F5F7FA"/>
          </a:solidFill>
          <a:ln w="12700" cap="flat" cmpd="sng">
            <a:solidFill>
              <a:srgbClr val="3A7CA5"/>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900" b="0" i="0" u="none" strike="noStrike" cap="none">
              <a:solidFill>
                <a:schemeClr val="dk1"/>
              </a:solidFill>
              <a:latin typeface="Calibri"/>
              <a:ea typeface="Calibri"/>
              <a:cs typeface="Calibri"/>
              <a:sym typeface="Calibri"/>
            </a:endParaRPr>
          </a:p>
        </p:txBody>
      </p:sp>
      <p:sp>
        <p:nvSpPr>
          <p:cNvPr id="417" name="Google Shape;417;p19"/>
          <p:cNvSpPr txBox="1"/>
          <p:nvPr/>
        </p:nvSpPr>
        <p:spPr>
          <a:xfrm>
            <a:off x="1430950" y="5193050"/>
            <a:ext cx="40917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233D6B"/>
                </a:solidFill>
                <a:latin typeface="Calibri"/>
                <a:ea typeface="Calibri"/>
                <a:cs typeface="Calibri"/>
                <a:sym typeface="Calibri"/>
              </a:rPr>
              <a:t>Block 5:  Translation Move</a:t>
            </a:r>
            <a:endParaRPr sz="1900"/>
          </a:p>
        </p:txBody>
      </p:sp>
      <p:sp>
        <p:nvSpPr>
          <p:cNvPr id="418" name="Google Shape;418;p19"/>
          <p:cNvSpPr txBox="1"/>
          <p:nvPr/>
        </p:nvSpPr>
        <p:spPr>
          <a:xfrm>
            <a:off x="1430950" y="5523611"/>
            <a:ext cx="73656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666666"/>
                </a:solidFill>
                <a:latin typeface="Calibri"/>
                <a:ea typeface="Calibri"/>
                <a:cs typeface="Calibri"/>
                <a:sym typeface="Calibri"/>
              </a:rPr>
              <a:t>Joint alpha-u update exploiting non-identifiability (see next slide)</a:t>
            </a:r>
            <a:endParaRPr sz="1900"/>
          </a:p>
        </p:txBody>
      </p:sp>
      <p:sp>
        <p:nvSpPr>
          <p:cNvPr id="419" name="Google Shape;419;p19"/>
          <p:cNvSpPr txBox="1"/>
          <p:nvPr/>
        </p:nvSpPr>
        <p:spPr>
          <a:xfrm>
            <a:off x="9287356" y="5358330"/>
            <a:ext cx="1636800" cy="384900"/>
          </a:xfrm>
          <a:prstGeom prst="rect">
            <a:avLst/>
          </a:prstGeom>
          <a:noFill/>
          <a:ln>
            <a:noFill/>
          </a:ln>
        </p:spPr>
        <p:txBody>
          <a:bodyPr spcFirstLastPara="1" wrap="square" lIns="91425" tIns="45700" rIns="91425" bIns="45700" anchor="t" anchorCtr="0">
            <a:spAutoFit/>
          </a:bodyPr>
          <a:lstStyle/>
          <a:p>
            <a:pPr marL="0" marR="0" lvl="0" indent="0" algn="ctr" rtl="0">
              <a:lnSpc>
                <a:spcPct val="130000"/>
              </a:lnSpc>
              <a:spcBef>
                <a:spcPts val="0"/>
              </a:spcBef>
              <a:spcAft>
                <a:spcPts val="0"/>
              </a:spcAft>
              <a:buNone/>
            </a:pPr>
            <a:r>
              <a:rPr lang="en-US" sz="1900" b="1" i="0" u="none" strike="noStrike" cap="none">
                <a:solidFill>
                  <a:srgbClr val="3A7CA5"/>
                </a:solidFill>
                <a:latin typeface="Calibri"/>
                <a:ea typeface="Calibri"/>
                <a:cs typeface="Calibri"/>
                <a:sym typeface="Calibri"/>
              </a:rPr>
              <a:t>O(J) x 10</a:t>
            </a:r>
            <a:endParaRPr sz="19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4"/>
        <p:cNvGrpSpPr/>
        <p:nvPr/>
      </p:nvGrpSpPr>
      <p:grpSpPr>
        <a:xfrm>
          <a:off x="0" y="0"/>
          <a:ext cx="0" cy="0"/>
          <a:chOff x="0" y="0"/>
          <a:chExt cx="0" cy="0"/>
        </a:xfrm>
      </p:grpSpPr>
      <p:sp>
        <p:nvSpPr>
          <p:cNvPr id="425" name="Google Shape;425;g3d18d3d8234_1_227"/>
          <p:cNvSpPr/>
          <p:nvPr/>
        </p:nvSpPr>
        <p:spPr>
          <a:xfrm>
            <a:off x="1219192" y="2807593"/>
            <a:ext cx="9853500" cy="621300"/>
          </a:xfrm>
          <a:prstGeom prst="rect">
            <a:avLst/>
          </a:prstGeom>
          <a:solidFill>
            <a:srgbClr val="FAFAFA"/>
          </a:solidFill>
          <a:ln w="11975" cap="flat" cmpd="sng">
            <a:solidFill>
              <a:srgbClr val="E0E0E0"/>
            </a:solidFill>
            <a:prstDash val="solid"/>
            <a:round/>
            <a:headEnd type="none" w="sm" len="sm"/>
            <a:tailEnd type="none" w="sm" len="sm"/>
          </a:ln>
        </p:spPr>
        <p:txBody>
          <a:bodyPr spcFirstLastPara="1" wrap="square" lIns="114875" tIns="114875" rIns="114875" bIns="114875" anchor="ctr" anchorCtr="0">
            <a:noAutofit/>
          </a:bodyPr>
          <a:lstStyle/>
          <a:p>
            <a:pPr marL="0" lvl="0" indent="0" algn="l" rtl="0">
              <a:spcBef>
                <a:spcPts val="0"/>
              </a:spcBef>
              <a:spcAft>
                <a:spcPts val="0"/>
              </a:spcAft>
              <a:buNone/>
            </a:pPr>
            <a:endParaRPr sz="1319"/>
          </a:p>
        </p:txBody>
      </p:sp>
      <p:sp>
        <p:nvSpPr>
          <p:cNvPr id="426" name="Google Shape;426;g3d18d3d8234_1_227"/>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7" name="Google Shape;427;g3d18d3d8234_1_227"/>
          <p:cNvSpPr/>
          <p:nvPr/>
        </p:nvSpPr>
        <p:spPr>
          <a:xfrm>
            <a:off x="609584" y="121920"/>
            <a:ext cx="10972500" cy="792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200"/>
              <a:buFont typeface="Calibri"/>
              <a:buNone/>
            </a:pPr>
            <a:r>
              <a:rPr lang="en-US" sz="2800" b="1">
                <a:solidFill>
                  <a:srgbClr val="FFFFFF"/>
                </a:solidFill>
                <a:latin typeface="Calibri"/>
                <a:ea typeface="Calibri"/>
                <a:cs typeface="Calibri"/>
                <a:sym typeface="Calibri"/>
              </a:rPr>
              <a:t>MwG: Acceptance Probability</a:t>
            </a:r>
            <a:endParaRPr sz="2800" b="1">
              <a:solidFill>
                <a:srgbClr val="FFFFFF"/>
              </a:solidFill>
              <a:latin typeface="Calibri"/>
              <a:ea typeface="Calibri"/>
              <a:cs typeface="Calibri"/>
              <a:sym typeface="Calibri"/>
            </a:endParaRPr>
          </a:p>
        </p:txBody>
      </p:sp>
      <p:sp>
        <p:nvSpPr>
          <p:cNvPr id="428" name="Google Shape;428;g3d18d3d8234_1_227"/>
          <p:cNvSpPr/>
          <p:nvPr/>
        </p:nvSpPr>
        <p:spPr>
          <a:xfrm>
            <a:off x="609575" y="1219200"/>
            <a:ext cx="10972500" cy="329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700"/>
              <a:buFont typeface="Calibri"/>
              <a:buNone/>
            </a:pPr>
            <a:r>
              <a:rPr lang="en-US" sz="1700" b="0" i="0" u="none" strike="noStrike" cap="none">
                <a:solidFill>
                  <a:srgbClr val="1E293B"/>
                </a:solidFill>
                <a:latin typeface="Calibri"/>
                <a:ea typeface="Calibri"/>
                <a:cs typeface="Calibri"/>
                <a:sym typeface="Calibri"/>
              </a:rPr>
              <a:t>Each block uses a symmetric random-walk proposal:</a:t>
            </a:r>
            <a:endParaRPr sz="1700" b="0" i="0" u="none" strike="noStrike" cap="none">
              <a:solidFill>
                <a:schemeClr val="dk1"/>
              </a:solidFill>
              <a:latin typeface="Calibri"/>
              <a:ea typeface="Calibri"/>
              <a:cs typeface="Calibri"/>
              <a:sym typeface="Calibri"/>
            </a:endParaRPr>
          </a:p>
        </p:txBody>
      </p:sp>
      <p:sp>
        <p:nvSpPr>
          <p:cNvPr id="429" name="Google Shape;429;g3d18d3d8234_1_227"/>
          <p:cNvSpPr/>
          <p:nvPr/>
        </p:nvSpPr>
        <p:spPr>
          <a:xfrm>
            <a:off x="1219166" y="1603725"/>
            <a:ext cx="9853500" cy="621300"/>
          </a:xfrm>
          <a:prstGeom prst="rect">
            <a:avLst/>
          </a:prstGeom>
          <a:solidFill>
            <a:srgbClr val="FAFAFA"/>
          </a:solidFill>
          <a:ln w="11975" cap="flat" cmpd="sng">
            <a:solidFill>
              <a:srgbClr val="E0E0E0"/>
            </a:solidFill>
            <a:prstDash val="solid"/>
            <a:round/>
            <a:headEnd type="none" w="sm" len="sm"/>
            <a:tailEnd type="none" w="sm" len="sm"/>
          </a:ln>
        </p:spPr>
        <p:txBody>
          <a:bodyPr spcFirstLastPara="1" wrap="square" lIns="114875" tIns="114875" rIns="114875" bIns="114875" anchor="ctr" anchorCtr="0">
            <a:noAutofit/>
          </a:bodyPr>
          <a:lstStyle/>
          <a:p>
            <a:pPr marL="0" lvl="0" indent="0" algn="l" rtl="0">
              <a:spcBef>
                <a:spcPts val="0"/>
              </a:spcBef>
              <a:spcAft>
                <a:spcPts val="0"/>
              </a:spcAft>
              <a:buNone/>
            </a:pPr>
            <a:endParaRPr sz="1319"/>
          </a:p>
        </p:txBody>
      </p:sp>
      <p:pic>
        <p:nvPicPr>
          <p:cNvPr id="430" name="Google Shape;430;g3d18d3d8234_1_227" descr="/home/claude/latex_eqs/mwg_proposal.png"/>
          <p:cNvPicPr preferRelativeResize="0"/>
          <p:nvPr/>
        </p:nvPicPr>
        <p:blipFill rotWithShape="1">
          <a:blip r:embed="rId3">
            <a:alphaModFix/>
          </a:blip>
          <a:srcRect/>
          <a:stretch/>
        </p:blipFill>
        <p:spPr>
          <a:xfrm>
            <a:off x="2280084" y="1669846"/>
            <a:ext cx="6813200" cy="531822"/>
          </a:xfrm>
          <a:prstGeom prst="rect">
            <a:avLst/>
          </a:prstGeom>
          <a:noFill/>
          <a:ln>
            <a:noFill/>
          </a:ln>
        </p:spPr>
      </p:pic>
      <p:sp>
        <p:nvSpPr>
          <p:cNvPr id="431" name="Google Shape;431;g3d18d3d8234_1_227"/>
          <p:cNvSpPr/>
          <p:nvPr/>
        </p:nvSpPr>
        <p:spPr>
          <a:xfrm>
            <a:off x="609575" y="2363320"/>
            <a:ext cx="10972500" cy="329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700"/>
              <a:buFont typeface="Calibri"/>
              <a:buNone/>
            </a:pPr>
            <a:r>
              <a:rPr lang="en-US" sz="1700" b="0" i="0" u="none" strike="noStrike" cap="none">
                <a:solidFill>
                  <a:srgbClr val="1E293B"/>
                </a:solidFill>
                <a:latin typeface="Calibri"/>
                <a:ea typeface="Calibri"/>
                <a:cs typeface="Calibri"/>
                <a:sym typeface="Calibri"/>
              </a:rPr>
              <a:t>Because the proposal is symmetric — q(θ*|θ) = q(θ|θ*) — the Hastings ratio cancels:</a:t>
            </a:r>
            <a:endParaRPr sz="1700" b="0" i="0" u="none" strike="noStrike" cap="none">
              <a:solidFill>
                <a:schemeClr val="dk1"/>
              </a:solidFill>
              <a:latin typeface="Calibri"/>
              <a:ea typeface="Calibri"/>
              <a:cs typeface="Calibri"/>
              <a:sym typeface="Calibri"/>
            </a:endParaRPr>
          </a:p>
        </p:txBody>
      </p:sp>
      <p:pic>
        <p:nvPicPr>
          <p:cNvPr id="432" name="Google Shape;432;g3d18d3d8234_1_227" descr="/home/claude/latex_eqs/mwg_accept.png"/>
          <p:cNvPicPr preferRelativeResize="0"/>
          <p:nvPr/>
        </p:nvPicPr>
        <p:blipFill rotWithShape="1">
          <a:blip r:embed="rId4">
            <a:alphaModFix/>
          </a:blip>
          <a:srcRect/>
          <a:stretch/>
        </p:blipFill>
        <p:spPr>
          <a:xfrm>
            <a:off x="2350224" y="2840792"/>
            <a:ext cx="6559954" cy="588187"/>
          </a:xfrm>
          <a:prstGeom prst="rect">
            <a:avLst/>
          </a:prstGeom>
          <a:noFill/>
          <a:ln>
            <a:noFill/>
          </a:ln>
        </p:spPr>
      </p:pic>
      <p:sp>
        <p:nvSpPr>
          <p:cNvPr id="433" name="Google Shape;433;g3d18d3d8234_1_227"/>
          <p:cNvSpPr/>
          <p:nvPr/>
        </p:nvSpPr>
        <p:spPr>
          <a:xfrm>
            <a:off x="609584" y="3512820"/>
            <a:ext cx="10972500" cy="304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18096"/>
              </a:buClr>
              <a:buSzPts val="1500"/>
              <a:buFont typeface="Calibri"/>
              <a:buNone/>
            </a:pPr>
            <a:r>
              <a:rPr lang="en-US" sz="1500" b="0" i="1" u="none" strike="noStrike" cap="none">
                <a:solidFill>
                  <a:srgbClr val="718096"/>
                </a:solidFill>
                <a:latin typeface="Calibri"/>
                <a:ea typeface="Calibri"/>
                <a:cs typeface="Calibri"/>
                <a:sym typeface="Calibri"/>
              </a:rPr>
              <a:t>where h(·) is the log-target (full conditional) for the block being updated.</a:t>
            </a:r>
            <a:endParaRPr sz="1500" b="0" i="0" u="none" strike="noStrike" cap="none">
              <a:solidFill>
                <a:schemeClr val="dk1"/>
              </a:solidFill>
              <a:latin typeface="Calibri"/>
              <a:ea typeface="Calibri"/>
              <a:cs typeface="Calibri"/>
              <a:sym typeface="Calibri"/>
            </a:endParaRPr>
          </a:p>
        </p:txBody>
      </p:sp>
      <p:sp>
        <p:nvSpPr>
          <p:cNvPr id="434" name="Google Shape;434;g3d18d3d8234_1_227"/>
          <p:cNvSpPr/>
          <p:nvPr/>
        </p:nvSpPr>
        <p:spPr>
          <a:xfrm>
            <a:off x="609584" y="3939540"/>
            <a:ext cx="48768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1900"/>
              <a:buFont typeface="Calibri"/>
              <a:buNone/>
            </a:pPr>
            <a:r>
              <a:rPr lang="en-US" sz="1900" b="1" i="0" u="none" strike="noStrike" cap="none">
                <a:solidFill>
                  <a:schemeClr val="dk2"/>
                </a:solidFill>
                <a:latin typeface="Calibri"/>
                <a:ea typeface="Calibri"/>
                <a:cs typeface="Calibri"/>
                <a:sym typeface="Calibri"/>
              </a:rPr>
              <a:t>Application to each block:</a:t>
            </a:r>
            <a:endParaRPr sz="1900" b="0" i="0" u="none" strike="noStrike" cap="none">
              <a:solidFill>
                <a:schemeClr val="dk2"/>
              </a:solidFill>
              <a:latin typeface="Calibri"/>
              <a:ea typeface="Calibri"/>
              <a:cs typeface="Calibri"/>
              <a:sym typeface="Calibri"/>
            </a:endParaRPr>
          </a:p>
        </p:txBody>
      </p:sp>
      <p:sp>
        <p:nvSpPr>
          <p:cNvPr id="435" name="Google Shape;435;g3d18d3d8234_1_227"/>
          <p:cNvSpPr/>
          <p:nvPr/>
        </p:nvSpPr>
        <p:spPr>
          <a:xfrm>
            <a:off x="1228700" y="4366250"/>
            <a:ext cx="1617000" cy="426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1500"/>
              <a:buFont typeface="Calibri"/>
              <a:buNone/>
            </a:pPr>
            <a:r>
              <a:rPr lang="en-US" sz="1800" b="1" i="0" u="none" strike="noStrike" cap="none">
                <a:solidFill>
                  <a:schemeClr val="dk2"/>
                </a:solidFill>
                <a:latin typeface="Calibri"/>
                <a:ea typeface="Calibri"/>
                <a:cs typeface="Calibri"/>
                <a:sym typeface="Calibri"/>
              </a:rPr>
              <a:t>Block 1 (α):</a:t>
            </a:r>
            <a:endParaRPr sz="1800" b="0" i="0" u="none" strike="noStrike" cap="none">
              <a:solidFill>
                <a:schemeClr val="dk2"/>
              </a:solidFill>
              <a:latin typeface="Calibri"/>
              <a:ea typeface="Calibri"/>
              <a:cs typeface="Calibri"/>
              <a:sym typeface="Calibri"/>
            </a:endParaRPr>
          </a:p>
        </p:txBody>
      </p:sp>
      <p:pic>
        <p:nvPicPr>
          <p:cNvPr id="436" name="Google Shape;436;g3d18d3d8234_1_227" descr="/home/claude/latex_eqs/b1_h.png"/>
          <p:cNvPicPr preferRelativeResize="0"/>
          <p:nvPr/>
        </p:nvPicPr>
        <p:blipFill rotWithShape="1">
          <a:blip r:embed="rId5">
            <a:alphaModFix/>
          </a:blip>
          <a:srcRect/>
          <a:stretch/>
        </p:blipFill>
        <p:spPr>
          <a:xfrm>
            <a:off x="2595225" y="4306067"/>
            <a:ext cx="5103548" cy="556685"/>
          </a:xfrm>
          <a:prstGeom prst="rect">
            <a:avLst/>
          </a:prstGeom>
          <a:noFill/>
          <a:ln>
            <a:noFill/>
          </a:ln>
        </p:spPr>
      </p:pic>
      <p:sp>
        <p:nvSpPr>
          <p:cNvPr id="437" name="Google Shape;437;g3d18d3d8234_1_227"/>
          <p:cNvSpPr/>
          <p:nvPr/>
        </p:nvSpPr>
        <p:spPr>
          <a:xfrm>
            <a:off x="5834847" y="4366250"/>
            <a:ext cx="2988600" cy="4269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4A5568"/>
              </a:buClr>
              <a:buSzPts val="1300"/>
              <a:buFont typeface="Calibri"/>
              <a:buNone/>
            </a:pPr>
            <a:r>
              <a:rPr lang="en-US" sz="1800" b="1" i="0" u="none" strike="noStrike" cap="none">
                <a:solidFill>
                  <a:srgbClr val="4A5568"/>
                </a:solidFill>
                <a:latin typeface="Calibri"/>
                <a:ea typeface="Calibri"/>
                <a:cs typeface="Calibri"/>
                <a:sym typeface="Calibri"/>
              </a:rPr>
              <a:t>O(N)</a:t>
            </a:r>
            <a:endParaRPr sz="1800" b="0" i="0" u="none" strike="noStrike" cap="none">
              <a:solidFill>
                <a:schemeClr val="dk1"/>
              </a:solidFill>
              <a:latin typeface="Calibri"/>
              <a:ea typeface="Calibri"/>
              <a:cs typeface="Calibri"/>
              <a:sym typeface="Calibri"/>
            </a:endParaRPr>
          </a:p>
        </p:txBody>
      </p:sp>
      <p:sp>
        <p:nvSpPr>
          <p:cNvPr id="438" name="Google Shape;438;g3d18d3d8234_1_227"/>
          <p:cNvSpPr/>
          <p:nvPr/>
        </p:nvSpPr>
        <p:spPr>
          <a:xfrm>
            <a:off x="1228700" y="4829549"/>
            <a:ext cx="1617000" cy="426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1500"/>
              <a:buFont typeface="Calibri"/>
              <a:buNone/>
            </a:pPr>
            <a:r>
              <a:rPr lang="en-US" sz="1800" b="1" i="0" u="none" strike="noStrike" cap="none">
                <a:solidFill>
                  <a:schemeClr val="dk2"/>
                </a:solidFill>
                <a:latin typeface="Calibri"/>
                <a:ea typeface="Calibri"/>
                <a:cs typeface="Calibri"/>
                <a:sym typeface="Calibri"/>
              </a:rPr>
              <a:t>Block 2 (βₖ):</a:t>
            </a:r>
            <a:endParaRPr sz="1800" b="0" i="0" u="none" strike="noStrike" cap="none">
              <a:solidFill>
                <a:schemeClr val="dk2"/>
              </a:solidFill>
              <a:latin typeface="Calibri"/>
              <a:ea typeface="Calibri"/>
              <a:cs typeface="Calibri"/>
              <a:sym typeface="Calibri"/>
            </a:endParaRPr>
          </a:p>
        </p:txBody>
      </p:sp>
      <p:pic>
        <p:nvPicPr>
          <p:cNvPr id="439" name="Google Shape;439;g3d18d3d8234_1_227" descr="/home/claude/latex_eqs/b2_h.png"/>
          <p:cNvPicPr preferRelativeResize="0"/>
          <p:nvPr/>
        </p:nvPicPr>
        <p:blipFill rotWithShape="1">
          <a:blip r:embed="rId6">
            <a:alphaModFix/>
          </a:blip>
          <a:srcRect/>
          <a:stretch/>
        </p:blipFill>
        <p:spPr>
          <a:xfrm>
            <a:off x="2595225" y="4798301"/>
            <a:ext cx="5103548" cy="556685"/>
          </a:xfrm>
          <a:prstGeom prst="rect">
            <a:avLst/>
          </a:prstGeom>
          <a:noFill/>
          <a:ln>
            <a:noFill/>
          </a:ln>
        </p:spPr>
      </p:pic>
      <p:sp>
        <p:nvSpPr>
          <p:cNvPr id="440" name="Google Shape;440;g3d18d3d8234_1_227"/>
          <p:cNvSpPr/>
          <p:nvPr/>
        </p:nvSpPr>
        <p:spPr>
          <a:xfrm>
            <a:off x="5834847" y="4829549"/>
            <a:ext cx="2988600" cy="4269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4A5568"/>
              </a:buClr>
              <a:buSzPts val="1300"/>
              <a:buFont typeface="Calibri"/>
              <a:buNone/>
            </a:pPr>
            <a:r>
              <a:rPr lang="en-US" sz="1800" b="1" i="0" u="none" strike="noStrike" cap="none">
                <a:solidFill>
                  <a:srgbClr val="4A5568"/>
                </a:solidFill>
                <a:latin typeface="Calibri"/>
                <a:ea typeface="Calibri"/>
                <a:cs typeface="Calibri"/>
                <a:sym typeface="Calibri"/>
              </a:rPr>
              <a:t>O(N) per k — incremental Δη</a:t>
            </a:r>
            <a:endParaRPr sz="1800" b="0" i="0" u="none" strike="noStrike" cap="none">
              <a:solidFill>
                <a:schemeClr val="dk1"/>
              </a:solidFill>
              <a:latin typeface="Calibri"/>
              <a:ea typeface="Calibri"/>
              <a:cs typeface="Calibri"/>
              <a:sym typeface="Calibri"/>
            </a:endParaRPr>
          </a:p>
        </p:txBody>
      </p:sp>
      <p:sp>
        <p:nvSpPr>
          <p:cNvPr id="441" name="Google Shape;441;g3d18d3d8234_1_227"/>
          <p:cNvSpPr/>
          <p:nvPr/>
        </p:nvSpPr>
        <p:spPr>
          <a:xfrm>
            <a:off x="1228700" y="5292848"/>
            <a:ext cx="1617000" cy="426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1500"/>
              <a:buFont typeface="Calibri"/>
              <a:buNone/>
            </a:pPr>
            <a:r>
              <a:rPr lang="en-US" sz="1800" b="1" i="0" u="none" strike="noStrike" cap="none">
                <a:solidFill>
                  <a:schemeClr val="dk2"/>
                </a:solidFill>
                <a:latin typeface="Calibri"/>
                <a:ea typeface="Calibri"/>
                <a:cs typeface="Calibri"/>
                <a:sym typeface="Calibri"/>
              </a:rPr>
              <a:t>Block 3 (uⱼ):</a:t>
            </a:r>
            <a:endParaRPr sz="1800" b="0" i="0" u="none" strike="noStrike" cap="none">
              <a:solidFill>
                <a:schemeClr val="dk2"/>
              </a:solidFill>
              <a:latin typeface="Calibri"/>
              <a:ea typeface="Calibri"/>
              <a:cs typeface="Calibri"/>
              <a:sym typeface="Calibri"/>
            </a:endParaRPr>
          </a:p>
        </p:txBody>
      </p:sp>
      <p:pic>
        <p:nvPicPr>
          <p:cNvPr id="442" name="Google Shape;442;g3d18d3d8234_1_227" descr="/home/claude/latex_eqs/b3_h.png"/>
          <p:cNvPicPr preferRelativeResize="0"/>
          <p:nvPr/>
        </p:nvPicPr>
        <p:blipFill rotWithShape="1">
          <a:blip r:embed="rId7">
            <a:alphaModFix/>
          </a:blip>
          <a:srcRect/>
          <a:stretch/>
        </p:blipFill>
        <p:spPr>
          <a:xfrm>
            <a:off x="2595225" y="5290535"/>
            <a:ext cx="5103548" cy="556685"/>
          </a:xfrm>
          <a:prstGeom prst="rect">
            <a:avLst/>
          </a:prstGeom>
          <a:noFill/>
          <a:ln>
            <a:noFill/>
          </a:ln>
        </p:spPr>
      </p:pic>
      <p:sp>
        <p:nvSpPr>
          <p:cNvPr id="443" name="Google Shape;443;g3d18d3d8234_1_227"/>
          <p:cNvSpPr/>
          <p:nvPr/>
        </p:nvSpPr>
        <p:spPr>
          <a:xfrm>
            <a:off x="5834847" y="5292848"/>
            <a:ext cx="2988600" cy="4269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2C74B3"/>
              </a:buClr>
              <a:buSzPts val="1300"/>
              <a:buFont typeface="Calibri"/>
              <a:buNone/>
            </a:pPr>
            <a:r>
              <a:rPr lang="en-US" sz="1800" b="1" i="0" u="none" strike="noStrike" cap="none">
                <a:solidFill>
                  <a:srgbClr val="2C74B3"/>
                </a:solidFill>
                <a:latin typeface="Calibri"/>
                <a:ea typeface="Calibri"/>
                <a:cs typeface="Calibri"/>
                <a:sym typeface="Calibri"/>
              </a:rPr>
              <a:t>O(nⱼ) — group-j only</a:t>
            </a:r>
            <a:endParaRPr sz="1800" b="0" i="0" u="none" strike="noStrike" cap="none">
              <a:solidFill>
                <a:schemeClr val="dk1"/>
              </a:solidFill>
              <a:latin typeface="Calibri"/>
              <a:ea typeface="Calibri"/>
              <a:cs typeface="Calibri"/>
              <a:sym typeface="Calibri"/>
            </a:endParaRPr>
          </a:p>
        </p:txBody>
      </p:sp>
      <p:sp>
        <p:nvSpPr>
          <p:cNvPr id="444" name="Google Shape;444;g3d18d3d8234_1_227"/>
          <p:cNvSpPr/>
          <p:nvPr/>
        </p:nvSpPr>
        <p:spPr>
          <a:xfrm>
            <a:off x="1228700" y="5756147"/>
            <a:ext cx="1617000" cy="426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1500"/>
              <a:buFont typeface="Calibri"/>
              <a:buNone/>
            </a:pPr>
            <a:r>
              <a:rPr lang="en-US" sz="1800" b="1" i="0" u="none" strike="noStrike" cap="none">
                <a:solidFill>
                  <a:schemeClr val="dk2"/>
                </a:solidFill>
                <a:latin typeface="Calibri"/>
                <a:ea typeface="Calibri"/>
                <a:cs typeface="Calibri"/>
                <a:sym typeface="Calibri"/>
              </a:rPr>
              <a:t>Block 4 (φ):</a:t>
            </a:r>
            <a:endParaRPr sz="1800" b="0" i="0" u="none" strike="noStrike" cap="none">
              <a:solidFill>
                <a:schemeClr val="dk2"/>
              </a:solidFill>
              <a:latin typeface="Calibri"/>
              <a:ea typeface="Calibri"/>
              <a:cs typeface="Calibri"/>
              <a:sym typeface="Calibri"/>
            </a:endParaRPr>
          </a:p>
        </p:txBody>
      </p:sp>
      <p:pic>
        <p:nvPicPr>
          <p:cNvPr id="445" name="Google Shape;445;g3d18d3d8234_1_227" descr="/home/claude/latex_eqs/b4_h.png"/>
          <p:cNvPicPr preferRelativeResize="0"/>
          <p:nvPr/>
        </p:nvPicPr>
        <p:blipFill rotWithShape="1">
          <a:blip r:embed="rId8">
            <a:alphaModFix/>
          </a:blip>
          <a:srcRect/>
          <a:stretch/>
        </p:blipFill>
        <p:spPr>
          <a:xfrm>
            <a:off x="2595225" y="5746960"/>
            <a:ext cx="5031663" cy="556658"/>
          </a:xfrm>
          <a:prstGeom prst="rect">
            <a:avLst/>
          </a:prstGeom>
          <a:noFill/>
          <a:ln>
            <a:noFill/>
          </a:ln>
        </p:spPr>
      </p:pic>
      <p:sp>
        <p:nvSpPr>
          <p:cNvPr id="446" name="Google Shape;446;g3d18d3d8234_1_227"/>
          <p:cNvSpPr/>
          <p:nvPr/>
        </p:nvSpPr>
        <p:spPr>
          <a:xfrm>
            <a:off x="5834847" y="5756147"/>
            <a:ext cx="2988600" cy="4269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0392B"/>
              </a:buClr>
              <a:buSzPts val="1300"/>
              <a:buFont typeface="Calibri"/>
              <a:buNone/>
            </a:pPr>
            <a:r>
              <a:rPr lang="en-US" sz="1800" b="1" i="0" u="none" strike="noStrike" cap="none">
                <a:solidFill>
                  <a:srgbClr val="C0392B"/>
                </a:solidFill>
                <a:latin typeface="Calibri"/>
                <a:ea typeface="Calibri"/>
                <a:cs typeface="Calibri"/>
                <a:sym typeface="Calibri"/>
              </a:rPr>
              <a:t>O(J) — no likelihood!</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1"/>
        <p:cNvGrpSpPr/>
        <p:nvPr/>
      </p:nvGrpSpPr>
      <p:grpSpPr>
        <a:xfrm>
          <a:off x="0" y="0"/>
          <a:ext cx="0" cy="0"/>
          <a:chOff x="0" y="0"/>
          <a:chExt cx="0" cy="0"/>
        </a:xfrm>
      </p:grpSpPr>
      <p:sp>
        <p:nvSpPr>
          <p:cNvPr id="452" name="Google Shape;452;g3d18d3d8234_1_255"/>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3" name="Google Shape;453;g3d18d3d8234_1_255"/>
          <p:cNvSpPr/>
          <p:nvPr/>
        </p:nvSpPr>
        <p:spPr>
          <a:xfrm>
            <a:off x="609584" y="121920"/>
            <a:ext cx="10972500" cy="792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3200"/>
              <a:buFont typeface="Calibri"/>
              <a:buNone/>
            </a:pPr>
            <a:r>
              <a:rPr lang="en-US" sz="2800" b="1">
                <a:solidFill>
                  <a:srgbClr val="FFFFFF"/>
                </a:solidFill>
                <a:latin typeface="Calibri"/>
                <a:ea typeface="Calibri"/>
                <a:cs typeface="Calibri"/>
                <a:sym typeface="Calibri"/>
              </a:rPr>
              <a:t>Block 5: Joint α–u Translation Move</a:t>
            </a:r>
            <a:endParaRPr sz="2800" b="1">
              <a:solidFill>
                <a:srgbClr val="FFFFFF"/>
              </a:solidFill>
              <a:latin typeface="Calibri"/>
              <a:ea typeface="Calibri"/>
              <a:cs typeface="Calibri"/>
              <a:sym typeface="Calibri"/>
            </a:endParaRPr>
          </a:p>
        </p:txBody>
      </p:sp>
      <p:sp>
        <p:nvSpPr>
          <p:cNvPr id="454" name="Google Shape;454;g3d18d3d8234_1_255"/>
          <p:cNvSpPr/>
          <p:nvPr/>
        </p:nvSpPr>
        <p:spPr>
          <a:xfrm>
            <a:off x="609575" y="1219200"/>
            <a:ext cx="2438400" cy="296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1900"/>
              <a:buFont typeface="Calibri"/>
              <a:buNone/>
            </a:pPr>
            <a:r>
              <a:rPr lang="en-US" sz="1900" b="1" i="0" u="none" strike="noStrike" cap="none">
                <a:solidFill>
                  <a:schemeClr val="dk2"/>
                </a:solidFill>
                <a:latin typeface="Calibri"/>
                <a:ea typeface="Calibri"/>
                <a:cs typeface="Calibri"/>
                <a:sym typeface="Calibri"/>
              </a:rPr>
              <a:t>Motivation:</a:t>
            </a:r>
            <a:endParaRPr sz="1900" b="0" i="0" u="none" strike="noStrike" cap="none">
              <a:solidFill>
                <a:schemeClr val="dk2"/>
              </a:solidFill>
              <a:latin typeface="Calibri"/>
              <a:ea typeface="Calibri"/>
              <a:cs typeface="Calibri"/>
              <a:sym typeface="Calibri"/>
            </a:endParaRPr>
          </a:p>
        </p:txBody>
      </p:sp>
      <p:sp>
        <p:nvSpPr>
          <p:cNvPr id="455" name="Google Shape;455;g3d18d3d8234_1_255"/>
          <p:cNvSpPr/>
          <p:nvPr/>
        </p:nvSpPr>
        <p:spPr>
          <a:xfrm>
            <a:off x="609575" y="1574993"/>
            <a:ext cx="10972500" cy="47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600"/>
              <a:buFont typeface="Calibri"/>
              <a:buNone/>
            </a:pPr>
            <a:r>
              <a:rPr lang="en-US" sz="1600" b="0" i="0" u="none" strike="noStrike" cap="none">
                <a:solidFill>
                  <a:srgbClr val="1E293B"/>
                </a:solidFill>
                <a:latin typeface="Calibri"/>
                <a:ea typeface="Calibri"/>
                <a:cs typeface="Calibri"/>
                <a:sym typeface="Calibri"/>
              </a:rPr>
              <a:t>α and uⱼ are weakly non-identifiable.  Individual MH explores the α–u ridge very slowly.  The translation move directly proposes along the ridge.</a:t>
            </a:r>
            <a:endParaRPr sz="1600" b="0" i="0" u="none" strike="noStrike" cap="none">
              <a:solidFill>
                <a:schemeClr val="dk1"/>
              </a:solidFill>
              <a:latin typeface="Calibri"/>
              <a:ea typeface="Calibri"/>
              <a:cs typeface="Calibri"/>
              <a:sym typeface="Calibri"/>
            </a:endParaRPr>
          </a:p>
        </p:txBody>
      </p:sp>
      <p:sp>
        <p:nvSpPr>
          <p:cNvPr id="456" name="Google Shape;456;g3d18d3d8234_1_255"/>
          <p:cNvSpPr/>
          <p:nvPr/>
        </p:nvSpPr>
        <p:spPr>
          <a:xfrm>
            <a:off x="609575" y="2227279"/>
            <a:ext cx="2438400" cy="296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4272"/>
              </a:buClr>
              <a:buSzPts val="1700"/>
              <a:buFont typeface="Calibri"/>
              <a:buNone/>
            </a:pPr>
            <a:r>
              <a:rPr lang="en-US" sz="1700" b="1" i="0" u="none" strike="noStrike" cap="none">
                <a:solidFill>
                  <a:srgbClr val="144272"/>
                </a:solidFill>
                <a:latin typeface="Calibri"/>
                <a:ea typeface="Calibri"/>
                <a:cs typeface="Calibri"/>
                <a:sym typeface="Calibri"/>
              </a:rPr>
              <a:t>Step 1.  Propose:</a:t>
            </a:r>
            <a:endParaRPr sz="1700" b="0" i="0" u="none" strike="noStrike" cap="none">
              <a:solidFill>
                <a:schemeClr val="dk1"/>
              </a:solidFill>
              <a:latin typeface="Calibri"/>
              <a:ea typeface="Calibri"/>
              <a:cs typeface="Calibri"/>
              <a:sym typeface="Calibri"/>
            </a:endParaRPr>
          </a:p>
        </p:txBody>
      </p:sp>
      <p:sp>
        <p:nvSpPr>
          <p:cNvPr id="457" name="Google Shape;457;g3d18d3d8234_1_255"/>
          <p:cNvSpPr/>
          <p:nvPr/>
        </p:nvSpPr>
        <p:spPr>
          <a:xfrm>
            <a:off x="609575" y="2523773"/>
            <a:ext cx="10972500" cy="652200"/>
          </a:xfrm>
          <a:prstGeom prst="rect">
            <a:avLst/>
          </a:prstGeom>
          <a:solidFill>
            <a:srgbClr val="FAFAFA"/>
          </a:solidFill>
          <a:ln w="12700" cap="flat" cmpd="sng">
            <a:solidFill>
              <a:srgbClr val="E0E0E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pic>
        <p:nvPicPr>
          <p:cNvPr id="458" name="Google Shape;458;g3d18d3d8234_1_255" descr="/home/claude/latex_eqs/tm_proposal.png"/>
          <p:cNvPicPr preferRelativeResize="0"/>
          <p:nvPr/>
        </p:nvPicPr>
        <p:blipFill rotWithShape="1">
          <a:blip r:embed="rId3">
            <a:alphaModFix/>
          </a:blip>
          <a:srcRect/>
          <a:stretch/>
        </p:blipFill>
        <p:spPr>
          <a:xfrm>
            <a:off x="2310178" y="2554883"/>
            <a:ext cx="8301036" cy="672376"/>
          </a:xfrm>
          <a:prstGeom prst="rect">
            <a:avLst/>
          </a:prstGeom>
          <a:noFill/>
          <a:ln>
            <a:noFill/>
          </a:ln>
        </p:spPr>
      </p:pic>
      <p:sp>
        <p:nvSpPr>
          <p:cNvPr id="459" name="Google Shape;459;g3d18d3d8234_1_255"/>
          <p:cNvSpPr/>
          <p:nvPr/>
        </p:nvSpPr>
        <p:spPr>
          <a:xfrm>
            <a:off x="609575" y="3353956"/>
            <a:ext cx="6095700" cy="296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4272"/>
              </a:buClr>
              <a:buSzPts val="1700"/>
              <a:buFont typeface="Calibri"/>
              <a:buNone/>
            </a:pPr>
            <a:r>
              <a:rPr lang="en-US" sz="1700" b="1" i="0" u="none" strike="noStrike" cap="none">
                <a:solidFill>
                  <a:srgbClr val="144272"/>
                </a:solidFill>
                <a:latin typeface="Calibri"/>
                <a:ea typeface="Calibri"/>
                <a:cs typeface="Calibri"/>
                <a:sym typeface="Calibri"/>
              </a:rPr>
              <a:t>Step 2.  Show η* = η  (likelihood invariance):</a:t>
            </a:r>
            <a:endParaRPr sz="1700" b="0" i="0" u="none" strike="noStrike" cap="none">
              <a:solidFill>
                <a:schemeClr val="dk1"/>
              </a:solidFill>
              <a:latin typeface="Calibri"/>
              <a:ea typeface="Calibri"/>
              <a:cs typeface="Calibri"/>
              <a:sym typeface="Calibri"/>
            </a:endParaRPr>
          </a:p>
        </p:txBody>
      </p:sp>
      <p:sp>
        <p:nvSpPr>
          <p:cNvPr id="460" name="Google Shape;460;g3d18d3d8234_1_255"/>
          <p:cNvSpPr/>
          <p:nvPr/>
        </p:nvSpPr>
        <p:spPr>
          <a:xfrm>
            <a:off x="609575" y="3650449"/>
            <a:ext cx="10972500" cy="652200"/>
          </a:xfrm>
          <a:prstGeom prst="rect">
            <a:avLst/>
          </a:prstGeom>
          <a:solidFill>
            <a:srgbClr val="FAFAFA"/>
          </a:solidFill>
          <a:ln w="12700" cap="flat" cmpd="sng">
            <a:solidFill>
              <a:srgbClr val="E0E0E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pic>
        <p:nvPicPr>
          <p:cNvPr id="461" name="Google Shape;461;g3d18d3d8234_1_255" descr="/home/claude/latex_eqs/tm_eta.png"/>
          <p:cNvPicPr preferRelativeResize="0"/>
          <p:nvPr/>
        </p:nvPicPr>
        <p:blipFill rotWithShape="1">
          <a:blip r:embed="rId4">
            <a:alphaModFix/>
          </a:blip>
          <a:srcRect/>
          <a:stretch/>
        </p:blipFill>
        <p:spPr>
          <a:xfrm>
            <a:off x="2434616" y="3620832"/>
            <a:ext cx="8052158" cy="652228"/>
          </a:xfrm>
          <a:prstGeom prst="rect">
            <a:avLst/>
          </a:prstGeom>
          <a:noFill/>
          <a:ln>
            <a:noFill/>
          </a:ln>
        </p:spPr>
      </p:pic>
      <p:sp>
        <p:nvSpPr>
          <p:cNvPr id="462" name="Google Shape;462;g3d18d3d8234_1_255"/>
          <p:cNvSpPr/>
          <p:nvPr/>
        </p:nvSpPr>
        <p:spPr>
          <a:xfrm>
            <a:off x="853408" y="4362505"/>
            <a:ext cx="10485000" cy="47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1600"/>
              <a:buFont typeface="Calibri"/>
              <a:buNone/>
            </a:pPr>
            <a:r>
              <a:rPr lang="en-US" sz="1600" b="1" i="0" u="none" strike="noStrike" cap="none">
                <a:solidFill>
                  <a:srgbClr val="C0392B"/>
                </a:solidFill>
                <a:latin typeface="Calibri"/>
                <a:ea typeface="Calibri"/>
                <a:cs typeface="Calibri"/>
                <a:sym typeface="Calibri"/>
              </a:rPr>
              <a:t>Likelihood cancels exactly!  →  Acceptance ratio depends only on priors  →  O(J) cost</a:t>
            </a:r>
            <a:endParaRPr sz="1600" b="0" i="0" u="none" strike="noStrike" cap="none">
              <a:solidFill>
                <a:schemeClr val="dk1"/>
              </a:solidFill>
              <a:latin typeface="Calibri"/>
              <a:ea typeface="Calibri"/>
              <a:cs typeface="Calibri"/>
              <a:sym typeface="Calibri"/>
            </a:endParaRPr>
          </a:p>
        </p:txBody>
      </p:sp>
      <p:sp>
        <p:nvSpPr>
          <p:cNvPr id="463" name="Google Shape;463;g3d18d3d8234_1_255"/>
          <p:cNvSpPr/>
          <p:nvPr/>
        </p:nvSpPr>
        <p:spPr>
          <a:xfrm>
            <a:off x="609575" y="4852176"/>
            <a:ext cx="7314900" cy="296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4272"/>
              </a:buClr>
              <a:buSzPts val="1700"/>
              <a:buFont typeface="Calibri"/>
              <a:buNone/>
            </a:pPr>
            <a:r>
              <a:rPr lang="en-US" sz="1700" b="1" i="0" u="none" strike="noStrike" cap="none">
                <a:solidFill>
                  <a:srgbClr val="144272"/>
                </a:solidFill>
                <a:latin typeface="Calibri"/>
                <a:ea typeface="Calibri"/>
                <a:cs typeface="Calibri"/>
                <a:sym typeface="Calibri"/>
              </a:rPr>
              <a:t>Step 3.  Log acceptance ratio (only priors remain):</a:t>
            </a:r>
            <a:endParaRPr sz="1700" b="0" i="0" u="none" strike="noStrike" cap="none">
              <a:solidFill>
                <a:schemeClr val="dk1"/>
              </a:solidFill>
              <a:latin typeface="Calibri"/>
              <a:ea typeface="Calibri"/>
              <a:cs typeface="Calibri"/>
              <a:sym typeface="Calibri"/>
            </a:endParaRPr>
          </a:p>
        </p:txBody>
      </p:sp>
      <p:sp>
        <p:nvSpPr>
          <p:cNvPr id="464" name="Google Shape;464;g3d18d3d8234_1_255"/>
          <p:cNvSpPr/>
          <p:nvPr/>
        </p:nvSpPr>
        <p:spPr>
          <a:xfrm>
            <a:off x="609575" y="5207969"/>
            <a:ext cx="10972500" cy="830400"/>
          </a:xfrm>
          <a:prstGeom prst="rect">
            <a:avLst/>
          </a:prstGeom>
          <a:solidFill>
            <a:srgbClr val="FAFAFA"/>
          </a:solidFill>
          <a:ln w="12700" cap="flat" cmpd="sng">
            <a:solidFill>
              <a:srgbClr val="E0E0E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pic>
        <p:nvPicPr>
          <p:cNvPr id="465" name="Google Shape;465;g3d18d3d8234_1_255" descr="/home/claude/latex_eqs/tm_logr.png"/>
          <p:cNvPicPr preferRelativeResize="0"/>
          <p:nvPr/>
        </p:nvPicPr>
        <p:blipFill rotWithShape="1">
          <a:blip r:embed="rId5">
            <a:alphaModFix/>
          </a:blip>
          <a:srcRect/>
          <a:stretch/>
        </p:blipFill>
        <p:spPr>
          <a:xfrm>
            <a:off x="1210653" y="5094172"/>
            <a:ext cx="10241023" cy="1055389"/>
          </a:xfrm>
          <a:prstGeom prst="rect">
            <a:avLst/>
          </a:prstGeom>
          <a:noFill/>
          <a:ln>
            <a:noFill/>
          </a:ln>
        </p:spPr>
      </p:pic>
      <p:sp>
        <p:nvSpPr>
          <p:cNvPr id="466" name="Google Shape;466;g3d18d3d8234_1_255"/>
          <p:cNvSpPr/>
          <p:nvPr/>
        </p:nvSpPr>
        <p:spPr>
          <a:xfrm>
            <a:off x="609575" y="6097450"/>
            <a:ext cx="10972500" cy="35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74B3"/>
              </a:buClr>
              <a:buSzPts val="1500"/>
              <a:buFont typeface="Calibri"/>
              <a:buNone/>
            </a:pPr>
            <a:r>
              <a:rPr lang="en-US" sz="1500" b="1" i="0" u="none" strike="noStrike" cap="none">
                <a:solidFill>
                  <a:srgbClr val="2C74B3"/>
                </a:solidFill>
                <a:latin typeface="Calibri"/>
                <a:ea typeface="Calibri"/>
                <a:cs typeface="Calibri"/>
                <a:sym typeface="Calibri"/>
              </a:rPr>
              <a:t>Implementation:  </a:t>
            </a:r>
            <a:r>
              <a:rPr lang="en-US" sz="1500" b="0" i="0" u="none" strike="noStrike" cap="none">
                <a:solidFill>
                  <a:srgbClr val="1E293B"/>
                </a:solidFill>
                <a:latin typeface="Calibri"/>
                <a:ea typeface="Calibri"/>
                <a:cs typeface="Calibri"/>
                <a:sym typeface="Calibri"/>
              </a:rPr>
              <a:t>Repeated R = 10 times per iteration (cost: 10 × O(19) = O(190), negligible vs O(N) blocks).  </a:t>
            </a:r>
            <a:r>
              <a:rPr lang="en-US" sz="1500" b="1" i="0" u="none" strike="noStrike" cap="none">
                <a:solidFill>
                  <a:srgbClr val="27AE60"/>
                </a:solidFill>
                <a:latin typeface="Calibri"/>
                <a:ea typeface="Calibri"/>
                <a:cs typeface="Calibri"/>
                <a:sym typeface="Calibri"/>
              </a:rPr>
              <a:t>Acceptance rate: 0.45.</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1"/>
        <p:cNvGrpSpPr/>
        <p:nvPr/>
      </p:nvGrpSpPr>
      <p:grpSpPr>
        <a:xfrm>
          <a:off x="0" y="0"/>
          <a:ext cx="0" cy="0"/>
          <a:chOff x="0" y="0"/>
          <a:chExt cx="0" cy="0"/>
        </a:xfrm>
      </p:grpSpPr>
      <p:sp>
        <p:nvSpPr>
          <p:cNvPr id="472" name="Google Shape;472;g3d18d3d8234_1_277"/>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3" name="Google Shape;473;g3d18d3d8234_1_277"/>
          <p:cNvSpPr/>
          <p:nvPr/>
        </p:nvSpPr>
        <p:spPr>
          <a:xfrm>
            <a:off x="609584" y="121920"/>
            <a:ext cx="10972500" cy="792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200"/>
              <a:buFont typeface="Calibri"/>
              <a:buNone/>
            </a:pPr>
            <a:r>
              <a:rPr lang="en-US" sz="2800" b="1">
                <a:solidFill>
                  <a:srgbClr val="FFFFFF"/>
                </a:solidFill>
                <a:latin typeface="Calibri"/>
                <a:ea typeface="Calibri"/>
                <a:cs typeface="Calibri"/>
                <a:sym typeface="Calibri"/>
              </a:rPr>
              <a:t>Trace Plots — Fixed Effects &amp; Intercept</a:t>
            </a:r>
            <a:endParaRPr sz="3200" b="0" i="0" u="none" strike="noStrike" cap="none">
              <a:solidFill>
                <a:schemeClr val="dk1"/>
              </a:solidFill>
              <a:latin typeface="Calibri"/>
              <a:ea typeface="Calibri"/>
              <a:cs typeface="Calibri"/>
              <a:sym typeface="Calibri"/>
            </a:endParaRPr>
          </a:p>
        </p:txBody>
      </p:sp>
      <p:sp>
        <p:nvSpPr>
          <p:cNvPr id="474" name="Google Shape;474;g3d18d3d8234_1_277"/>
          <p:cNvSpPr/>
          <p:nvPr/>
        </p:nvSpPr>
        <p:spPr>
          <a:xfrm>
            <a:off x="365750" y="1158240"/>
            <a:ext cx="11460000" cy="487500"/>
          </a:xfrm>
          <a:prstGeom prst="rect">
            <a:avLst/>
          </a:prstGeom>
          <a:solidFill>
            <a:srgbClr val="E8F4F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75" name="Google Shape;475;g3d18d3d8234_1_277"/>
          <p:cNvSpPr/>
          <p:nvPr/>
        </p:nvSpPr>
        <p:spPr>
          <a:xfrm>
            <a:off x="609584" y="1158240"/>
            <a:ext cx="10972500" cy="487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4272"/>
              </a:buClr>
              <a:buSzPts val="1400"/>
              <a:buFont typeface="Calibri"/>
              <a:buNone/>
            </a:pPr>
            <a:r>
              <a:rPr lang="en-US" sz="1400" b="0" i="0" u="none" strike="noStrike" cap="none">
                <a:solidFill>
                  <a:srgbClr val="144272"/>
                </a:solidFill>
                <a:latin typeface="Calibri"/>
                <a:ea typeface="Calibri"/>
                <a:cs typeface="Calibri"/>
                <a:sym typeface="Calibri"/>
              </a:rPr>
              <a:t>4 chains  |  30,000 iter  |  Burn-in: 8,000  |  Thin by 5  →  4,400 saved / chain  |  Adaptive per-coordinate tuning (target: 20%–50%)</a:t>
            </a:r>
            <a:endParaRPr sz="1400" b="0" i="0" u="none" strike="noStrike" cap="none">
              <a:solidFill>
                <a:schemeClr val="dk1"/>
              </a:solidFill>
              <a:latin typeface="Calibri"/>
              <a:ea typeface="Calibri"/>
              <a:cs typeface="Calibri"/>
              <a:sym typeface="Calibri"/>
            </a:endParaRPr>
          </a:p>
        </p:txBody>
      </p:sp>
      <p:sp>
        <p:nvSpPr>
          <p:cNvPr id="476" name="Google Shape;476;g3d18d3d8234_1_277"/>
          <p:cNvSpPr txBox="1"/>
          <p:nvPr/>
        </p:nvSpPr>
        <p:spPr>
          <a:xfrm>
            <a:off x="7247478" y="2585550"/>
            <a:ext cx="4334700" cy="275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b="1">
                <a:solidFill>
                  <a:schemeClr val="dk1"/>
                </a:solidFill>
                <a:latin typeface="Calibri"/>
                <a:ea typeface="Calibri"/>
                <a:cs typeface="Calibri"/>
                <a:sym typeface="Calibri"/>
              </a:rPr>
              <a:t>Parameters shown: </a:t>
            </a:r>
            <a:endParaRPr sz="1900" b="1">
              <a:solidFill>
                <a:schemeClr val="dk1"/>
              </a:solidFill>
              <a:latin typeface="Calibri"/>
              <a:ea typeface="Calibri"/>
              <a:cs typeface="Calibri"/>
              <a:sym typeface="Calibri"/>
            </a:endParaRPr>
          </a:p>
          <a:p>
            <a:pPr marL="0" lvl="0" indent="0" algn="l" rtl="0">
              <a:spcBef>
                <a:spcPts val="0"/>
              </a:spcBef>
              <a:spcAft>
                <a:spcPts val="0"/>
              </a:spcAft>
              <a:buNone/>
            </a:pPr>
            <a:endParaRPr sz="1900">
              <a:solidFill>
                <a:schemeClr val="dk1"/>
              </a:solidFill>
              <a:latin typeface="Calibri"/>
              <a:ea typeface="Calibri"/>
              <a:cs typeface="Calibri"/>
              <a:sym typeface="Calibri"/>
            </a:endParaRPr>
          </a:p>
          <a:p>
            <a:pPr marL="0" lvl="0" indent="457200" algn="l" rtl="0">
              <a:spcBef>
                <a:spcPts val="0"/>
              </a:spcBef>
              <a:spcAft>
                <a:spcPts val="0"/>
              </a:spcAft>
              <a:buNone/>
            </a:pPr>
            <a:r>
              <a:rPr lang="en-US" sz="1900">
                <a:solidFill>
                  <a:schemeClr val="dk1"/>
                </a:solidFill>
                <a:latin typeface="Calibri"/>
                <a:ea typeface="Calibri"/>
                <a:cs typeface="Calibri"/>
                <a:sym typeface="Calibri"/>
              </a:rPr>
              <a:t>α (intercept, ESS=306), </a:t>
            </a:r>
            <a:endParaRPr sz="1900">
              <a:solidFill>
                <a:schemeClr val="dk1"/>
              </a:solidFill>
              <a:latin typeface="Calibri"/>
              <a:ea typeface="Calibri"/>
              <a:cs typeface="Calibri"/>
              <a:sym typeface="Calibri"/>
            </a:endParaRPr>
          </a:p>
          <a:p>
            <a:pPr marL="0" lvl="0" indent="0" algn="l" rtl="0">
              <a:spcBef>
                <a:spcPts val="0"/>
              </a:spcBef>
              <a:spcAft>
                <a:spcPts val="0"/>
              </a:spcAft>
              <a:buNone/>
            </a:pPr>
            <a:endParaRPr sz="1000">
              <a:solidFill>
                <a:schemeClr val="dk1"/>
              </a:solidFill>
              <a:latin typeface="Calibri"/>
              <a:ea typeface="Calibri"/>
              <a:cs typeface="Calibri"/>
              <a:sym typeface="Calibri"/>
            </a:endParaRPr>
          </a:p>
          <a:p>
            <a:pPr marL="0" lvl="0" indent="457200" algn="l" rtl="0">
              <a:spcBef>
                <a:spcPts val="0"/>
              </a:spcBef>
              <a:spcAft>
                <a:spcPts val="0"/>
              </a:spcAft>
              <a:buNone/>
            </a:pPr>
            <a:r>
              <a:rPr lang="en-US" sz="1900">
                <a:solidFill>
                  <a:schemeClr val="dk1"/>
                </a:solidFill>
                <a:latin typeface="Calibri"/>
                <a:ea typeface="Calibri"/>
                <a:cs typeface="Calibri"/>
                <a:sym typeface="Calibri"/>
              </a:rPr>
              <a:t>β₀ (time_in_hospital, ESS=2035), </a:t>
            </a:r>
            <a:endParaRPr sz="1900">
              <a:solidFill>
                <a:schemeClr val="dk1"/>
              </a:solidFill>
              <a:latin typeface="Calibri"/>
              <a:ea typeface="Calibri"/>
              <a:cs typeface="Calibri"/>
              <a:sym typeface="Calibri"/>
            </a:endParaRPr>
          </a:p>
          <a:p>
            <a:pPr marL="0" lvl="0" indent="0" algn="l" rtl="0">
              <a:spcBef>
                <a:spcPts val="0"/>
              </a:spcBef>
              <a:spcAft>
                <a:spcPts val="0"/>
              </a:spcAft>
              <a:buNone/>
            </a:pPr>
            <a:endParaRPr sz="1000">
              <a:solidFill>
                <a:schemeClr val="dk1"/>
              </a:solidFill>
              <a:latin typeface="Calibri"/>
              <a:ea typeface="Calibri"/>
              <a:cs typeface="Calibri"/>
              <a:sym typeface="Calibri"/>
            </a:endParaRPr>
          </a:p>
          <a:p>
            <a:pPr marL="0" lvl="0" indent="457200" algn="l" rtl="0">
              <a:spcBef>
                <a:spcPts val="0"/>
              </a:spcBef>
              <a:spcAft>
                <a:spcPts val="0"/>
              </a:spcAft>
              <a:buNone/>
            </a:pPr>
            <a:r>
              <a:rPr lang="en-US" sz="1900">
                <a:solidFill>
                  <a:schemeClr val="dk1"/>
                </a:solidFill>
                <a:latin typeface="Calibri"/>
                <a:ea typeface="Calibri"/>
                <a:cs typeface="Calibri"/>
                <a:sym typeface="Calibri"/>
              </a:rPr>
              <a:t>β₂₁ (diag1_Injury, ESS=393), </a:t>
            </a:r>
            <a:endParaRPr sz="1900">
              <a:solidFill>
                <a:schemeClr val="dk1"/>
              </a:solidFill>
              <a:latin typeface="Calibri"/>
              <a:ea typeface="Calibri"/>
              <a:cs typeface="Calibri"/>
              <a:sym typeface="Calibri"/>
            </a:endParaRPr>
          </a:p>
          <a:p>
            <a:pPr marL="0" lvl="0" indent="0" algn="l" rtl="0">
              <a:spcBef>
                <a:spcPts val="0"/>
              </a:spcBef>
              <a:spcAft>
                <a:spcPts val="0"/>
              </a:spcAft>
              <a:buNone/>
            </a:pPr>
            <a:endParaRPr sz="1000">
              <a:solidFill>
                <a:schemeClr val="dk1"/>
              </a:solidFill>
              <a:latin typeface="Calibri"/>
              <a:ea typeface="Calibri"/>
              <a:cs typeface="Calibri"/>
              <a:sym typeface="Calibri"/>
            </a:endParaRPr>
          </a:p>
          <a:p>
            <a:pPr marL="0" lvl="0" indent="457200" algn="l" rtl="0">
              <a:spcBef>
                <a:spcPts val="0"/>
              </a:spcBef>
              <a:spcAft>
                <a:spcPts val="0"/>
              </a:spcAft>
              <a:buNone/>
            </a:pPr>
            <a:r>
              <a:rPr lang="en-US" sz="1900">
                <a:solidFill>
                  <a:schemeClr val="dk1"/>
                </a:solidFill>
                <a:latin typeface="Calibri"/>
                <a:ea typeface="Calibri"/>
                <a:cs typeface="Calibri"/>
                <a:sym typeface="Calibri"/>
              </a:rPr>
              <a:t>β₄₂ (glu_level, ESS=458)</a:t>
            </a:r>
            <a:endParaRPr sz="1900">
              <a:solidFill>
                <a:schemeClr val="dk1"/>
              </a:solidFill>
              <a:latin typeface="Calibri"/>
              <a:ea typeface="Calibri"/>
              <a:cs typeface="Calibri"/>
              <a:sym typeface="Calibri"/>
            </a:endParaRPr>
          </a:p>
        </p:txBody>
      </p:sp>
      <p:pic>
        <p:nvPicPr>
          <p:cNvPr id="477" name="Google Shape;477;g3d18d3d8234_1_277"/>
          <p:cNvPicPr preferRelativeResize="0"/>
          <p:nvPr/>
        </p:nvPicPr>
        <p:blipFill>
          <a:blip r:embed="rId3">
            <a:alphaModFix/>
          </a:blip>
          <a:stretch>
            <a:fillRect/>
          </a:stretch>
        </p:blipFill>
        <p:spPr>
          <a:xfrm>
            <a:off x="1354400" y="1782154"/>
            <a:ext cx="5333852" cy="44457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2"/>
        <p:cNvGrpSpPr/>
        <p:nvPr/>
      </p:nvGrpSpPr>
      <p:grpSpPr>
        <a:xfrm>
          <a:off x="0" y="0"/>
          <a:ext cx="0" cy="0"/>
          <a:chOff x="0" y="0"/>
          <a:chExt cx="0" cy="0"/>
        </a:xfrm>
      </p:grpSpPr>
      <p:sp>
        <p:nvSpPr>
          <p:cNvPr id="483" name="Google Shape;483;g3d18d3d8234_1_291"/>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4" name="Google Shape;484;g3d18d3d8234_1_291"/>
          <p:cNvSpPr/>
          <p:nvPr/>
        </p:nvSpPr>
        <p:spPr>
          <a:xfrm>
            <a:off x="609584" y="121920"/>
            <a:ext cx="10972500" cy="792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3200"/>
              <a:buFont typeface="Calibri"/>
              <a:buNone/>
            </a:pPr>
            <a:r>
              <a:rPr lang="en-US" sz="2800" b="1">
                <a:solidFill>
                  <a:srgbClr val="FFFFFF"/>
                </a:solidFill>
                <a:latin typeface="Calibri"/>
                <a:ea typeface="Calibri"/>
                <a:cs typeface="Calibri"/>
                <a:sym typeface="Calibri"/>
              </a:rPr>
              <a:t>Trace Plots — Hyperparameter τ &amp; Random Effects</a:t>
            </a:r>
            <a:endParaRPr sz="2800" b="1">
              <a:solidFill>
                <a:srgbClr val="FFFFFF"/>
              </a:solidFill>
              <a:latin typeface="Calibri"/>
              <a:ea typeface="Calibri"/>
              <a:cs typeface="Calibri"/>
              <a:sym typeface="Calibri"/>
            </a:endParaRPr>
          </a:p>
        </p:txBody>
      </p:sp>
      <p:sp>
        <p:nvSpPr>
          <p:cNvPr id="485" name="Google Shape;485;g3d18d3d8234_1_291"/>
          <p:cNvSpPr/>
          <p:nvPr/>
        </p:nvSpPr>
        <p:spPr>
          <a:xfrm>
            <a:off x="365750" y="1158240"/>
            <a:ext cx="11460000" cy="487500"/>
          </a:xfrm>
          <a:prstGeom prst="rect">
            <a:avLst/>
          </a:prstGeom>
          <a:solidFill>
            <a:srgbClr val="E8F4F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86" name="Google Shape;486;g3d18d3d8234_1_291"/>
          <p:cNvSpPr/>
          <p:nvPr/>
        </p:nvSpPr>
        <p:spPr>
          <a:xfrm>
            <a:off x="609584" y="1158240"/>
            <a:ext cx="10972500" cy="487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4272"/>
              </a:buClr>
              <a:buSzPts val="1400"/>
              <a:buFont typeface="Calibri"/>
              <a:buNone/>
            </a:pPr>
            <a:r>
              <a:rPr lang="en-US" sz="1400" b="0" i="0" u="none" strike="noStrike" cap="none">
                <a:solidFill>
                  <a:srgbClr val="144272"/>
                </a:solidFill>
                <a:latin typeface="Calibri"/>
                <a:ea typeface="Calibri"/>
                <a:cs typeface="Calibri"/>
                <a:sym typeface="Calibri"/>
              </a:rPr>
              <a:t>All 4 chains overlap and mix well  |  Autocorrelation decays to near zero within 20–50 lags for most parameters</a:t>
            </a:r>
            <a:endParaRPr sz="1400" b="0" i="0" u="none" strike="noStrike" cap="none">
              <a:solidFill>
                <a:schemeClr val="dk1"/>
              </a:solidFill>
              <a:latin typeface="Calibri"/>
              <a:ea typeface="Calibri"/>
              <a:cs typeface="Calibri"/>
              <a:sym typeface="Calibri"/>
            </a:endParaRPr>
          </a:p>
        </p:txBody>
      </p:sp>
      <p:pic>
        <p:nvPicPr>
          <p:cNvPr id="487" name="Google Shape;487;g3d18d3d8234_1_291"/>
          <p:cNvPicPr preferRelativeResize="0"/>
          <p:nvPr/>
        </p:nvPicPr>
        <p:blipFill>
          <a:blip r:embed="rId3">
            <a:alphaModFix/>
          </a:blip>
          <a:stretch>
            <a:fillRect/>
          </a:stretch>
        </p:blipFill>
        <p:spPr>
          <a:xfrm>
            <a:off x="1354400" y="1767500"/>
            <a:ext cx="5313357" cy="4480550"/>
          </a:xfrm>
          <a:prstGeom prst="rect">
            <a:avLst/>
          </a:prstGeom>
          <a:noFill/>
          <a:ln>
            <a:noFill/>
          </a:ln>
        </p:spPr>
      </p:pic>
      <p:sp>
        <p:nvSpPr>
          <p:cNvPr id="488" name="Google Shape;488;g3d18d3d8234_1_291"/>
          <p:cNvSpPr txBox="1"/>
          <p:nvPr/>
        </p:nvSpPr>
        <p:spPr>
          <a:xfrm>
            <a:off x="7257150" y="2583875"/>
            <a:ext cx="4413600" cy="2693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b="1">
                <a:solidFill>
                  <a:schemeClr val="dk1"/>
                </a:solidFill>
                <a:latin typeface="Calibri"/>
                <a:ea typeface="Calibri"/>
                <a:cs typeface="Calibri"/>
                <a:sym typeface="Calibri"/>
              </a:rPr>
              <a:t>Parameters shown: </a:t>
            </a:r>
            <a:endParaRPr sz="1900" b="1">
              <a:solidFill>
                <a:schemeClr val="dk1"/>
              </a:solidFill>
              <a:latin typeface="Calibri"/>
              <a:ea typeface="Calibri"/>
              <a:cs typeface="Calibri"/>
              <a:sym typeface="Calibri"/>
            </a:endParaRPr>
          </a:p>
          <a:p>
            <a:pPr marL="0" lvl="0" indent="0" algn="l" rtl="0">
              <a:spcBef>
                <a:spcPts val="0"/>
              </a:spcBef>
              <a:spcAft>
                <a:spcPts val="0"/>
              </a:spcAft>
              <a:buNone/>
            </a:pPr>
            <a:endParaRPr sz="1900">
              <a:solidFill>
                <a:schemeClr val="dk1"/>
              </a:solidFill>
              <a:latin typeface="Calibri"/>
              <a:ea typeface="Calibri"/>
              <a:cs typeface="Calibri"/>
              <a:sym typeface="Calibri"/>
            </a:endParaRPr>
          </a:p>
          <a:p>
            <a:pPr marL="0" lvl="0" indent="457200" algn="l" rtl="0">
              <a:spcBef>
                <a:spcPts val="0"/>
              </a:spcBef>
              <a:spcAft>
                <a:spcPts val="0"/>
              </a:spcAft>
              <a:buNone/>
            </a:pPr>
            <a:r>
              <a:rPr lang="en-US" sz="1900">
                <a:solidFill>
                  <a:schemeClr val="dk1"/>
                </a:solidFill>
                <a:latin typeface="Calibri"/>
                <a:ea typeface="Calibri"/>
                <a:cs typeface="Calibri"/>
                <a:sym typeface="Calibri"/>
              </a:rPr>
              <a:t>τ (ESS=2412, R̂=1.000), </a:t>
            </a:r>
            <a:endParaRPr sz="1900">
              <a:solidFill>
                <a:schemeClr val="dk1"/>
              </a:solidFill>
              <a:latin typeface="Calibri"/>
              <a:ea typeface="Calibri"/>
              <a:cs typeface="Calibri"/>
              <a:sym typeface="Calibri"/>
            </a:endParaRPr>
          </a:p>
          <a:p>
            <a:pPr marL="0" lvl="0" indent="0" algn="l" rtl="0">
              <a:spcBef>
                <a:spcPts val="0"/>
              </a:spcBef>
              <a:spcAft>
                <a:spcPts val="0"/>
              </a:spcAft>
              <a:buNone/>
            </a:pPr>
            <a:endParaRPr sz="1000">
              <a:solidFill>
                <a:schemeClr val="dk1"/>
              </a:solidFill>
              <a:latin typeface="Calibri"/>
              <a:ea typeface="Calibri"/>
              <a:cs typeface="Calibri"/>
              <a:sym typeface="Calibri"/>
            </a:endParaRPr>
          </a:p>
          <a:p>
            <a:pPr marL="0" lvl="0" indent="457200" algn="l" rtl="0">
              <a:spcBef>
                <a:spcPts val="0"/>
              </a:spcBef>
              <a:spcAft>
                <a:spcPts val="0"/>
              </a:spcAft>
              <a:buNone/>
            </a:pPr>
            <a:r>
              <a:rPr lang="en-US" sz="1900">
                <a:solidFill>
                  <a:schemeClr val="dk1"/>
                </a:solidFill>
                <a:latin typeface="Calibri"/>
                <a:ea typeface="Calibri"/>
                <a:cs typeface="Calibri"/>
                <a:sym typeface="Calibri"/>
              </a:rPr>
              <a:t>u₀ Cardiology (ESS=3490), </a:t>
            </a:r>
            <a:endParaRPr sz="1900">
              <a:solidFill>
                <a:schemeClr val="dk1"/>
              </a:solidFill>
              <a:latin typeface="Calibri"/>
              <a:ea typeface="Calibri"/>
              <a:cs typeface="Calibri"/>
              <a:sym typeface="Calibri"/>
            </a:endParaRPr>
          </a:p>
          <a:p>
            <a:pPr marL="0" lvl="0" indent="0" algn="l" rtl="0">
              <a:spcBef>
                <a:spcPts val="0"/>
              </a:spcBef>
              <a:spcAft>
                <a:spcPts val="0"/>
              </a:spcAft>
              <a:buNone/>
            </a:pPr>
            <a:endParaRPr sz="1000">
              <a:solidFill>
                <a:schemeClr val="dk1"/>
              </a:solidFill>
              <a:latin typeface="Calibri"/>
              <a:ea typeface="Calibri"/>
              <a:cs typeface="Calibri"/>
              <a:sym typeface="Calibri"/>
            </a:endParaRPr>
          </a:p>
          <a:p>
            <a:pPr marL="0" lvl="0" indent="457200" algn="l" rtl="0">
              <a:spcBef>
                <a:spcPts val="0"/>
              </a:spcBef>
              <a:spcAft>
                <a:spcPts val="0"/>
              </a:spcAft>
              <a:buNone/>
            </a:pPr>
            <a:r>
              <a:rPr lang="en-US" sz="1900">
                <a:solidFill>
                  <a:schemeClr val="dk1"/>
                </a:solidFill>
                <a:latin typeface="Calibri"/>
                <a:ea typeface="Calibri"/>
                <a:cs typeface="Calibri"/>
                <a:sym typeface="Calibri"/>
              </a:rPr>
              <a:t>u₉ Other (ESS=4118), </a:t>
            </a:r>
            <a:endParaRPr sz="1900">
              <a:solidFill>
                <a:schemeClr val="dk1"/>
              </a:solidFill>
              <a:latin typeface="Calibri"/>
              <a:ea typeface="Calibri"/>
              <a:cs typeface="Calibri"/>
              <a:sym typeface="Calibri"/>
            </a:endParaRPr>
          </a:p>
          <a:p>
            <a:pPr marL="0" lvl="0" indent="0" algn="l" rtl="0">
              <a:spcBef>
                <a:spcPts val="0"/>
              </a:spcBef>
              <a:spcAft>
                <a:spcPts val="0"/>
              </a:spcAft>
              <a:buNone/>
            </a:pPr>
            <a:endParaRPr sz="1000">
              <a:solidFill>
                <a:schemeClr val="dk1"/>
              </a:solidFill>
              <a:latin typeface="Calibri"/>
              <a:ea typeface="Calibri"/>
              <a:cs typeface="Calibri"/>
              <a:sym typeface="Calibri"/>
            </a:endParaRPr>
          </a:p>
          <a:p>
            <a:pPr marL="0" lvl="0" indent="457200" algn="l" rtl="0">
              <a:spcBef>
                <a:spcPts val="0"/>
              </a:spcBef>
              <a:spcAft>
                <a:spcPts val="0"/>
              </a:spcAft>
              <a:buClr>
                <a:srgbClr val="718096"/>
              </a:buClr>
              <a:buSzPts val="1200"/>
              <a:buFont typeface="Calibri"/>
              <a:buNone/>
            </a:pPr>
            <a:r>
              <a:rPr lang="en-US" sz="1900">
                <a:solidFill>
                  <a:schemeClr val="dk1"/>
                </a:solidFill>
                <a:latin typeface="Calibri"/>
                <a:ea typeface="Calibri"/>
                <a:cs typeface="Calibri"/>
                <a:sym typeface="Calibri"/>
              </a:rPr>
              <a:t>u₁₈ Urology (ESS=3245)</a:t>
            </a:r>
            <a:endParaRPr sz="1900">
              <a:solidFill>
                <a:schemeClr val="dk1"/>
              </a:solidFill>
              <a:latin typeface="Calibri"/>
              <a:ea typeface="Calibri"/>
              <a:cs typeface="Calibri"/>
              <a:sym typeface="Calibri"/>
            </a:endParaRPr>
          </a:p>
          <a:p>
            <a:pPr marL="0" lvl="0" indent="0" algn="l" rtl="0">
              <a:spcBef>
                <a:spcPts val="0"/>
              </a:spcBef>
              <a:spcAft>
                <a:spcPts val="0"/>
              </a:spcAft>
              <a:buNone/>
            </a:pPr>
            <a:endParaRPr sz="19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g3d18d3d8234_0_764"/>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4" name="Google Shape;494;g3d18d3d8234_0_764"/>
          <p:cNvSpPr txBox="1"/>
          <p:nvPr/>
        </p:nvSpPr>
        <p:spPr>
          <a:xfrm>
            <a:off x="548640" y="137160"/>
            <a:ext cx="10972800" cy="523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SzPts val="2600"/>
              <a:buNone/>
            </a:pPr>
            <a:r>
              <a:rPr lang="en-US" sz="2800" b="1">
                <a:solidFill>
                  <a:srgbClr val="FFFFFF"/>
                </a:solidFill>
                <a:latin typeface="Calibri"/>
                <a:ea typeface="Calibri"/>
                <a:cs typeface="Calibri"/>
                <a:sym typeface="Calibri"/>
              </a:rPr>
              <a:t>Effective Sample Size &amp; Split-R̂</a:t>
            </a:r>
            <a:endParaRPr sz="2800" b="1">
              <a:solidFill>
                <a:schemeClr val="lt1"/>
              </a:solidFill>
              <a:latin typeface="Calibri"/>
              <a:ea typeface="Calibri"/>
              <a:cs typeface="Calibri"/>
              <a:sym typeface="Calibri"/>
            </a:endParaRPr>
          </a:p>
        </p:txBody>
      </p:sp>
      <p:graphicFrame>
        <p:nvGraphicFramePr>
          <p:cNvPr id="495" name="Google Shape;495;g3d18d3d8234_0_764"/>
          <p:cNvGraphicFramePr/>
          <p:nvPr/>
        </p:nvGraphicFramePr>
        <p:xfrm>
          <a:off x="2205843" y="1555070"/>
          <a:ext cx="7780025" cy="2057375"/>
        </p:xfrm>
        <a:graphic>
          <a:graphicData uri="http://schemas.openxmlformats.org/drawingml/2006/table">
            <a:tbl>
              <a:tblPr>
                <a:noFill/>
                <a:tableStyleId>{B8369FA3-FD99-444F-81C0-7513499D8BCF}</a:tableStyleId>
              </a:tblPr>
              <a:tblGrid>
                <a:gridCol w="2528775">
                  <a:extLst>
                    <a:ext uri="{9D8B030D-6E8A-4147-A177-3AD203B41FA5}">
                      <a16:colId xmlns:a16="http://schemas.microsoft.com/office/drawing/2014/main" val="20000"/>
                    </a:ext>
                  </a:extLst>
                </a:gridCol>
                <a:gridCol w="1196275">
                  <a:extLst>
                    <a:ext uri="{9D8B030D-6E8A-4147-A177-3AD203B41FA5}">
                      <a16:colId xmlns:a16="http://schemas.microsoft.com/office/drawing/2014/main" val="20001"/>
                    </a:ext>
                  </a:extLst>
                </a:gridCol>
                <a:gridCol w="1385375">
                  <a:extLst>
                    <a:ext uri="{9D8B030D-6E8A-4147-A177-3AD203B41FA5}">
                      <a16:colId xmlns:a16="http://schemas.microsoft.com/office/drawing/2014/main" val="20002"/>
                    </a:ext>
                  </a:extLst>
                </a:gridCol>
                <a:gridCol w="1152325">
                  <a:extLst>
                    <a:ext uri="{9D8B030D-6E8A-4147-A177-3AD203B41FA5}">
                      <a16:colId xmlns:a16="http://schemas.microsoft.com/office/drawing/2014/main" val="20003"/>
                    </a:ext>
                  </a:extLst>
                </a:gridCol>
                <a:gridCol w="1517275">
                  <a:extLst>
                    <a:ext uri="{9D8B030D-6E8A-4147-A177-3AD203B41FA5}">
                      <a16:colId xmlns:a16="http://schemas.microsoft.com/office/drawing/2014/main" val="20004"/>
                    </a:ext>
                  </a:extLst>
                </a:gridCol>
              </a:tblGrid>
              <a:tr h="411475">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chemeClr val="lt1"/>
                          </a:solidFill>
                          <a:latin typeface="Calibri"/>
                          <a:ea typeface="Calibri"/>
                          <a:cs typeface="Calibri"/>
                          <a:sym typeface="Calibri"/>
                        </a:rPr>
                        <a:t>Parameter Block</a:t>
                      </a:r>
                      <a:endParaRPr sz="1800">
                        <a:solidFill>
                          <a:schemeClr val="lt1"/>
                        </a:solidFill>
                        <a:latin typeface="Calibri"/>
                        <a:ea typeface="Calibri"/>
                        <a:cs typeface="Calibri"/>
                        <a:sym typeface="Calibri"/>
                      </a:endParaRPr>
                    </a:p>
                  </a:txBody>
                  <a:tcPr marL="91450" marR="91450" marT="45725" marB="45725" anchor="ctr">
                    <a:lnL w="9525" cap="flat" cmpd="sng">
                      <a:solidFill>
                        <a:srgbClr val="233E6B"/>
                      </a:solidFill>
                      <a:prstDash val="solid"/>
                      <a:round/>
                      <a:headEnd type="none" w="sm" len="sm"/>
                      <a:tailEnd type="none" w="sm" len="sm"/>
                    </a:lnL>
                    <a:lnR w="9525" cap="flat" cmpd="sng">
                      <a:solidFill>
                        <a:srgbClr val="233E6B"/>
                      </a:solidFill>
                      <a:prstDash val="solid"/>
                      <a:round/>
                      <a:headEnd type="none" w="sm" len="sm"/>
                      <a:tailEnd type="none" w="sm" len="sm"/>
                    </a:lnR>
                    <a:lnT w="9525" cap="flat" cmpd="sng">
                      <a:solidFill>
                        <a:srgbClr val="233E6B"/>
                      </a:solidFill>
                      <a:prstDash val="solid"/>
                      <a:round/>
                      <a:headEnd type="none" w="sm" len="sm"/>
                      <a:tailEnd type="none" w="sm" len="sm"/>
                    </a:lnT>
                    <a:lnB w="9525" cap="flat" cmpd="sng">
                      <a:solidFill>
                        <a:srgbClr val="233E6B"/>
                      </a:solidFill>
                      <a:prstDash val="solid"/>
                      <a:round/>
                      <a:headEnd type="none" w="sm" len="sm"/>
                      <a:tailEnd type="none" w="sm" len="sm"/>
                    </a:lnB>
                    <a:solidFill>
                      <a:srgbClr val="233E6B"/>
                    </a:solidFill>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chemeClr val="lt1"/>
                          </a:solidFill>
                          <a:latin typeface="Calibri"/>
                          <a:ea typeface="Calibri"/>
                          <a:cs typeface="Calibri"/>
                          <a:sym typeface="Calibri"/>
                        </a:rPr>
                        <a:t>Min ESS</a:t>
                      </a:r>
                      <a:endParaRPr sz="1800">
                        <a:solidFill>
                          <a:schemeClr val="lt1"/>
                        </a:solidFill>
                        <a:latin typeface="Calibri"/>
                        <a:ea typeface="Calibri"/>
                        <a:cs typeface="Calibri"/>
                        <a:sym typeface="Calibri"/>
                      </a:endParaRPr>
                    </a:p>
                  </a:txBody>
                  <a:tcPr marL="91450" marR="91450" marT="45725" marB="45725" anchor="ctr">
                    <a:lnL w="9525" cap="flat" cmpd="sng">
                      <a:solidFill>
                        <a:srgbClr val="233E6B"/>
                      </a:solidFill>
                      <a:prstDash val="solid"/>
                      <a:round/>
                      <a:headEnd type="none" w="sm" len="sm"/>
                      <a:tailEnd type="none" w="sm" len="sm"/>
                    </a:lnL>
                    <a:lnR w="9525" cap="flat" cmpd="sng">
                      <a:solidFill>
                        <a:srgbClr val="233E6B"/>
                      </a:solidFill>
                      <a:prstDash val="solid"/>
                      <a:round/>
                      <a:headEnd type="none" w="sm" len="sm"/>
                      <a:tailEnd type="none" w="sm" len="sm"/>
                    </a:lnR>
                    <a:lnT w="9525" cap="flat" cmpd="sng">
                      <a:solidFill>
                        <a:srgbClr val="233E6B"/>
                      </a:solidFill>
                      <a:prstDash val="solid"/>
                      <a:round/>
                      <a:headEnd type="none" w="sm" len="sm"/>
                      <a:tailEnd type="none" w="sm" len="sm"/>
                    </a:lnT>
                    <a:lnB w="9525" cap="flat" cmpd="sng">
                      <a:solidFill>
                        <a:srgbClr val="233E6B"/>
                      </a:solidFill>
                      <a:prstDash val="solid"/>
                      <a:round/>
                      <a:headEnd type="none" w="sm" len="sm"/>
                      <a:tailEnd type="none" w="sm" len="sm"/>
                    </a:lnB>
                    <a:solidFill>
                      <a:srgbClr val="233E6B"/>
                    </a:solidFill>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chemeClr val="lt1"/>
                          </a:solidFill>
                          <a:latin typeface="Calibri"/>
                          <a:ea typeface="Calibri"/>
                          <a:cs typeface="Calibri"/>
                          <a:sym typeface="Calibri"/>
                        </a:rPr>
                        <a:t>Median ESS</a:t>
                      </a:r>
                      <a:endParaRPr sz="1800">
                        <a:solidFill>
                          <a:schemeClr val="lt1"/>
                        </a:solidFill>
                        <a:latin typeface="Calibri"/>
                        <a:ea typeface="Calibri"/>
                        <a:cs typeface="Calibri"/>
                        <a:sym typeface="Calibri"/>
                      </a:endParaRPr>
                    </a:p>
                  </a:txBody>
                  <a:tcPr marL="91450" marR="91450" marT="45725" marB="45725" anchor="ctr">
                    <a:lnL w="9525" cap="flat" cmpd="sng">
                      <a:solidFill>
                        <a:srgbClr val="233E6B"/>
                      </a:solidFill>
                      <a:prstDash val="solid"/>
                      <a:round/>
                      <a:headEnd type="none" w="sm" len="sm"/>
                      <a:tailEnd type="none" w="sm" len="sm"/>
                    </a:lnL>
                    <a:lnR w="9525" cap="flat" cmpd="sng">
                      <a:solidFill>
                        <a:srgbClr val="233E6B"/>
                      </a:solidFill>
                      <a:prstDash val="solid"/>
                      <a:round/>
                      <a:headEnd type="none" w="sm" len="sm"/>
                      <a:tailEnd type="none" w="sm" len="sm"/>
                    </a:lnR>
                    <a:lnT w="9525" cap="flat" cmpd="sng">
                      <a:solidFill>
                        <a:srgbClr val="233E6B"/>
                      </a:solidFill>
                      <a:prstDash val="solid"/>
                      <a:round/>
                      <a:headEnd type="none" w="sm" len="sm"/>
                      <a:tailEnd type="none" w="sm" len="sm"/>
                    </a:lnT>
                    <a:lnB w="9525" cap="flat" cmpd="sng">
                      <a:solidFill>
                        <a:srgbClr val="233E6B"/>
                      </a:solidFill>
                      <a:prstDash val="solid"/>
                      <a:round/>
                      <a:headEnd type="none" w="sm" len="sm"/>
                      <a:tailEnd type="none" w="sm" len="sm"/>
                    </a:lnB>
                    <a:solidFill>
                      <a:srgbClr val="233E6B"/>
                    </a:solidFill>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chemeClr val="lt1"/>
                          </a:solidFill>
                          <a:latin typeface="Calibri"/>
                          <a:ea typeface="Calibri"/>
                          <a:cs typeface="Calibri"/>
                          <a:sym typeface="Calibri"/>
                        </a:rPr>
                        <a:t>Max R̂</a:t>
                      </a:r>
                      <a:endParaRPr sz="1800">
                        <a:solidFill>
                          <a:schemeClr val="lt1"/>
                        </a:solidFill>
                        <a:latin typeface="Calibri"/>
                        <a:ea typeface="Calibri"/>
                        <a:cs typeface="Calibri"/>
                        <a:sym typeface="Calibri"/>
                      </a:endParaRPr>
                    </a:p>
                  </a:txBody>
                  <a:tcPr marL="91450" marR="91450" marT="45725" marB="45725" anchor="ctr">
                    <a:lnL w="9525" cap="flat" cmpd="sng">
                      <a:solidFill>
                        <a:srgbClr val="233E6B"/>
                      </a:solidFill>
                      <a:prstDash val="solid"/>
                      <a:round/>
                      <a:headEnd type="none" w="sm" len="sm"/>
                      <a:tailEnd type="none" w="sm" len="sm"/>
                    </a:lnL>
                    <a:lnR w="9525" cap="flat" cmpd="sng">
                      <a:solidFill>
                        <a:srgbClr val="233E6B"/>
                      </a:solidFill>
                      <a:prstDash val="solid"/>
                      <a:round/>
                      <a:headEnd type="none" w="sm" len="sm"/>
                      <a:tailEnd type="none" w="sm" len="sm"/>
                    </a:lnR>
                    <a:lnT w="9525" cap="flat" cmpd="sng">
                      <a:solidFill>
                        <a:srgbClr val="233E6B"/>
                      </a:solidFill>
                      <a:prstDash val="solid"/>
                      <a:round/>
                      <a:headEnd type="none" w="sm" len="sm"/>
                      <a:tailEnd type="none" w="sm" len="sm"/>
                    </a:lnT>
                    <a:lnB w="9525" cap="flat" cmpd="sng">
                      <a:solidFill>
                        <a:srgbClr val="233E6B"/>
                      </a:solidFill>
                      <a:prstDash val="solid"/>
                      <a:round/>
                      <a:headEnd type="none" w="sm" len="sm"/>
                      <a:tailEnd type="none" w="sm" len="sm"/>
                    </a:lnB>
                    <a:solidFill>
                      <a:srgbClr val="233E6B"/>
                    </a:solidFill>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chemeClr val="lt1"/>
                          </a:solidFill>
                          <a:latin typeface="Calibri"/>
                          <a:ea typeface="Calibri"/>
                          <a:cs typeface="Calibri"/>
                          <a:sym typeface="Calibri"/>
                        </a:rPr>
                        <a:t>All R̂ &lt; 1.05?</a:t>
                      </a:r>
                      <a:endParaRPr sz="1800">
                        <a:solidFill>
                          <a:schemeClr val="lt1"/>
                        </a:solidFill>
                        <a:latin typeface="Calibri"/>
                        <a:ea typeface="Calibri"/>
                        <a:cs typeface="Calibri"/>
                        <a:sym typeface="Calibri"/>
                      </a:endParaRPr>
                    </a:p>
                  </a:txBody>
                  <a:tcPr marL="91450" marR="91450" marT="45725" marB="45725" anchor="ctr">
                    <a:lnL w="9525" cap="flat" cmpd="sng">
                      <a:solidFill>
                        <a:srgbClr val="233E6B"/>
                      </a:solidFill>
                      <a:prstDash val="solid"/>
                      <a:round/>
                      <a:headEnd type="none" w="sm" len="sm"/>
                      <a:tailEnd type="none" w="sm" len="sm"/>
                    </a:lnL>
                    <a:lnR w="9525" cap="flat" cmpd="sng">
                      <a:solidFill>
                        <a:srgbClr val="233E6B"/>
                      </a:solidFill>
                      <a:prstDash val="solid"/>
                      <a:round/>
                      <a:headEnd type="none" w="sm" len="sm"/>
                      <a:tailEnd type="none" w="sm" len="sm"/>
                    </a:lnR>
                    <a:lnT w="9525" cap="flat" cmpd="sng">
                      <a:solidFill>
                        <a:srgbClr val="233E6B"/>
                      </a:solidFill>
                      <a:prstDash val="solid"/>
                      <a:round/>
                      <a:headEnd type="none" w="sm" len="sm"/>
                      <a:tailEnd type="none" w="sm" len="sm"/>
                    </a:lnT>
                    <a:lnB w="9525" cap="flat" cmpd="sng">
                      <a:solidFill>
                        <a:srgbClr val="233E6B"/>
                      </a:solidFill>
                      <a:prstDash val="solid"/>
                      <a:round/>
                      <a:headEnd type="none" w="sm" len="sm"/>
                      <a:tailEnd type="none" w="sm" len="sm"/>
                    </a:lnB>
                    <a:solidFill>
                      <a:srgbClr val="233E6B"/>
                    </a:solidFill>
                  </a:tcPr>
                </a:tc>
                <a:extLst>
                  <a:ext uri="{0D108BD9-81ED-4DB2-BD59-A6C34878D82A}">
                    <a16:rowId xmlns:a16="http://schemas.microsoft.com/office/drawing/2014/main" val="10000"/>
                  </a:ext>
                </a:extLst>
              </a:tr>
              <a:tr h="411475">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α (intercept)</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233E6B"/>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245</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233E6B"/>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306</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233E6B"/>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1.007</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233E6B"/>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 Yes</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233E6B"/>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1"/>
                  </a:ext>
                </a:extLst>
              </a:tr>
              <a:tr h="411475">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β (43 fixed effects)</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118</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866</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1.013</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 Yes</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2"/>
                  </a:ext>
                </a:extLst>
              </a:tr>
              <a:tr h="411475">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τ (between-group SD)</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2,286</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2,412</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1.000</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 Yes</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3"/>
                  </a:ext>
                </a:extLst>
              </a:tr>
              <a:tr h="411475">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u (19 random intercepts)</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1,593</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3,490</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1.001</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lnSpc>
                          <a:spcPct val="80000"/>
                        </a:lnSpc>
                        <a:spcBef>
                          <a:spcPts val="0"/>
                        </a:spcBef>
                        <a:spcAft>
                          <a:spcPts val="0"/>
                        </a:spcAft>
                        <a:buClr>
                          <a:srgbClr val="1E293B"/>
                        </a:buClr>
                        <a:buSzPts val="1300"/>
                        <a:buFont typeface="Calibri"/>
                        <a:buNone/>
                      </a:pPr>
                      <a:r>
                        <a:rPr lang="en-US" sz="1800">
                          <a:solidFill>
                            <a:srgbClr val="1E293B"/>
                          </a:solidFill>
                          <a:latin typeface="Calibri"/>
                          <a:ea typeface="Calibri"/>
                          <a:cs typeface="Calibri"/>
                          <a:sym typeface="Calibri"/>
                        </a:rPr>
                        <a:t>✓ Yes</a:t>
                      </a:r>
                      <a:endParaRPr sz="1800">
                        <a:solidFill>
                          <a:srgbClr val="1E293B"/>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496" name="Google Shape;496;g3d18d3d8234_0_764"/>
          <p:cNvSpPr txBox="1"/>
          <p:nvPr/>
        </p:nvSpPr>
        <p:spPr>
          <a:xfrm>
            <a:off x="1295275" y="3894275"/>
            <a:ext cx="9624600" cy="2447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900" b="1">
                <a:solidFill>
                  <a:schemeClr val="dk2"/>
                </a:solidFill>
                <a:latin typeface="Calibri"/>
                <a:ea typeface="Calibri"/>
                <a:cs typeface="Calibri"/>
                <a:sym typeface="Calibri"/>
              </a:rPr>
              <a:t>Interpretation</a:t>
            </a:r>
            <a:endParaRPr sz="1900">
              <a:solidFill>
                <a:srgbClr val="1E293B"/>
              </a:solidFill>
              <a:latin typeface="Calibri"/>
              <a:ea typeface="Calibri"/>
              <a:cs typeface="Calibri"/>
              <a:sym typeface="Calibri"/>
            </a:endParaRPr>
          </a:p>
          <a:p>
            <a:pPr marL="0" lvl="0" indent="0" algn="l" rtl="0">
              <a:spcBef>
                <a:spcPts val="0"/>
              </a:spcBef>
              <a:spcAft>
                <a:spcPts val="0"/>
              </a:spcAft>
              <a:buClr>
                <a:srgbClr val="1E293B"/>
              </a:buClr>
              <a:buSzPts val="1300"/>
              <a:buFont typeface="Calibri"/>
              <a:buNone/>
            </a:pPr>
            <a:r>
              <a:rPr lang="en-US" sz="1900">
                <a:solidFill>
                  <a:schemeClr val="dk1"/>
                </a:solidFill>
                <a:latin typeface="Calibri"/>
                <a:ea typeface="Calibri"/>
                <a:cs typeface="Calibri"/>
                <a:sym typeface="Calibri"/>
              </a:rPr>
              <a:t>All 64 parameters satisfy R̂ &lt; 1.05 (max = 1.013 for β₂₈), well below the conventional threshold.</a:t>
            </a:r>
            <a:endParaRPr sz="1900">
              <a:solidFill>
                <a:schemeClr val="dk1"/>
              </a:solidFill>
              <a:latin typeface="Calibri"/>
              <a:ea typeface="Calibri"/>
              <a:cs typeface="Calibri"/>
              <a:sym typeface="Calibri"/>
            </a:endParaRPr>
          </a:p>
          <a:p>
            <a:pPr marL="0" lvl="0" indent="0" algn="l" rtl="0">
              <a:spcBef>
                <a:spcPts val="0"/>
              </a:spcBef>
              <a:spcAft>
                <a:spcPts val="0"/>
              </a:spcAft>
              <a:buClr>
                <a:srgbClr val="1E293B"/>
              </a:buClr>
              <a:buSzPts val="1300"/>
              <a:buFont typeface="Calibri"/>
              <a:buNone/>
            </a:pPr>
            <a:endParaRPr sz="1000">
              <a:solidFill>
                <a:schemeClr val="dk1"/>
              </a:solidFill>
              <a:latin typeface="Calibri"/>
              <a:ea typeface="Calibri"/>
              <a:cs typeface="Calibri"/>
              <a:sym typeface="Calibri"/>
            </a:endParaRPr>
          </a:p>
          <a:p>
            <a:pPr marL="0" lvl="0" indent="0" algn="l" rtl="0">
              <a:spcBef>
                <a:spcPts val="0"/>
              </a:spcBef>
              <a:spcAft>
                <a:spcPts val="0"/>
              </a:spcAft>
              <a:buClr>
                <a:srgbClr val="1E293B"/>
              </a:buClr>
              <a:buSzPts val="1300"/>
              <a:buFont typeface="Calibri"/>
              <a:buNone/>
            </a:pPr>
            <a:r>
              <a:rPr lang="en-US" sz="1900">
                <a:solidFill>
                  <a:schemeClr val="dk1"/>
                </a:solidFill>
                <a:latin typeface="Calibri"/>
                <a:ea typeface="Calibri"/>
                <a:cs typeface="Calibri"/>
                <a:sym typeface="Calibri"/>
              </a:rPr>
              <a:t>All parameters have ESS &gt; 100; most exceed 500. The hyperparameter τ achieves ESS ≈ 2,412 with R̂ = 1.000, indicating excellent mixing for the key parameter of interest.</a:t>
            </a:r>
            <a:endParaRPr sz="1900">
              <a:solidFill>
                <a:schemeClr val="dk1"/>
              </a:solidFill>
              <a:latin typeface="Calibri"/>
              <a:ea typeface="Calibri"/>
              <a:cs typeface="Calibri"/>
              <a:sym typeface="Calibri"/>
            </a:endParaRPr>
          </a:p>
          <a:p>
            <a:pPr marL="0" lvl="0" indent="0" algn="l" rtl="0">
              <a:spcBef>
                <a:spcPts val="0"/>
              </a:spcBef>
              <a:spcAft>
                <a:spcPts val="0"/>
              </a:spcAft>
              <a:buClr>
                <a:srgbClr val="1E293B"/>
              </a:buClr>
              <a:buSzPts val="1300"/>
              <a:buFont typeface="Calibri"/>
              <a:buNone/>
            </a:pPr>
            <a:endParaRPr sz="1000">
              <a:solidFill>
                <a:schemeClr val="dk1"/>
              </a:solidFill>
              <a:latin typeface="Calibri"/>
              <a:ea typeface="Calibri"/>
              <a:cs typeface="Calibri"/>
              <a:sym typeface="Calibri"/>
            </a:endParaRPr>
          </a:p>
          <a:p>
            <a:pPr marL="0" lvl="0" indent="0" algn="l" rtl="0">
              <a:spcBef>
                <a:spcPts val="0"/>
              </a:spcBef>
              <a:spcAft>
                <a:spcPts val="0"/>
              </a:spcAft>
              <a:buClr>
                <a:srgbClr val="4A5568"/>
              </a:buClr>
              <a:buSzPts val="1200"/>
              <a:buFont typeface="Calibri"/>
              <a:buNone/>
            </a:pPr>
            <a:r>
              <a:rPr lang="en-US" sz="1900">
                <a:solidFill>
                  <a:schemeClr val="dk1"/>
                </a:solidFill>
                <a:latin typeface="Calibri"/>
                <a:ea typeface="Calibri"/>
                <a:cs typeface="Calibri"/>
                <a:sym typeface="Calibri"/>
              </a:rPr>
              <a:t>α has the lowest ESS (~306) due to the α–u ridge correlation, partially mitigated by the Block 5 translation move.</a:t>
            </a:r>
            <a:endParaRPr sz="19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900">
              <a:solidFill>
                <a:srgbClr val="1E293B"/>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22"/>
          <p:cNvSpPr/>
          <p:nvPr/>
        </p:nvSpPr>
        <p:spPr>
          <a:xfrm>
            <a:off x="0" y="0"/>
            <a:ext cx="12191695" cy="6858000"/>
          </a:xfrm>
          <a:prstGeom prst="rect">
            <a:avLst/>
          </a:prstGeom>
          <a:solidFill>
            <a:srgbClr val="233D6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2" name="Google Shape;502;p22"/>
          <p:cNvSpPr/>
          <p:nvPr/>
        </p:nvSpPr>
        <p:spPr>
          <a:xfrm>
            <a:off x="1371600" y="2834640"/>
            <a:ext cx="1828800" cy="54864"/>
          </a:xfrm>
          <a:prstGeom prst="rect">
            <a:avLst/>
          </a:prstGeom>
          <a:solidFill>
            <a:srgbClr val="3A7CA5"/>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3" name="Google Shape;503;p22"/>
          <p:cNvSpPr txBox="1"/>
          <p:nvPr/>
        </p:nvSpPr>
        <p:spPr>
          <a:xfrm>
            <a:off x="1371600" y="3108960"/>
            <a:ext cx="9144000" cy="109728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600" b="1" i="0" u="none" strike="noStrike" cap="none">
                <a:solidFill>
                  <a:srgbClr val="FFFFFF"/>
                </a:solidFill>
                <a:latin typeface="Calibri"/>
                <a:ea typeface="Calibri"/>
                <a:cs typeface="Calibri"/>
                <a:sym typeface="Calibri"/>
              </a:rPr>
              <a:t>Part 6</a:t>
            </a:r>
            <a:endParaRPr/>
          </a:p>
        </p:txBody>
      </p:sp>
      <p:sp>
        <p:nvSpPr>
          <p:cNvPr id="504" name="Google Shape;504;p22"/>
          <p:cNvSpPr txBox="1"/>
          <p:nvPr/>
        </p:nvSpPr>
        <p:spPr>
          <a:xfrm>
            <a:off x="1371600" y="4023360"/>
            <a:ext cx="91440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000" b="0" i="0" u="none" strike="noStrike" cap="none">
                <a:solidFill>
                  <a:srgbClr val="3A7CA5"/>
                </a:solidFill>
                <a:latin typeface="Calibri"/>
                <a:ea typeface="Calibri"/>
                <a:cs typeface="Calibri"/>
                <a:sym typeface="Calibri"/>
              </a:rPr>
              <a:t>Inferential Findings</a:t>
            </a:r>
            <a:endParaRPr sz="3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g3d18d3d8234_0_646"/>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0" name="Google Shape;510;g3d18d3d8234_0_646"/>
          <p:cNvSpPr txBox="1"/>
          <p:nvPr/>
        </p:nvSpPr>
        <p:spPr>
          <a:xfrm>
            <a:off x="548640" y="137160"/>
            <a:ext cx="109728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Fixed Effects — Key Predictors</a:t>
            </a:r>
            <a:endParaRPr/>
          </a:p>
        </p:txBody>
      </p:sp>
      <p:sp>
        <p:nvSpPr>
          <p:cNvPr id="511" name="Google Shape;511;g3d18d3d8234_0_646"/>
          <p:cNvSpPr txBox="1"/>
          <p:nvPr/>
        </p:nvSpPr>
        <p:spPr>
          <a:xfrm>
            <a:off x="548640" y="1097280"/>
            <a:ext cx="10972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800">
                <a:solidFill>
                  <a:srgbClr val="666666"/>
                </a:solidFill>
                <a:latin typeface="Calibri"/>
                <a:ea typeface="Calibri"/>
                <a:cs typeface="Calibri"/>
                <a:sym typeface="Calibri"/>
              </a:rPr>
              <a:t>Effects on log-odds scale</a:t>
            </a:r>
            <a:endParaRPr sz="1800">
              <a:solidFill>
                <a:srgbClr val="666666"/>
              </a:solidFill>
              <a:latin typeface="Calibri"/>
              <a:ea typeface="Calibri"/>
              <a:cs typeface="Calibri"/>
              <a:sym typeface="Calibri"/>
            </a:endParaRPr>
          </a:p>
        </p:txBody>
      </p:sp>
      <p:graphicFrame>
        <p:nvGraphicFramePr>
          <p:cNvPr id="512" name="Google Shape;512;g3d18d3d8234_0_646"/>
          <p:cNvGraphicFramePr/>
          <p:nvPr/>
        </p:nvGraphicFramePr>
        <p:xfrm>
          <a:off x="1450276" y="1771614"/>
          <a:ext cx="9099825" cy="2774936"/>
        </p:xfrm>
        <a:graphic>
          <a:graphicData uri="http://schemas.openxmlformats.org/drawingml/2006/table">
            <a:tbl>
              <a:tblPr>
                <a:noFill/>
                <a:tableStyleId>{B8369FA3-FD99-444F-81C0-7513499D8BCF}</a:tableStyleId>
              </a:tblPr>
              <a:tblGrid>
                <a:gridCol w="2649325">
                  <a:extLst>
                    <a:ext uri="{9D8B030D-6E8A-4147-A177-3AD203B41FA5}">
                      <a16:colId xmlns:a16="http://schemas.microsoft.com/office/drawing/2014/main" val="20000"/>
                    </a:ext>
                  </a:extLst>
                </a:gridCol>
                <a:gridCol w="1382250">
                  <a:extLst>
                    <a:ext uri="{9D8B030D-6E8A-4147-A177-3AD203B41FA5}">
                      <a16:colId xmlns:a16="http://schemas.microsoft.com/office/drawing/2014/main" val="20001"/>
                    </a:ext>
                  </a:extLst>
                </a:gridCol>
                <a:gridCol w="2073375">
                  <a:extLst>
                    <a:ext uri="{9D8B030D-6E8A-4147-A177-3AD203B41FA5}">
                      <a16:colId xmlns:a16="http://schemas.microsoft.com/office/drawing/2014/main" val="20002"/>
                    </a:ext>
                  </a:extLst>
                </a:gridCol>
                <a:gridCol w="921500">
                  <a:extLst>
                    <a:ext uri="{9D8B030D-6E8A-4147-A177-3AD203B41FA5}">
                      <a16:colId xmlns:a16="http://schemas.microsoft.com/office/drawing/2014/main" val="20003"/>
                    </a:ext>
                  </a:extLst>
                </a:gridCol>
                <a:gridCol w="2073375">
                  <a:extLst>
                    <a:ext uri="{9D8B030D-6E8A-4147-A177-3AD203B41FA5}">
                      <a16:colId xmlns:a16="http://schemas.microsoft.com/office/drawing/2014/main" val="20004"/>
                    </a:ext>
                  </a:extLst>
                </a:gridCol>
              </a:tblGrid>
              <a:tr h="343325">
                <a:tc>
                  <a:txBody>
                    <a:bodyPr/>
                    <a:lstStyle/>
                    <a:p>
                      <a:pPr marL="0" marR="0" lvl="0" indent="0" algn="l" rtl="0">
                        <a:lnSpc>
                          <a:spcPct val="80000"/>
                        </a:lnSpc>
                        <a:spcBef>
                          <a:spcPts val="0"/>
                        </a:spcBef>
                        <a:spcAft>
                          <a:spcPts val="0"/>
                        </a:spcAft>
                        <a:buClr>
                          <a:srgbClr val="FFFFFF"/>
                        </a:buClr>
                        <a:buSzPts val="1300"/>
                        <a:buFont typeface="Calibri"/>
                        <a:buNone/>
                      </a:pPr>
                      <a:r>
                        <a:rPr lang="en-US" sz="1800" b="1" u="none" strike="noStrike" cap="none">
                          <a:solidFill>
                            <a:srgbClr val="FFFFFF"/>
                          </a:solidFill>
                          <a:latin typeface="Calibri"/>
                          <a:ea typeface="Calibri"/>
                          <a:cs typeface="Calibri"/>
                          <a:sym typeface="Calibri"/>
                        </a:rPr>
                        <a:t>Variable</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1B2A4A"/>
                    </a:solidFill>
                  </a:tcPr>
                </a:tc>
                <a:tc>
                  <a:txBody>
                    <a:bodyPr/>
                    <a:lstStyle/>
                    <a:p>
                      <a:pPr marL="0" marR="0" lvl="0" indent="0" algn="ctr" rtl="0">
                        <a:lnSpc>
                          <a:spcPct val="80000"/>
                        </a:lnSpc>
                        <a:spcBef>
                          <a:spcPts val="0"/>
                        </a:spcBef>
                        <a:spcAft>
                          <a:spcPts val="0"/>
                        </a:spcAft>
                        <a:buClr>
                          <a:srgbClr val="FFFFFF"/>
                        </a:buClr>
                        <a:buSzPts val="1300"/>
                        <a:buFont typeface="Calibri"/>
                        <a:buNone/>
                      </a:pPr>
                      <a:r>
                        <a:rPr lang="en-US" sz="1800" b="1" u="none" strike="noStrike" cap="none">
                          <a:solidFill>
                            <a:srgbClr val="FFFFFF"/>
                          </a:solidFill>
                          <a:latin typeface="Calibri"/>
                          <a:ea typeface="Calibri"/>
                          <a:cs typeface="Calibri"/>
                          <a:sym typeface="Calibri"/>
                        </a:rPr>
                        <a:t>Post. Mean</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1B2A4A"/>
                    </a:solidFill>
                  </a:tcPr>
                </a:tc>
                <a:tc>
                  <a:txBody>
                    <a:bodyPr/>
                    <a:lstStyle/>
                    <a:p>
                      <a:pPr marL="0" marR="0" lvl="0" indent="0" algn="ctr" rtl="0">
                        <a:lnSpc>
                          <a:spcPct val="80000"/>
                        </a:lnSpc>
                        <a:spcBef>
                          <a:spcPts val="0"/>
                        </a:spcBef>
                        <a:spcAft>
                          <a:spcPts val="0"/>
                        </a:spcAft>
                        <a:buClr>
                          <a:srgbClr val="FFFFFF"/>
                        </a:buClr>
                        <a:buSzPts val="1300"/>
                        <a:buFont typeface="Calibri"/>
                        <a:buNone/>
                      </a:pPr>
                      <a:r>
                        <a:rPr lang="en-US" sz="1800" b="1" u="none" strike="noStrike" cap="none">
                          <a:solidFill>
                            <a:srgbClr val="FFFFFF"/>
                          </a:solidFill>
                          <a:latin typeface="Calibri"/>
                          <a:ea typeface="Calibri"/>
                          <a:cs typeface="Calibri"/>
                          <a:sym typeface="Calibri"/>
                        </a:rPr>
                        <a:t>95% CrI</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1B2A4A"/>
                    </a:solidFill>
                  </a:tcPr>
                </a:tc>
                <a:tc>
                  <a:txBody>
                    <a:bodyPr/>
                    <a:lstStyle/>
                    <a:p>
                      <a:pPr marL="0" marR="0" lvl="0" indent="0" algn="ctr" rtl="0">
                        <a:lnSpc>
                          <a:spcPct val="80000"/>
                        </a:lnSpc>
                        <a:spcBef>
                          <a:spcPts val="0"/>
                        </a:spcBef>
                        <a:spcAft>
                          <a:spcPts val="0"/>
                        </a:spcAft>
                        <a:buClr>
                          <a:srgbClr val="FFFFFF"/>
                        </a:buClr>
                        <a:buSzPts val="1300"/>
                        <a:buFont typeface="Calibri"/>
                        <a:buNone/>
                      </a:pPr>
                      <a:r>
                        <a:rPr lang="en-US" sz="1800" b="1" u="none" strike="noStrike" cap="none">
                          <a:solidFill>
                            <a:srgbClr val="FFFFFF"/>
                          </a:solidFill>
                          <a:latin typeface="Calibri"/>
                          <a:ea typeface="Calibri"/>
                          <a:cs typeface="Calibri"/>
                          <a:sym typeface="Calibri"/>
                        </a:rPr>
                        <a:t>OR</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1B2A4A"/>
                    </a:solidFill>
                  </a:tcPr>
                </a:tc>
                <a:tc>
                  <a:txBody>
                    <a:bodyPr/>
                    <a:lstStyle/>
                    <a:p>
                      <a:pPr marL="0" marR="0" lvl="0" indent="0" algn="ctr" rtl="0">
                        <a:lnSpc>
                          <a:spcPct val="80000"/>
                        </a:lnSpc>
                        <a:spcBef>
                          <a:spcPts val="0"/>
                        </a:spcBef>
                        <a:spcAft>
                          <a:spcPts val="0"/>
                        </a:spcAft>
                        <a:buClr>
                          <a:srgbClr val="FFFFFF"/>
                        </a:buClr>
                        <a:buSzPts val="1300"/>
                        <a:buFont typeface="Calibri"/>
                        <a:buNone/>
                      </a:pPr>
                      <a:r>
                        <a:rPr lang="en-US" sz="1800" b="1" u="none" strike="noStrike" cap="none">
                          <a:solidFill>
                            <a:srgbClr val="FFFFFF"/>
                          </a:solidFill>
                          <a:latin typeface="Calibri"/>
                          <a:ea typeface="Calibri"/>
                          <a:cs typeface="Calibri"/>
                          <a:sym typeface="Calibri"/>
                        </a:rPr>
                        <a:t>OR 95% CrI</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43325">
                <a:tc>
                  <a:txBody>
                    <a:bodyPr/>
                    <a:lstStyle/>
                    <a:p>
                      <a:pPr marL="0" marR="0" lvl="0" indent="0" algn="l"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No. prior inpatient (z)</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0.201</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[0.175, 0.227]</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DC2626"/>
                        </a:buClr>
                        <a:buSzPts val="1300"/>
                        <a:buFont typeface="Calibri"/>
                        <a:buNone/>
                      </a:pPr>
                      <a:r>
                        <a:rPr lang="en-US" sz="1800" b="1" u="none" strike="noStrike" cap="none">
                          <a:solidFill>
                            <a:schemeClr val="dk2"/>
                          </a:solidFill>
                          <a:latin typeface="Calibri"/>
                          <a:ea typeface="Calibri"/>
                          <a:cs typeface="Calibri"/>
                          <a:sym typeface="Calibri"/>
                        </a:rPr>
                        <a:t>1.22</a:t>
                      </a:r>
                      <a:endParaRPr sz="1800" u="none" strike="noStrike" cap="none">
                        <a:solidFill>
                          <a:schemeClr val="dk2"/>
                        </a:solidFill>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[1.19, 1.25]</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extLst>
                  <a:ext uri="{0D108BD9-81ED-4DB2-BD59-A6C34878D82A}">
                    <a16:rowId xmlns:a16="http://schemas.microsoft.com/office/drawing/2014/main" val="10001"/>
                  </a:ext>
                </a:extLst>
              </a:tr>
              <a:tr h="343325">
                <a:tc>
                  <a:txBody>
                    <a:bodyPr/>
                    <a:lstStyle/>
                    <a:p>
                      <a:pPr marL="0" marR="0" lvl="0" indent="0" algn="l"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Comorbid neoplasms</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0.415</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[0.198, 0.631]</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DC2626"/>
                        </a:buClr>
                        <a:buSzPts val="1300"/>
                        <a:buFont typeface="Calibri"/>
                        <a:buNone/>
                      </a:pPr>
                      <a:r>
                        <a:rPr lang="en-US" sz="1800" b="1" u="none" strike="noStrike" cap="none">
                          <a:solidFill>
                            <a:schemeClr val="dk2"/>
                          </a:solidFill>
                          <a:latin typeface="Calibri"/>
                          <a:ea typeface="Calibri"/>
                          <a:cs typeface="Calibri"/>
                          <a:sym typeface="Calibri"/>
                        </a:rPr>
                        <a:t>1.51</a:t>
                      </a:r>
                      <a:endParaRPr sz="1800" u="none" strike="noStrike" cap="none">
                        <a:solidFill>
                          <a:schemeClr val="dk2"/>
                        </a:solidFill>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[1.22, 1.88]</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extLst>
                  <a:ext uri="{0D108BD9-81ED-4DB2-BD59-A6C34878D82A}">
                    <a16:rowId xmlns:a16="http://schemas.microsoft.com/office/drawing/2014/main" val="10002"/>
                  </a:ext>
                </a:extLst>
              </a:tr>
              <a:tr h="343325">
                <a:tc>
                  <a:txBody>
                    <a:bodyPr/>
                    <a:lstStyle/>
                    <a:p>
                      <a:pPr marL="0" marR="0" lvl="0" indent="0" algn="l"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A1C measured</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0.352</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[0.154, 0.552]</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DC2626"/>
                        </a:buClr>
                        <a:buSzPts val="1300"/>
                        <a:buFont typeface="Calibri"/>
                        <a:buNone/>
                      </a:pPr>
                      <a:r>
                        <a:rPr lang="en-US" sz="1800" b="1" u="none" strike="noStrike" cap="none">
                          <a:solidFill>
                            <a:schemeClr val="dk2"/>
                          </a:solidFill>
                          <a:latin typeface="Calibri"/>
                          <a:ea typeface="Calibri"/>
                          <a:cs typeface="Calibri"/>
                          <a:sym typeface="Calibri"/>
                        </a:rPr>
                        <a:t>1.42</a:t>
                      </a:r>
                      <a:endParaRPr sz="1800" u="none" strike="noStrike" cap="none">
                        <a:solidFill>
                          <a:schemeClr val="dk2"/>
                        </a:solidFill>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[1.17, 1.74]</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extLst>
                  <a:ext uri="{0D108BD9-81ED-4DB2-BD59-A6C34878D82A}">
                    <a16:rowId xmlns:a16="http://schemas.microsoft.com/office/drawing/2014/main" val="10003"/>
                  </a:ext>
                </a:extLst>
              </a:tr>
              <a:tr h="343325">
                <a:tc>
                  <a:txBody>
                    <a:bodyPr/>
                    <a:lstStyle/>
                    <a:p>
                      <a:pPr marL="0" marR="0" lvl="0" indent="0" algn="l"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Diabetes medication</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0.168</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[0.057, 0.277]</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DC2626"/>
                        </a:buClr>
                        <a:buSzPts val="1300"/>
                        <a:buFont typeface="Calibri"/>
                        <a:buNone/>
                      </a:pPr>
                      <a:r>
                        <a:rPr lang="en-US" sz="1800" b="1" u="none" strike="noStrike" cap="none">
                          <a:solidFill>
                            <a:schemeClr val="dk2"/>
                          </a:solidFill>
                          <a:latin typeface="Calibri"/>
                          <a:ea typeface="Calibri"/>
                          <a:cs typeface="Calibri"/>
                          <a:sym typeface="Calibri"/>
                        </a:rPr>
                        <a:t>1.18</a:t>
                      </a:r>
                      <a:endParaRPr sz="1800" u="none" strike="noStrike" cap="none">
                        <a:solidFill>
                          <a:schemeClr val="dk2"/>
                        </a:solidFill>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[1.06, 1.32]</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extLst>
                  <a:ext uri="{0D108BD9-81ED-4DB2-BD59-A6C34878D82A}">
                    <a16:rowId xmlns:a16="http://schemas.microsoft.com/office/drawing/2014/main" val="10004"/>
                  </a:ext>
                </a:extLst>
              </a:tr>
              <a:tr h="343325">
                <a:tc>
                  <a:txBody>
                    <a:bodyPr/>
                    <a:lstStyle/>
                    <a:p>
                      <a:pPr marL="0" marR="0" lvl="0" indent="0" algn="l"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Age (z)</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0.165</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[0.123, 0.208]</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DC2626"/>
                        </a:buClr>
                        <a:buSzPts val="1300"/>
                        <a:buFont typeface="Calibri"/>
                        <a:buNone/>
                      </a:pPr>
                      <a:r>
                        <a:rPr lang="en-US" sz="1800" b="1" u="none" strike="noStrike" cap="none">
                          <a:solidFill>
                            <a:schemeClr val="dk2"/>
                          </a:solidFill>
                          <a:latin typeface="Calibri"/>
                          <a:ea typeface="Calibri"/>
                          <a:cs typeface="Calibri"/>
                          <a:sym typeface="Calibri"/>
                        </a:rPr>
                        <a:t>1.18</a:t>
                      </a:r>
                      <a:endParaRPr sz="1800" u="none" strike="noStrike" cap="none">
                        <a:solidFill>
                          <a:schemeClr val="dk2"/>
                        </a:solidFill>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[1.13, 1.23]</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extLst>
                  <a:ext uri="{0D108BD9-81ED-4DB2-BD59-A6C34878D82A}">
                    <a16:rowId xmlns:a16="http://schemas.microsoft.com/office/drawing/2014/main" val="10005"/>
                  </a:ext>
                </a:extLst>
              </a:tr>
              <a:tr h="343325">
                <a:tc>
                  <a:txBody>
                    <a:bodyPr/>
                    <a:lstStyle/>
                    <a:p>
                      <a:pPr marL="0" marR="0" lvl="0" indent="0" algn="l"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Diag: Neoplasms</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−0.507</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[−0.792, −0.217]</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059669"/>
                        </a:buClr>
                        <a:buSzPts val="1300"/>
                        <a:buFont typeface="Calibri"/>
                        <a:buNone/>
                      </a:pPr>
                      <a:r>
                        <a:rPr lang="en-US" sz="1800" b="1" u="none" strike="noStrike" cap="none">
                          <a:solidFill>
                            <a:srgbClr val="4A5568"/>
                          </a:solidFill>
                          <a:latin typeface="Calibri"/>
                          <a:ea typeface="Calibri"/>
                          <a:cs typeface="Calibri"/>
                          <a:sym typeface="Calibri"/>
                        </a:rPr>
                        <a:t>0.60</a:t>
                      </a:r>
                      <a:endParaRPr sz="1800" u="none" strike="noStrike" cap="none">
                        <a:solidFill>
                          <a:srgbClr val="4A5568"/>
                        </a:solidFill>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[0.45, 0.81]</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extLst>
                  <a:ext uri="{0D108BD9-81ED-4DB2-BD59-A6C34878D82A}">
                    <a16:rowId xmlns:a16="http://schemas.microsoft.com/office/drawing/2014/main" val="10006"/>
                  </a:ext>
                </a:extLst>
              </a:tr>
              <a:tr h="343325">
                <a:tc>
                  <a:txBody>
                    <a:bodyPr/>
                    <a:lstStyle/>
                    <a:p>
                      <a:pPr marL="0" marR="0" lvl="0" indent="0" algn="l"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Diag: Respiratory</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−0.360</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[−0.519, −0.200]</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059669"/>
                        </a:buClr>
                        <a:buSzPts val="1300"/>
                        <a:buFont typeface="Calibri"/>
                        <a:buNone/>
                      </a:pPr>
                      <a:r>
                        <a:rPr lang="en-US" sz="1800" b="1" u="none" strike="noStrike" cap="none">
                          <a:solidFill>
                            <a:srgbClr val="4A5568"/>
                          </a:solidFill>
                          <a:latin typeface="Calibri"/>
                          <a:ea typeface="Calibri"/>
                          <a:cs typeface="Calibri"/>
                          <a:sym typeface="Calibri"/>
                        </a:rPr>
                        <a:t>0.70</a:t>
                      </a:r>
                      <a:endParaRPr sz="1800" u="none" strike="noStrike" cap="none">
                        <a:solidFill>
                          <a:srgbClr val="4A5568"/>
                        </a:solidFill>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300"/>
                        <a:buFont typeface="Calibri"/>
                        <a:buNone/>
                      </a:pPr>
                      <a:r>
                        <a:rPr lang="en-US" sz="1800" u="none" strike="noStrike" cap="none">
                          <a:solidFill>
                            <a:srgbClr val="1E293B"/>
                          </a:solidFill>
                          <a:latin typeface="Calibri"/>
                          <a:ea typeface="Calibri"/>
                          <a:cs typeface="Calibri"/>
                          <a:sym typeface="Calibri"/>
                        </a:rPr>
                        <a:t>[0.59, 0.82]</a:t>
                      </a:r>
                      <a:endParaRPr sz="1800" u="none" strike="noStrike" cap="none">
                        <a:latin typeface="Calibri"/>
                        <a:ea typeface="Calibri"/>
                        <a:cs typeface="Calibri"/>
                        <a:sym typeface="Calibri"/>
                      </a:endParaRPr>
                    </a:p>
                  </a:txBody>
                  <a:tcPr marL="121925" marR="121925" marT="60975" marB="60975"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513" name="Google Shape;513;g3d18d3d8234_0_646"/>
          <p:cNvSpPr txBox="1"/>
          <p:nvPr/>
        </p:nvSpPr>
        <p:spPr>
          <a:xfrm>
            <a:off x="1295310" y="4890717"/>
            <a:ext cx="9601200" cy="12621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SzPts val="1100"/>
              <a:buNone/>
            </a:pPr>
            <a:r>
              <a:rPr lang="en-US" sz="1900" b="1">
                <a:solidFill>
                  <a:schemeClr val="dk2"/>
                </a:solidFill>
                <a:latin typeface="Calibri"/>
                <a:ea typeface="Calibri"/>
                <a:cs typeface="Calibri"/>
                <a:sym typeface="Calibri"/>
              </a:rPr>
              <a:t>Interpretation</a:t>
            </a:r>
            <a:endParaRPr sz="1900" b="1">
              <a:solidFill>
                <a:schemeClr val="dk2"/>
              </a:solidFill>
              <a:latin typeface="Calibri"/>
              <a:ea typeface="Calibri"/>
              <a:cs typeface="Calibri"/>
              <a:sym typeface="Calibri"/>
            </a:endParaRPr>
          </a:p>
          <a:p>
            <a:pPr marL="0" lvl="0" indent="0" algn="l" rtl="0">
              <a:spcBef>
                <a:spcPts val="0"/>
              </a:spcBef>
              <a:spcAft>
                <a:spcPts val="0"/>
              </a:spcAft>
              <a:buClr>
                <a:srgbClr val="2C74B3"/>
              </a:buClr>
              <a:buSzPts val="1100"/>
              <a:buFont typeface="Calibri"/>
              <a:buNone/>
            </a:pPr>
            <a:r>
              <a:rPr lang="en-US" sz="1900">
                <a:solidFill>
                  <a:srgbClr val="1E293B"/>
                </a:solidFill>
                <a:latin typeface="Calibri"/>
                <a:ea typeface="Calibri"/>
                <a:cs typeface="Calibri"/>
                <a:sym typeface="Calibri"/>
              </a:rPr>
              <a:t>Prior inpatient visits strongest predictor (OR=1.22/SD). Comorbid neoplasms highest OR (1.51). A1C measurement reflects severity, not causal testing effect. Sex, race, insulin not significant after adjustment.</a:t>
            </a:r>
            <a:endParaRPr sz="19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24"/>
          <p:cNvSpPr/>
          <p:nvPr/>
        </p:nvSpPr>
        <p:spPr>
          <a:xfrm>
            <a:off x="0" y="0"/>
            <a:ext cx="12191695" cy="1005840"/>
          </a:xfrm>
          <a:prstGeom prst="rect">
            <a:avLst/>
          </a:prstGeom>
          <a:solidFill>
            <a:srgbClr val="1B2A4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9" name="Google Shape;519;p24"/>
          <p:cNvSpPr txBox="1"/>
          <p:nvPr/>
        </p:nvSpPr>
        <p:spPr>
          <a:xfrm>
            <a:off x="548640" y="137160"/>
            <a:ext cx="109728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Specialty Random Effects &amp; Shrinkage</a:t>
            </a:r>
            <a:endParaRPr/>
          </a:p>
        </p:txBody>
      </p:sp>
      <p:pic>
        <p:nvPicPr>
          <p:cNvPr id="520" name="Google Shape;520;p24" descr="fig4_specialty_random_effects.png"/>
          <p:cNvPicPr preferRelativeResize="0"/>
          <p:nvPr/>
        </p:nvPicPr>
        <p:blipFill rotWithShape="1">
          <a:blip r:embed="rId3">
            <a:alphaModFix/>
          </a:blip>
          <a:srcRect/>
          <a:stretch/>
        </p:blipFill>
        <p:spPr>
          <a:xfrm>
            <a:off x="782864" y="1579825"/>
            <a:ext cx="5547127" cy="4706398"/>
          </a:xfrm>
          <a:prstGeom prst="rect">
            <a:avLst/>
          </a:prstGeom>
          <a:noFill/>
          <a:ln>
            <a:noFill/>
          </a:ln>
        </p:spPr>
      </p:pic>
      <p:sp>
        <p:nvSpPr>
          <p:cNvPr id="521" name="Google Shape;521;p24"/>
          <p:cNvSpPr txBox="1"/>
          <p:nvPr/>
        </p:nvSpPr>
        <p:spPr>
          <a:xfrm>
            <a:off x="6815139" y="3193217"/>
            <a:ext cx="4247700" cy="2685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a:solidFill>
                  <a:schemeClr val="dk2"/>
                </a:solidFill>
                <a:latin typeface="Calibri"/>
                <a:ea typeface="Calibri"/>
                <a:cs typeface="Calibri"/>
                <a:sym typeface="Calibri"/>
              </a:rPr>
              <a:t>Highest risk </a:t>
            </a:r>
            <a:r>
              <a:rPr lang="en-US" sz="1900" b="1">
                <a:solidFill>
                  <a:schemeClr val="dk1"/>
                </a:solidFill>
                <a:latin typeface="Calibri"/>
                <a:ea typeface="Calibri"/>
                <a:cs typeface="Calibri"/>
                <a:sym typeface="Calibri"/>
              </a:rPr>
              <a:t>   </a:t>
            </a:r>
            <a:r>
              <a:rPr lang="en-US" sz="1900">
                <a:solidFill>
                  <a:schemeClr val="dk1"/>
                </a:solidFill>
                <a:latin typeface="Calibri"/>
                <a:ea typeface="Calibri"/>
                <a:cs typeface="Calibri"/>
                <a:sym typeface="Calibri"/>
              </a:rPr>
              <a:t>Physical Med &amp; Rehab</a:t>
            </a:r>
            <a:endParaRPr sz="1900">
              <a:solidFill>
                <a:schemeClr val="dk1"/>
              </a:solidFill>
              <a:latin typeface="Calibri"/>
              <a:ea typeface="Calibri"/>
              <a:cs typeface="Calibri"/>
              <a:sym typeface="Calibri"/>
            </a:endParaRPr>
          </a:p>
          <a:p>
            <a:pPr marL="0" lvl="0" indent="0" algn="l" rtl="0">
              <a:lnSpc>
                <a:spcPct val="130000"/>
              </a:lnSpc>
              <a:spcBef>
                <a:spcPts val="0"/>
              </a:spcBef>
              <a:spcAft>
                <a:spcPts val="0"/>
              </a:spcAft>
              <a:buNone/>
            </a:pPr>
            <a:r>
              <a:rPr lang="en-US" sz="1900" b="1">
                <a:solidFill>
                  <a:schemeClr val="dk2"/>
                </a:solidFill>
                <a:latin typeface="Calibri"/>
                <a:ea typeface="Calibri"/>
                <a:cs typeface="Calibri"/>
                <a:sym typeface="Calibri"/>
              </a:rPr>
              <a:t>Lowest risk   </a:t>
            </a:r>
            <a:r>
              <a:rPr lang="en-US" sz="1900" b="1">
                <a:solidFill>
                  <a:schemeClr val="dk1"/>
                </a:solidFill>
                <a:latin typeface="Calibri"/>
                <a:ea typeface="Calibri"/>
                <a:cs typeface="Calibri"/>
                <a:sym typeface="Calibri"/>
              </a:rPr>
              <a:t>  </a:t>
            </a:r>
            <a:r>
              <a:rPr lang="en-US" sz="1900">
                <a:solidFill>
                  <a:schemeClr val="dk1"/>
                </a:solidFill>
                <a:latin typeface="Calibri"/>
                <a:ea typeface="Calibri"/>
                <a:cs typeface="Calibri"/>
                <a:sym typeface="Calibri"/>
              </a:rPr>
              <a:t>Pediatrics, OB/Gyn</a:t>
            </a:r>
            <a:endParaRPr sz="1900">
              <a:solidFill>
                <a:schemeClr val="dk1"/>
              </a:solidFill>
              <a:latin typeface="Calibri"/>
              <a:ea typeface="Calibri"/>
              <a:cs typeface="Calibri"/>
              <a:sym typeface="Calibri"/>
            </a:endParaRPr>
          </a:p>
          <a:p>
            <a:pPr marL="0" lvl="0" indent="0" algn="l" rtl="0">
              <a:lnSpc>
                <a:spcPct val="130000"/>
              </a:lnSpc>
              <a:spcBef>
                <a:spcPts val="0"/>
              </a:spcBef>
              <a:spcAft>
                <a:spcPts val="0"/>
              </a:spcAft>
              <a:buNone/>
            </a:pPr>
            <a:endParaRPr sz="1000">
              <a:solidFill>
                <a:schemeClr val="dk1"/>
              </a:solidFill>
              <a:latin typeface="Calibri"/>
              <a:ea typeface="Calibri"/>
              <a:cs typeface="Calibri"/>
              <a:sym typeface="Calibri"/>
            </a:endParaRPr>
          </a:p>
          <a:p>
            <a:pPr marL="0" lvl="0" indent="0" algn="l" rtl="0">
              <a:lnSpc>
                <a:spcPct val="130000"/>
              </a:lnSpc>
              <a:spcBef>
                <a:spcPts val="0"/>
              </a:spcBef>
              <a:spcAft>
                <a:spcPts val="0"/>
              </a:spcAft>
              <a:buNone/>
            </a:pPr>
            <a:r>
              <a:rPr lang="en-US" sz="1900" b="1">
                <a:solidFill>
                  <a:schemeClr val="dk2"/>
                </a:solidFill>
                <a:latin typeface="Calibri"/>
                <a:ea typeface="Calibri"/>
                <a:cs typeface="Calibri"/>
                <a:sym typeface="Calibri"/>
              </a:rPr>
              <a:t>Shrinkage</a:t>
            </a:r>
            <a:r>
              <a:rPr lang="en-US" sz="1900">
                <a:solidFill>
                  <a:schemeClr val="dk2"/>
                </a:solidFill>
                <a:latin typeface="Calibri"/>
                <a:ea typeface="Calibri"/>
                <a:cs typeface="Calibri"/>
                <a:sym typeface="Calibri"/>
              </a:rPr>
              <a:t> - </a:t>
            </a:r>
            <a:r>
              <a:rPr lang="en-US" sz="1900">
                <a:solidFill>
                  <a:schemeClr val="dk1"/>
                </a:solidFill>
                <a:latin typeface="Calibri"/>
                <a:ea typeface="Calibri"/>
                <a:cs typeface="Calibri"/>
                <a:sym typeface="Calibri"/>
              </a:rPr>
              <a:t>Small-sample groups pulled toward the population mean</a:t>
            </a:r>
            <a:endParaRPr sz="1900">
              <a:solidFill>
                <a:schemeClr val="dk1"/>
              </a:solidFill>
              <a:latin typeface="Calibri"/>
              <a:ea typeface="Calibri"/>
              <a:cs typeface="Calibri"/>
              <a:sym typeface="Calibri"/>
            </a:endParaRPr>
          </a:p>
          <a:p>
            <a:pPr marL="0" lvl="0" indent="0" algn="l" rtl="0">
              <a:lnSpc>
                <a:spcPct val="130000"/>
              </a:lnSpc>
              <a:spcBef>
                <a:spcPts val="0"/>
              </a:spcBef>
              <a:spcAft>
                <a:spcPts val="0"/>
              </a:spcAft>
              <a:buNone/>
            </a:pPr>
            <a:endParaRPr sz="1000">
              <a:solidFill>
                <a:schemeClr val="dk1"/>
              </a:solidFill>
              <a:latin typeface="Calibri"/>
              <a:ea typeface="Calibri"/>
              <a:cs typeface="Calibri"/>
              <a:sym typeface="Calibri"/>
            </a:endParaRPr>
          </a:p>
          <a:p>
            <a:pPr marL="0" lvl="0" indent="0" algn="l" rtl="0">
              <a:lnSpc>
                <a:spcPct val="130000"/>
              </a:lnSpc>
              <a:spcBef>
                <a:spcPts val="0"/>
              </a:spcBef>
              <a:spcAft>
                <a:spcPts val="0"/>
              </a:spcAft>
              <a:buNone/>
            </a:pPr>
            <a:r>
              <a:rPr lang="en-US" sz="1900" b="1">
                <a:solidFill>
                  <a:schemeClr val="dk2"/>
                </a:solidFill>
                <a:latin typeface="Calibri"/>
                <a:ea typeface="Calibri"/>
                <a:cs typeface="Calibri"/>
                <a:sym typeface="Calibri"/>
              </a:rPr>
              <a:t>Key insight - </a:t>
            </a:r>
            <a:r>
              <a:rPr lang="en-US" sz="1900">
                <a:solidFill>
                  <a:schemeClr val="dk1"/>
                </a:solidFill>
                <a:latin typeface="Calibri"/>
                <a:ea typeface="Calibri"/>
                <a:cs typeface="Calibri"/>
                <a:sym typeface="Calibri"/>
              </a:rPr>
              <a:t>Partial pooling stabilizes estimates for rare specialties</a:t>
            </a:r>
            <a:endParaRPr sz="1900" b="1">
              <a:solidFill>
                <a:schemeClr val="dk1"/>
              </a:solidFill>
              <a:latin typeface="Calibri"/>
              <a:ea typeface="Calibri"/>
              <a:cs typeface="Calibri"/>
              <a:sym typeface="Calibri"/>
            </a:endParaRPr>
          </a:p>
        </p:txBody>
      </p:sp>
      <p:sp>
        <p:nvSpPr>
          <p:cNvPr id="522" name="Google Shape;522;p24"/>
          <p:cNvSpPr txBox="1"/>
          <p:nvPr/>
        </p:nvSpPr>
        <p:spPr>
          <a:xfrm>
            <a:off x="6815150" y="2019945"/>
            <a:ext cx="4706400" cy="7695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1900">
                <a:solidFill>
                  <a:schemeClr val="dk1"/>
                </a:solidFill>
                <a:latin typeface="Calibri"/>
                <a:ea typeface="Calibri"/>
                <a:cs typeface="Calibri"/>
                <a:sym typeface="Calibri"/>
              </a:rPr>
              <a:t>represents the deviation from the population-average log-odds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25"/>
          <p:cNvSpPr/>
          <p:nvPr/>
        </p:nvSpPr>
        <p:spPr>
          <a:xfrm>
            <a:off x="0" y="0"/>
            <a:ext cx="12191695" cy="1005840"/>
          </a:xfrm>
          <a:prstGeom prst="rect">
            <a:avLst/>
          </a:prstGeom>
          <a:solidFill>
            <a:srgbClr val="1B2A4A"/>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8" name="Google Shape;528;p25"/>
          <p:cNvSpPr txBox="1"/>
          <p:nvPr/>
        </p:nvSpPr>
        <p:spPr>
          <a:xfrm>
            <a:off x="548640" y="137160"/>
            <a:ext cx="109728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Heterogeneity Scale tau  —  Core Finding</a:t>
            </a:r>
            <a:endParaRPr/>
          </a:p>
        </p:txBody>
      </p:sp>
      <p:pic>
        <p:nvPicPr>
          <p:cNvPr id="529" name="Google Shape;529;p25" descr="fig_tau_posterior.png"/>
          <p:cNvPicPr preferRelativeResize="0"/>
          <p:nvPr/>
        </p:nvPicPr>
        <p:blipFill rotWithShape="1">
          <a:blip r:embed="rId3">
            <a:alphaModFix/>
          </a:blip>
          <a:srcRect/>
          <a:stretch/>
        </p:blipFill>
        <p:spPr>
          <a:xfrm>
            <a:off x="960825" y="1787525"/>
            <a:ext cx="4984971" cy="3055575"/>
          </a:xfrm>
          <a:prstGeom prst="rect">
            <a:avLst/>
          </a:prstGeom>
          <a:noFill/>
          <a:ln>
            <a:noFill/>
          </a:ln>
        </p:spPr>
      </p:pic>
      <p:sp>
        <p:nvSpPr>
          <p:cNvPr id="530" name="Google Shape;530;p25"/>
          <p:cNvSpPr txBox="1"/>
          <p:nvPr/>
        </p:nvSpPr>
        <p:spPr>
          <a:xfrm>
            <a:off x="1097275" y="5577857"/>
            <a:ext cx="97842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30000"/>
              </a:lnSpc>
              <a:spcBef>
                <a:spcPts val="0"/>
              </a:spcBef>
              <a:spcAft>
                <a:spcPts val="0"/>
              </a:spcAft>
              <a:buNone/>
            </a:pPr>
            <a:endParaRPr/>
          </a:p>
        </p:txBody>
      </p:sp>
      <p:sp>
        <p:nvSpPr>
          <p:cNvPr id="531" name="Google Shape;531;p25"/>
          <p:cNvSpPr/>
          <p:nvPr/>
        </p:nvSpPr>
        <p:spPr>
          <a:xfrm>
            <a:off x="7018943" y="1934115"/>
            <a:ext cx="3200400" cy="685800"/>
          </a:xfrm>
          <a:prstGeom prst="rect">
            <a:avLst/>
          </a:prstGeom>
          <a:solidFill>
            <a:srgbClr val="FFFFFF"/>
          </a:solidFill>
          <a:ln>
            <a:noFill/>
          </a:ln>
          <a:effectLst>
            <a:outerShdw blurRad="508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5"/>
          <p:cNvSpPr/>
          <p:nvPr/>
        </p:nvSpPr>
        <p:spPr>
          <a:xfrm>
            <a:off x="7072810" y="1898837"/>
            <a:ext cx="32004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C74B3"/>
              </a:buClr>
              <a:buSzPts val="2000"/>
              <a:buFont typeface="Georgia"/>
              <a:buNone/>
            </a:pPr>
            <a:r>
              <a:rPr lang="en-US" sz="2000" b="1" i="0" u="none" strike="noStrike" cap="none">
                <a:solidFill>
                  <a:schemeClr val="dk2"/>
                </a:solidFill>
                <a:latin typeface="Georgia"/>
                <a:ea typeface="Georgia"/>
                <a:cs typeface="Georgia"/>
                <a:sym typeface="Georgia"/>
              </a:rPr>
              <a:t>τ̂ = 0.437</a:t>
            </a:r>
            <a:endParaRPr sz="2000" b="0" i="0" u="none" strike="noStrike" cap="none">
              <a:solidFill>
                <a:schemeClr val="dk2"/>
              </a:solidFill>
              <a:latin typeface="Calibri"/>
              <a:ea typeface="Calibri"/>
              <a:cs typeface="Calibri"/>
              <a:sym typeface="Calibri"/>
            </a:endParaRPr>
          </a:p>
          <a:p>
            <a:pPr marL="0" marR="0" lvl="0" indent="0" algn="ctr" rtl="0">
              <a:spcBef>
                <a:spcPts val="0"/>
              </a:spcBef>
              <a:spcAft>
                <a:spcPts val="0"/>
              </a:spcAft>
              <a:buClr>
                <a:srgbClr val="4A5568"/>
              </a:buClr>
              <a:buSzPts val="1100"/>
              <a:buFont typeface="Calibri"/>
              <a:buNone/>
            </a:pPr>
            <a:r>
              <a:rPr lang="en-US" sz="1300" b="0" i="0" u="none" strike="noStrike" cap="none">
                <a:solidFill>
                  <a:srgbClr val="4A5568"/>
                </a:solidFill>
                <a:latin typeface="Calibri"/>
                <a:ea typeface="Calibri"/>
                <a:cs typeface="Calibri"/>
                <a:sym typeface="Calibri"/>
              </a:rPr>
              <a:t>95% CrI [0.298, 0.644]</a:t>
            </a:r>
            <a:endParaRPr sz="2200" b="0" i="0" u="none" strike="noStrike" cap="none">
              <a:solidFill>
                <a:srgbClr val="000000"/>
              </a:solidFill>
              <a:latin typeface="Calibri"/>
              <a:ea typeface="Calibri"/>
              <a:cs typeface="Calibri"/>
              <a:sym typeface="Calibri"/>
            </a:endParaRPr>
          </a:p>
        </p:txBody>
      </p:sp>
      <p:sp>
        <p:nvSpPr>
          <p:cNvPr id="533" name="Google Shape;533;p25"/>
          <p:cNvSpPr txBox="1"/>
          <p:nvPr/>
        </p:nvSpPr>
        <p:spPr>
          <a:xfrm>
            <a:off x="6421050" y="3087414"/>
            <a:ext cx="4847700" cy="21396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n-US" sz="1900" b="1">
                <a:solidFill>
                  <a:schemeClr val="dk2"/>
                </a:solidFill>
                <a:latin typeface="Calibri"/>
                <a:ea typeface="Calibri"/>
                <a:cs typeface="Calibri"/>
                <a:sym typeface="Calibri"/>
              </a:rPr>
              <a:t>Interpretation</a:t>
            </a:r>
            <a:endParaRPr sz="1900">
              <a:solidFill>
                <a:srgbClr val="1E293B"/>
              </a:solidFill>
              <a:latin typeface="Calibri"/>
              <a:ea typeface="Calibri"/>
              <a:cs typeface="Calibri"/>
              <a:sym typeface="Calibri"/>
            </a:endParaRPr>
          </a:p>
          <a:p>
            <a:pPr marL="0" marR="0" lvl="0" indent="0" algn="l" rtl="0">
              <a:lnSpc>
                <a:spcPct val="100000"/>
              </a:lnSpc>
              <a:spcBef>
                <a:spcPts val="0"/>
              </a:spcBef>
              <a:spcAft>
                <a:spcPts val="0"/>
              </a:spcAft>
              <a:buNone/>
            </a:pPr>
            <a:r>
              <a:rPr lang="en-US" sz="1900">
                <a:solidFill>
                  <a:srgbClr val="1E293B"/>
                </a:solidFill>
                <a:latin typeface="Calibri"/>
                <a:ea typeface="Calibri"/>
                <a:cs typeface="Calibri"/>
                <a:sym typeface="Calibri"/>
              </a:rPr>
              <a:t>Posterior mass clearly away from zero, which means strong evidence of between-specialty heterogeneity.</a:t>
            </a:r>
            <a:br>
              <a:rPr lang="en-US" sz="1900">
                <a:solidFill>
                  <a:srgbClr val="1E293B"/>
                </a:solidFill>
                <a:latin typeface="Calibri"/>
                <a:ea typeface="Calibri"/>
                <a:cs typeface="Calibri"/>
                <a:sym typeface="Calibri"/>
              </a:rPr>
            </a:br>
            <a:r>
              <a:rPr lang="en-US" sz="1900">
                <a:solidFill>
                  <a:srgbClr val="1E293B"/>
                </a:solidFill>
                <a:latin typeface="Calibri"/>
                <a:ea typeface="Calibri"/>
                <a:cs typeface="Calibri"/>
                <a:sym typeface="Calibri"/>
              </a:rPr>
              <a:t>Specialty heterogeneity exists and is reliably estimated, but patient-level covariates remain the primary driver of readmission</a:t>
            </a:r>
            <a:endParaRPr sz="1900">
              <a:solidFill>
                <a:srgbClr val="1E293B"/>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g3d18d3d8234_0_726"/>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9" name="Google Shape;539;g3d18d3d8234_0_726"/>
          <p:cNvSpPr txBox="1"/>
          <p:nvPr/>
        </p:nvSpPr>
        <p:spPr>
          <a:xfrm>
            <a:off x="548640" y="137160"/>
            <a:ext cx="109728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Model Comparison</a:t>
            </a:r>
            <a:endParaRPr/>
          </a:p>
        </p:txBody>
      </p:sp>
      <p:graphicFrame>
        <p:nvGraphicFramePr>
          <p:cNvPr id="540" name="Google Shape;540;g3d18d3d8234_0_726"/>
          <p:cNvGraphicFramePr/>
          <p:nvPr/>
        </p:nvGraphicFramePr>
        <p:xfrm>
          <a:off x="2575405" y="1677555"/>
          <a:ext cx="7040900" cy="1289300"/>
        </p:xfrm>
        <a:graphic>
          <a:graphicData uri="http://schemas.openxmlformats.org/drawingml/2006/table">
            <a:tbl>
              <a:tblPr>
                <a:noFill/>
                <a:tableStyleId>{B8369FA3-FD99-444F-81C0-7513499D8BCF}</a:tableStyleId>
              </a:tblPr>
              <a:tblGrid>
                <a:gridCol w="2286000">
                  <a:extLst>
                    <a:ext uri="{9D8B030D-6E8A-4147-A177-3AD203B41FA5}">
                      <a16:colId xmlns:a16="http://schemas.microsoft.com/office/drawing/2014/main" val="20000"/>
                    </a:ext>
                  </a:extLst>
                </a:gridCol>
                <a:gridCol w="1188725">
                  <a:extLst>
                    <a:ext uri="{9D8B030D-6E8A-4147-A177-3AD203B41FA5}">
                      <a16:colId xmlns:a16="http://schemas.microsoft.com/office/drawing/2014/main" val="20001"/>
                    </a:ext>
                  </a:extLst>
                </a:gridCol>
                <a:gridCol w="1188725">
                  <a:extLst>
                    <a:ext uri="{9D8B030D-6E8A-4147-A177-3AD203B41FA5}">
                      <a16:colId xmlns:a16="http://schemas.microsoft.com/office/drawing/2014/main" val="20002"/>
                    </a:ext>
                  </a:extLst>
                </a:gridCol>
                <a:gridCol w="1188725">
                  <a:extLst>
                    <a:ext uri="{9D8B030D-6E8A-4147-A177-3AD203B41FA5}">
                      <a16:colId xmlns:a16="http://schemas.microsoft.com/office/drawing/2014/main" val="20003"/>
                    </a:ext>
                  </a:extLst>
                </a:gridCol>
                <a:gridCol w="1188725">
                  <a:extLst>
                    <a:ext uri="{9D8B030D-6E8A-4147-A177-3AD203B41FA5}">
                      <a16:colId xmlns:a16="http://schemas.microsoft.com/office/drawing/2014/main" val="20004"/>
                    </a:ext>
                  </a:extLst>
                </a:gridCol>
              </a:tblGrid>
              <a:tr h="322325">
                <a:tc>
                  <a:txBody>
                    <a:bodyPr/>
                    <a:lstStyle/>
                    <a:p>
                      <a:pPr marL="0" marR="0" lvl="0" indent="0" algn="l" rtl="0">
                        <a:lnSpc>
                          <a:spcPct val="80000"/>
                        </a:lnSpc>
                        <a:spcBef>
                          <a:spcPts val="0"/>
                        </a:spcBef>
                        <a:spcAft>
                          <a:spcPts val="0"/>
                        </a:spcAft>
                        <a:buClr>
                          <a:srgbClr val="FFFFFF"/>
                        </a:buClr>
                        <a:buSzPts val="1100"/>
                        <a:buFont typeface="Calibri"/>
                        <a:buNone/>
                      </a:pPr>
                      <a:r>
                        <a:rPr lang="en-US" sz="1800" b="1" u="none" strike="noStrike" cap="none">
                          <a:solidFill>
                            <a:schemeClr val="lt1"/>
                          </a:solidFill>
                          <a:latin typeface="Calibri"/>
                          <a:ea typeface="Calibri"/>
                          <a:cs typeface="Calibri"/>
                          <a:sym typeface="Calibri"/>
                        </a:rPr>
                        <a:t>Model</a:t>
                      </a:r>
                      <a:endParaRPr sz="1800" u="none" strike="noStrike" cap="none">
                        <a:solidFill>
                          <a:schemeClr val="lt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B2A4A"/>
                    </a:solidFill>
                  </a:tcPr>
                </a:tc>
                <a:tc>
                  <a:txBody>
                    <a:bodyPr/>
                    <a:lstStyle/>
                    <a:p>
                      <a:pPr marL="0" marR="0" lvl="0" indent="0" algn="ctr" rtl="0">
                        <a:lnSpc>
                          <a:spcPct val="80000"/>
                        </a:lnSpc>
                        <a:spcBef>
                          <a:spcPts val="0"/>
                        </a:spcBef>
                        <a:spcAft>
                          <a:spcPts val="0"/>
                        </a:spcAft>
                        <a:buClr>
                          <a:srgbClr val="FFFFFF"/>
                        </a:buClr>
                        <a:buSzPts val="1100"/>
                        <a:buFont typeface="Calibri"/>
                        <a:buNone/>
                      </a:pPr>
                      <a:r>
                        <a:rPr lang="en-US" sz="1800" b="1" u="none" strike="noStrike" cap="none">
                          <a:solidFill>
                            <a:schemeClr val="lt1"/>
                          </a:solidFill>
                          <a:latin typeface="Calibri"/>
                          <a:ea typeface="Calibri"/>
                          <a:cs typeface="Calibri"/>
                          <a:sym typeface="Calibri"/>
                        </a:rPr>
                        <a:t>AUC</a:t>
                      </a:r>
                      <a:endParaRPr sz="1800" u="none" strike="noStrike" cap="none">
                        <a:solidFill>
                          <a:schemeClr val="lt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B2A4A"/>
                    </a:solidFill>
                  </a:tcPr>
                </a:tc>
                <a:tc>
                  <a:txBody>
                    <a:bodyPr/>
                    <a:lstStyle/>
                    <a:p>
                      <a:pPr marL="0" marR="0" lvl="0" indent="0" algn="ctr" rtl="0">
                        <a:lnSpc>
                          <a:spcPct val="80000"/>
                        </a:lnSpc>
                        <a:spcBef>
                          <a:spcPts val="0"/>
                        </a:spcBef>
                        <a:spcAft>
                          <a:spcPts val="0"/>
                        </a:spcAft>
                        <a:buClr>
                          <a:srgbClr val="FFFFFF"/>
                        </a:buClr>
                        <a:buSzPts val="1100"/>
                        <a:buFont typeface="Calibri"/>
                        <a:buNone/>
                      </a:pPr>
                      <a:r>
                        <a:rPr lang="en-US" sz="1800" b="1" u="none" strike="noStrike" cap="none">
                          <a:solidFill>
                            <a:schemeClr val="lt1"/>
                          </a:solidFill>
                          <a:latin typeface="Calibri"/>
                          <a:ea typeface="Calibri"/>
                          <a:cs typeface="Calibri"/>
                          <a:sym typeface="Calibri"/>
                        </a:rPr>
                        <a:t>Brier</a:t>
                      </a:r>
                      <a:endParaRPr sz="1800" u="none" strike="noStrike" cap="none">
                        <a:solidFill>
                          <a:schemeClr val="lt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B2A4A"/>
                    </a:solidFill>
                  </a:tcPr>
                </a:tc>
                <a:tc>
                  <a:txBody>
                    <a:bodyPr/>
                    <a:lstStyle/>
                    <a:p>
                      <a:pPr marL="0" marR="0" lvl="0" indent="0" algn="ctr" rtl="0">
                        <a:lnSpc>
                          <a:spcPct val="80000"/>
                        </a:lnSpc>
                        <a:spcBef>
                          <a:spcPts val="0"/>
                        </a:spcBef>
                        <a:spcAft>
                          <a:spcPts val="0"/>
                        </a:spcAft>
                        <a:buClr>
                          <a:srgbClr val="FFFFFF"/>
                        </a:buClr>
                        <a:buSzPts val="1100"/>
                        <a:buFont typeface="Calibri"/>
                        <a:buNone/>
                      </a:pPr>
                      <a:r>
                        <a:rPr lang="en-US" sz="1800" b="1" u="none" strike="noStrike" cap="none">
                          <a:solidFill>
                            <a:schemeClr val="lt1"/>
                          </a:solidFill>
                          <a:latin typeface="Calibri"/>
                          <a:ea typeface="Calibri"/>
                          <a:cs typeface="Calibri"/>
                          <a:sym typeface="Calibri"/>
                        </a:rPr>
                        <a:t>Log-Loss</a:t>
                      </a:r>
                      <a:endParaRPr sz="1800" u="none" strike="noStrike" cap="none">
                        <a:solidFill>
                          <a:schemeClr val="lt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B2A4A"/>
                    </a:solidFill>
                  </a:tcPr>
                </a:tc>
                <a:tc>
                  <a:txBody>
                    <a:bodyPr/>
                    <a:lstStyle/>
                    <a:p>
                      <a:pPr marL="0" marR="0" lvl="0" indent="0" algn="ctr" rtl="0">
                        <a:lnSpc>
                          <a:spcPct val="80000"/>
                        </a:lnSpc>
                        <a:spcBef>
                          <a:spcPts val="0"/>
                        </a:spcBef>
                        <a:spcAft>
                          <a:spcPts val="0"/>
                        </a:spcAft>
                        <a:buClr>
                          <a:srgbClr val="FFFFFF"/>
                        </a:buClr>
                        <a:buSzPts val="1100"/>
                        <a:buFont typeface="Calibri"/>
                        <a:buNone/>
                      </a:pPr>
                      <a:r>
                        <a:rPr lang="en-US" sz="1800" b="1" u="none" strike="noStrike" cap="none">
                          <a:solidFill>
                            <a:schemeClr val="lt1"/>
                          </a:solidFill>
                          <a:latin typeface="Calibri"/>
                          <a:ea typeface="Calibri"/>
                          <a:cs typeface="Calibri"/>
                          <a:sym typeface="Calibri"/>
                        </a:rPr>
                        <a:t>Cal. Slope</a:t>
                      </a:r>
                      <a:endParaRPr sz="1800" u="none" strike="noStrike" cap="none">
                        <a:solidFill>
                          <a:schemeClr val="lt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22325">
                <a:tc>
                  <a:txBody>
                    <a:bodyPr/>
                    <a:lstStyle/>
                    <a:p>
                      <a:pPr marL="0" marR="0" lvl="0" indent="0" algn="l" rtl="0">
                        <a:lnSpc>
                          <a:spcPct val="80000"/>
                        </a:lnSpc>
                        <a:spcBef>
                          <a:spcPts val="0"/>
                        </a:spcBef>
                        <a:spcAft>
                          <a:spcPts val="0"/>
                        </a:spcAft>
                        <a:buClr>
                          <a:srgbClr val="1E293B"/>
                        </a:buClr>
                        <a:buSzPts val="1100"/>
                        <a:buFont typeface="Calibri"/>
                        <a:buNone/>
                      </a:pPr>
                      <a:r>
                        <a:rPr lang="en-US" sz="1800" u="none" strike="noStrike" cap="none">
                          <a:solidFill>
                            <a:schemeClr val="dk1"/>
                          </a:solidFill>
                          <a:latin typeface="Calibri"/>
                          <a:ea typeface="Calibri"/>
                          <a:cs typeface="Calibri"/>
                          <a:sym typeface="Calibri"/>
                        </a:rPr>
                        <a:t>No specialty</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100"/>
                        <a:buFont typeface="Calibri"/>
                        <a:buNone/>
                      </a:pPr>
                      <a:r>
                        <a:rPr lang="en-US" sz="1800" u="none" strike="noStrike" cap="none">
                          <a:solidFill>
                            <a:schemeClr val="dk1"/>
                          </a:solidFill>
                          <a:latin typeface="Calibri"/>
                          <a:ea typeface="Calibri"/>
                          <a:cs typeface="Calibri"/>
                          <a:sym typeface="Calibri"/>
                        </a:rPr>
                        <a:t>0.629</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100"/>
                        <a:buFont typeface="Calibri"/>
                        <a:buNone/>
                      </a:pPr>
                      <a:r>
                        <a:rPr lang="en-US" sz="1800" u="none" strike="noStrike" cap="none">
                          <a:solidFill>
                            <a:schemeClr val="dk1"/>
                          </a:solidFill>
                          <a:latin typeface="Calibri"/>
                          <a:ea typeface="Calibri"/>
                          <a:cs typeface="Calibri"/>
                          <a:sym typeface="Calibri"/>
                        </a:rPr>
                        <a:t>0.0852</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100"/>
                        <a:buFont typeface="Calibri"/>
                        <a:buNone/>
                      </a:pPr>
                      <a:r>
                        <a:rPr lang="en-US" sz="1800" u="none" strike="noStrike" cap="none">
                          <a:solidFill>
                            <a:schemeClr val="dk1"/>
                          </a:solidFill>
                          <a:latin typeface="Calibri"/>
                          <a:ea typeface="Calibri"/>
                          <a:cs typeface="Calibri"/>
                          <a:sym typeface="Calibri"/>
                        </a:rPr>
                        <a:t>0.307</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100"/>
                        <a:buFont typeface="Calibri"/>
                        <a:buNone/>
                      </a:pPr>
                      <a:r>
                        <a:rPr lang="en-US" sz="1800" u="none" strike="noStrike" cap="none">
                          <a:solidFill>
                            <a:schemeClr val="dk1"/>
                          </a:solidFill>
                          <a:latin typeface="Calibri"/>
                          <a:ea typeface="Calibri"/>
                          <a:cs typeface="Calibri"/>
                          <a:sym typeface="Calibri"/>
                        </a:rPr>
                        <a:t>1.003</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1"/>
                  </a:ext>
                </a:extLst>
              </a:tr>
              <a:tr h="322325">
                <a:tc>
                  <a:txBody>
                    <a:bodyPr/>
                    <a:lstStyle/>
                    <a:p>
                      <a:pPr marL="0" marR="0" lvl="0" indent="0" algn="l" rtl="0">
                        <a:lnSpc>
                          <a:spcPct val="80000"/>
                        </a:lnSpc>
                        <a:spcBef>
                          <a:spcPts val="0"/>
                        </a:spcBef>
                        <a:spcAft>
                          <a:spcPts val="0"/>
                        </a:spcAft>
                        <a:buClr>
                          <a:srgbClr val="1E293B"/>
                        </a:buClr>
                        <a:buSzPts val="1100"/>
                        <a:buFont typeface="Calibri"/>
                        <a:buNone/>
                      </a:pPr>
                      <a:r>
                        <a:rPr lang="en-US" sz="1800" u="none" strike="noStrike" cap="none">
                          <a:solidFill>
                            <a:schemeClr val="dk1"/>
                          </a:solidFill>
                          <a:latin typeface="Calibri"/>
                          <a:ea typeface="Calibri"/>
                          <a:cs typeface="Calibri"/>
                          <a:sym typeface="Calibri"/>
                        </a:rPr>
                        <a:t>Fixed effects</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chemeClr val="lt1"/>
                    </a:solidFill>
                  </a:tcPr>
                </a:tc>
                <a:tc>
                  <a:txBody>
                    <a:bodyPr/>
                    <a:lstStyle/>
                    <a:p>
                      <a:pPr marL="0" marR="0" lvl="0" indent="0" algn="ctr" rtl="0">
                        <a:lnSpc>
                          <a:spcPct val="80000"/>
                        </a:lnSpc>
                        <a:spcBef>
                          <a:spcPts val="0"/>
                        </a:spcBef>
                        <a:spcAft>
                          <a:spcPts val="0"/>
                        </a:spcAft>
                        <a:buClr>
                          <a:srgbClr val="1E293B"/>
                        </a:buClr>
                        <a:buSzPts val="1100"/>
                        <a:buFont typeface="Calibri"/>
                        <a:buNone/>
                      </a:pPr>
                      <a:r>
                        <a:rPr lang="en-US" sz="1800" u="none" strike="noStrike" cap="none">
                          <a:solidFill>
                            <a:schemeClr val="dk1"/>
                          </a:solidFill>
                          <a:latin typeface="Calibri"/>
                          <a:ea typeface="Calibri"/>
                          <a:cs typeface="Calibri"/>
                          <a:sym typeface="Calibri"/>
                        </a:rPr>
                        <a:t>0.641</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chemeClr val="lt1"/>
                    </a:solidFill>
                  </a:tcPr>
                </a:tc>
                <a:tc>
                  <a:txBody>
                    <a:bodyPr/>
                    <a:lstStyle/>
                    <a:p>
                      <a:pPr marL="0" marR="0" lvl="0" indent="0" algn="ctr" rtl="0">
                        <a:lnSpc>
                          <a:spcPct val="80000"/>
                        </a:lnSpc>
                        <a:spcBef>
                          <a:spcPts val="0"/>
                        </a:spcBef>
                        <a:spcAft>
                          <a:spcPts val="0"/>
                        </a:spcAft>
                        <a:buClr>
                          <a:srgbClr val="1E293B"/>
                        </a:buClr>
                        <a:buSzPts val="1100"/>
                        <a:buFont typeface="Calibri"/>
                        <a:buNone/>
                      </a:pPr>
                      <a:r>
                        <a:rPr lang="en-US" sz="1800" u="none" strike="noStrike" cap="none">
                          <a:solidFill>
                            <a:schemeClr val="dk1"/>
                          </a:solidFill>
                          <a:latin typeface="Calibri"/>
                          <a:ea typeface="Calibri"/>
                          <a:cs typeface="Calibri"/>
                          <a:sym typeface="Calibri"/>
                        </a:rPr>
                        <a:t>0.0846</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chemeClr val="lt1"/>
                    </a:solidFill>
                  </a:tcPr>
                </a:tc>
                <a:tc>
                  <a:txBody>
                    <a:bodyPr/>
                    <a:lstStyle/>
                    <a:p>
                      <a:pPr marL="0" marR="0" lvl="0" indent="0" algn="ctr" rtl="0">
                        <a:lnSpc>
                          <a:spcPct val="80000"/>
                        </a:lnSpc>
                        <a:spcBef>
                          <a:spcPts val="0"/>
                        </a:spcBef>
                        <a:spcAft>
                          <a:spcPts val="0"/>
                        </a:spcAft>
                        <a:buClr>
                          <a:srgbClr val="1E293B"/>
                        </a:buClr>
                        <a:buSzPts val="1100"/>
                        <a:buFont typeface="Calibri"/>
                        <a:buNone/>
                      </a:pPr>
                      <a:r>
                        <a:rPr lang="en-US" sz="1800" u="none" strike="noStrike" cap="none">
                          <a:solidFill>
                            <a:schemeClr val="dk1"/>
                          </a:solidFill>
                          <a:latin typeface="Calibri"/>
                          <a:ea typeface="Calibri"/>
                          <a:cs typeface="Calibri"/>
                          <a:sym typeface="Calibri"/>
                        </a:rPr>
                        <a:t>0.305</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chemeClr val="lt1"/>
                    </a:solidFill>
                  </a:tcPr>
                </a:tc>
                <a:tc>
                  <a:txBody>
                    <a:bodyPr/>
                    <a:lstStyle/>
                    <a:p>
                      <a:pPr marL="0" marR="0" lvl="0" indent="0" algn="ctr" rtl="0">
                        <a:lnSpc>
                          <a:spcPct val="80000"/>
                        </a:lnSpc>
                        <a:spcBef>
                          <a:spcPts val="0"/>
                        </a:spcBef>
                        <a:spcAft>
                          <a:spcPts val="0"/>
                        </a:spcAft>
                        <a:buClr>
                          <a:srgbClr val="1E293B"/>
                        </a:buClr>
                        <a:buSzPts val="1100"/>
                        <a:buFont typeface="Calibri"/>
                        <a:buNone/>
                      </a:pPr>
                      <a:r>
                        <a:rPr lang="en-US" sz="1800" u="none" strike="noStrike" cap="none">
                          <a:solidFill>
                            <a:schemeClr val="dk1"/>
                          </a:solidFill>
                          <a:latin typeface="Calibri"/>
                          <a:ea typeface="Calibri"/>
                          <a:cs typeface="Calibri"/>
                          <a:sym typeface="Calibri"/>
                        </a:rPr>
                        <a:t>0.997</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22325">
                <a:tc>
                  <a:txBody>
                    <a:bodyPr/>
                    <a:lstStyle/>
                    <a:p>
                      <a:pPr marL="0" marR="0" lvl="0" indent="0" algn="l" rtl="0">
                        <a:lnSpc>
                          <a:spcPct val="80000"/>
                        </a:lnSpc>
                        <a:spcBef>
                          <a:spcPts val="0"/>
                        </a:spcBef>
                        <a:spcAft>
                          <a:spcPts val="0"/>
                        </a:spcAft>
                        <a:buClr>
                          <a:srgbClr val="2C74B3"/>
                        </a:buClr>
                        <a:buSzPts val="1100"/>
                        <a:buFont typeface="Calibri"/>
                        <a:buNone/>
                      </a:pPr>
                      <a:r>
                        <a:rPr lang="en-US" sz="1800" b="1" u="none" strike="noStrike" cap="none">
                          <a:solidFill>
                            <a:schemeClr val="dk1"/>
                          </a:solidFill>
                          <a:latin typeface="Calibri"/>
                          <a:ea typeface="Calibri"/>
                          <a:cs typeface="Calibri"/>
                          <a:sym typeface="Calibri"/>
                        </a:rPr>
                        <a:t>Bayesian hierarchical</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100"/>
                        <a:buFont typeface="Calibri"/>
                        <a:buNone/>
                      </a:pPr>
                      <a:r>
                        <a:rPr lang="en-US" sz="1800" b="1" u="none" strike="noStrike" cap="none">
                          <a:solidFill>
                            <a:schemeClr val="dk1"/>
                          </a:solidFill>
                          <a:latin typeface="Calibri"/>
                          <a:ea typeface="Calibri"/>
                          <a:cs typeface="Calibri"/>
                          <a:sym typeface="Calibri"/>
                        </a:rPr>
                        <a:t>0.641</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100"/>
                        <a:buFont typeface="Calibri"/>
                        <a:buNone/>
                      </a:pPr>
                      <a:r>
                        <a:rPr lang="en-US" sz="1800" b="1" u="none" strike="noStrike" cap="none">
                          <a:solidFill>
                            <a:schemeClr val="dk1"/>
                          </a:solidFill>
                          <a:latin typeface="Calibri"/>
                          <a:ea typeface="Calibri"/>
                          <a:cs typeface="Calibri"/>
                          <a:sym typeface="Calibri"/>
                        </a:rPr>
                        <a:t>0.0846</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100"/>
                        <a:buFont typeface="Calibri"/>
                        <a:buNone/>
                      </a:pPr>
                      <a:r>
                        <a:rPr lang="en-US" sz="1800" b="1" u="none" strike="noStrike" cap="none">
                          <a:solidFill>
                            <a:schemeClr val="dk1"/>
                          </a:solidFill>
                          <a:latin typeface="Calibri"/>
                          <a:ea typeface="Calibri"/>
                          <a:cs typeface="Calibri"/>
                          <a:sym typeface="Calibri"/>
                        </a:rPr>
                        <a:t>0.305</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ctr" rtl="0">
                        <a:lnSpc>
                          <a:spcPct val="80000"/>
                        </a:lnSpc>
                        <a:spcBef>
                          <a:spcPts val="0"/>
                        </a:spcBef>
                        <a:spcAft>
                          <a:spcPts val="0"/>
                        </a:spcAft>
                        <a:buClr>
                          <a:srgbClr val="1E293B"/>
                        </a:buClr>
                        <a:buSzPts val="1100"/>
                        <a:buFont typeface="Calibri"/>
                        <a:buNone/>
                      </a:pPr>
                      <a:r>
                        <a:rPr lang="en-US" sz="1800" b="1" u="none" strike="noStrike" cap="none">
                          <a:solidFill>
                            <a:schemeClr val="dk1"/>
                          </a:solidFill>
                          <a:latin typeface="Calibri"/>
                          <a:ea typeface="Calibri"/>
                          <a:cs typeface="Calibri"/>
                          <a:sym typeface="Calibri"/>
                        </a:rPr>
                        <a:t>1.024</a:t>
                      </a:r>
                      <a:endParaRPr sz="1800" u="none" strike="noStrike" cap="none">
                        <a:solidFill>
                          <a:schemeClr val="dk1"/>
                        </a:solidFill>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541" name="Google Shape;541;g3d18d3d8234_0_726"/>
          <p:cNvSpPr txBox="1"/>
          <p:nvPr/>
        </p:nvSpPr>
        <p:spPr>
          <a:xfrm>
            <a:off x="1295260" y="3366727"/>
            <a:ext cx="9601200" cy="384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SzPts val="1100"/>
              <a:buNone/>
            </a:pPr>
            <a:r>
              <a:rPr lang="en-US" sz="1900">
                <a:solidFill>
                  <a:srgbClr val="1E293B"/>
                </a:solidFill>
                <a:latin typeface="Calibri"/>
                <a:ea typeface="Calibri"/>
                <a:cs typeface="Calibri"/>
                <a:sym typeface="Calibri"/>
              </a:rPr>
              <a:t>DIC = 23,254  |  p_D = 60.5 (&lt; 64 nominal)  confirms shrinkage from hierarchical prior</a:t>
            </a:r>
            <a:endParaRPr sz="1900">
              <a:solidFill>
                <a:srgbClr val="1E293B"/>
              </a:solidFill>
              <a:latin typeface="Calibri"/>
              <a:ea typeface="Calibri"/>
              <a:cs typeface="Calibri"/>
              <a:sym typeface="Calibri"/>
            </a:endParaRPr>
          </a:p>
        </p:txBody>
      </p:sp>
      <p:pic>
        <p:nvPicPr>
          <p:cNvPr id="542" name="Google Shape;542;g3d18d3d8234_0_726"/>
          <p:cNvPicPr preferRelativeResize="0"/>
          <p:nvPr/>
        </p:nvPicPr>
        <p:blipFill>
          <a:blip r:embed="rId3">
            <a:alphaModFix/>
          </a:blip>
          <a:stretch>
            <a:fillRect/>
          </a:stretch>
        </p:blipFill>
        <p:spPr>
          <a:xfrm>
            <a:off x="1252693" y="3984050"/>
            <a:ext cx="1868572" cy="523200"/>
          </a:xfrm>
          <a:prstGeom prst="rect">
            <a:avLst/>
          </a:prstGeom>
          <a:noFill/>
          <a:ln>
            <a:noFill/>
          </a:ln>
        </p:spPr>
      </p:pic>
      <p:sp>
        <p:nvSpPr>
          <p:cNvPr id="543" name="Google Shape;543;g3d18d3d8234_0_726"/>
          <p:cNvSpPr txBox="1"/>
          <p:nvPr/>
        </p:nvSpPr>
        <p:spPr>
          <a:xfrm>
            <a:off x="2151322" y="4401191"/>
            <a:ext cx="93771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US" sz="1900">
                <a:solidFill>
                  <a:srgbClr val="1E293B"/>
                </a:solidFill>
                <a:latin typeface="Calibri"/>
                <a:ea typeface="Calibri"/>
                <a:cs typeface="Calibri"/>
                <a:sym typeface="Calibri"/>
              </a:rPr>
              <a:t>Take the average of the deviation of the posterior samples by Comorbid neoplasms</a:t>
            </a:r>
            <a:endParaRPr sz="1900">
              <a:solidFill>
                <a:srgbClr val="1E293B"/>
              </a:solidFill>
              <a:latin typeface="Calibri"/>
              <a:ea typeface="Calibri"/>
              <a:cs typeface="Calibri"/>
              <a:sym typeface="Calibri"/>
            </a:endParaRPr>
          </a:p>
        </p:txBody>
      </p:sp>
      <p:sp>
        <p:nvSpPr>
          <p:cNvPr id="544" name="Google Shape;544;g3d18d3d8234_0_726"/>
          <p:cNvSpPr txBox="1"/>
          <p:nvPr/>
        </p:nvSpPr>
        <p:spPr>
          <a:xfrm>
            <a:off x="3154112" y="4003698"/>
            <a:ext cx="44988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US" sz="1900">
                <a:solidFill>
                  <a:srgbClr val="1E293B"/>
                </a:solidFill>
                <a:latin typeface="Calibri"/>
                <a:ea typeface="Calibri"/>
                <a:cs typeface="Calibri"/>
                <a:sym typeface="Calibri"/>
              </a:rPr>
              <a:t>effective number of parameters</a:t>
            </a:r>
            <a:endParaRPr sz="1900">
              <a:solidFill>
                <a:srgbClr val="1E293B"/>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g3d18d3d8234_0_750"/>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0" name="Google Shape;550;g3d18d3d8234_0_750"/>
          <p:cNvSpPr txBox="1"/>
          <p:nvPr/>
        </p:nvSpPr>
        <p:spPr>
          <a:xfrm>
            <a:off x="548640" y="137160"/>
            <a:ext cx="109728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Posterior Predictive Check </a:t>
            </a:r>
            <a:endParaRPr/>
          </a:p>
        </p:txBody>
      </p:sp>
      <p:pic>
        <p:nvPicPr>
          <p:cNvPr id="551" name="Google Shape;551;g3d18d3d8234_0_750" descr="fig5_posterior_predictive.png"/>
          <p:cNvPicPr preferRelativeResize="0"/>
          <p:nvPr/>
        </p:nvPicPr>
        <p:blipFill rotWithShape="1">
          <a:blip r:embed="rId3">
            <a:alphaModFix/>
          </a:blip>
          <a:srcRect/>
          <a:stretch/>
        </p:blipFill>
        <p:spPr>
          <a:xfrm>
            <a:off x="1224892" y="1743925"/>
            <a:ext cx="9683272" cy="41947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27"/>
          <p:cNvSpPr/>
          <p:nvPr/>
        </p:nvSpPr>
        <p:spPr>
          <a:xfrm>
            <a:off x="0" y="0"/>
            <a:ext cx="12191695" cy="6858000"/>
          </a:xfrm>
          <a:prstGeom prst="rect">
            <a:avLst/>
          </a:prstGeom>
          <a:solidFill>
            <a:srgbClr val="233D6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7" name="Google Shape;557;p27"/>
          <p:cNvSpPr/>
          <p:nvPr/>
        </p:nvSpPr>
        <p:spPr>
          <a:xfrm>
            <a:off x="1371600" y="2834640"/>
            <a:ext cx="1828800" cy="54864"/>
          </a:xfrm>
          <a:prstGeom prst="rect">
            <a:avLst/>
          </a:prstGeom>
          <a:solidFill>
            <a:srgbClr val="3A7CA5"/>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8" name="Google Shape;558;p27"/>
          <p:cNvSpPr txBox="1"/>
          <p:nvPr/>
        </p:nvSpPr>
        <p:spPr>
          <a:xfrm>
            <a:off x="1371600" y="3108960"/>
            <a:ext cx="9144000" cy="109728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600" b="1" i="0" u="none" strike="noStrike" cap="none">
                <a:solidFill>
                  <a:srgbClr val="FFFFFF"/>
                </a:solidFill>
                <a:latin typeface="Calibri"/>
                <a:ea typeface="Calibri"/>
                <a:cs typeface="Calibri"/>
                <a:sym typeface="Calibri"/>
              </a:rPr>
              <a:t>Part 7</a:t>
            </a:r>
            <a:endParaRPr/>
          </a:p>
        </p:txBody>
      </p:sp>
      <p:sp>
        <p:nvSpPr>
          <p:cNvPr id="559" name="Google Shape;559;p27"/>
          <p:cNvSpPr txBox="1"/>
          <p:nvPr/>
        </p:nvSpPr>
        <p:spPr>
          <a:xfrm>
            <a:off x="1371600" y="4023360"/>
            <a:ext cx="91440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000" b="0" i="0" u="none" strike="noStrike" cap="none">
                <a:solidFill>
                  <a:srgbClr val="3A7CA5"/>
                </a:solidFill>
                <a:latin typeface="Calibri"/>
                <a:ea typeface="Calibri"/>
                <a:cs typeface="Calibri"/>
                <a:sym typeface="Calibri"/>
              </a:rPr>
              <a:t>Sensitivity &amp; Robustness Analysis</a:t>
            </a:r>
            <a:endParaRPr sz="30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g3d18d3d8234_0_451"/>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5" name="Google Shape;565;g3d18d3d8234_0_451"/>
          <p:cNvSpPr txBox="1"/>
          <p:nvPr/>
        </p:nvSpPr>
        <p:spPr>
          <a:xfrm>
            <a:off x="548640" y="137160"/>
            <a:ext cx="109728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Sensitivity Analysis — Prior Robustness</a:t>
            </a:r>
            <a:endParaRPr/>
          </a:p>
        </p:txBody>
      </p:sp>
      <p:pic>
        <p:nvPicPr>
          <p:cNvPr id="566" name="Google Shape;566;g3d18d3d8234_0_451" descr="fig6_sensitivity_tau.png"/>
          <p:cNvPicPr preferRelativeResize="0"/>
          <p:nvPr/>
        </p:nvPicPr>
        <p:blipFill rotWithShape="1">
          <a:blip r:embed="rId3">
            <a:alphaModFix/>
          </a:blip>
          <a:srcRect/>
          <a:stretch/>
        </p:blipFill>
        <p:spPr>
          <a:xfrm>
            <a:off x="939549" y="3312116"/>
            <a:ext cx="5662752" cy="3049176"/>
          </a:xfrm>
          <a:prstGeom prst="rect">
            <a:avLst/>
          </a:prstGeom>
          <a:noFill/>
          <a:ln>
            <a:noFill/>
          </a:ln>
        </p:spPr>
      </p:pic>
      <p:pic>
        <p:nvPicPr>
          <p:cNvPr id="567" name="Google Shape;567;g3d18d3d8234_0_451" descr="/home/claude/fig_p13_1.png"/>
          <p:cNvPicPr preferRelativeResize="0"/>
          <p:nvPr/>
        </p:nvPicPr>
        <p:blipFill rotWithShape="1">
          <a:blip r:embed="rId4">
            <a:alphaModFix/>
          </a:blip>
          <a:srcRect/>
          <a:stretch/>
        </p:blipFill>
        <p:spPr>
          <a:xfrm>
            <a:off x="6657372" y="3350916"/>
            <a:ext cx="4685297" cy="2906737"/>
          </a:xfrm>
          <a:prstGeom prst="rect">
            <a:avLst/>
          </a:prstGeom>
          <a:noFill/>
          <a:ln>
            <a:noFill/>
          </a:ln>
        </p:spPr>
      </p:pic>
      <p:sp>
        <p:nvSpPr>
          <p:cNvPr id="568" name="Google Shape;568;g3d18d3d8234_0_451"/>
          <p:cNvSpPr txBox="1"/>
          <p:nvPr/>
        </p:nvSpPr>
        <p:spPr>
          <a:xfrm>
            <a:off x="911497" y="1370149"/>
            <a:ext cx="45720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000" b="1" i="0" u="none" strike="noStrike" cap="none">
                <a:solidFill>
                  <a:srgbClr val="233D6B"/>
                </a:solidFill>
                <a:latin typeface="Calibri"/>
                <a:ea typeface="Calibri"/>
                <a:cs typeface="Calibri"/>
                <a:sym typeface="Calibri"/>
              </a:rPr>
              <a:t>Alternative Prior Configurations</a:t>
            </a:r>
            <a:endParaRPr sz="2000"/>
          </a:p>
        </p:txBody>
      </p:sp>
      <p:sp>
        <p:nvSpPr>
          <p:cNvPr id="569" name="Google Shape;569;g3d18d3d8234_0_451"/>
          <p:cNvSpPr txBox="1"/>
          <p:nvPr/>
        </p:nvSpPr>
        <p:spPr>
          <a:xfrm>
            <a:off x="1185817" y="1827349"/>
            <a:ext cx="10974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3A7CA5"/>
                </a:solidFill>
                <a:latin typeface="Calibri"/>
                <a:ea typeface="Calibri"/>
                <a:cs typeface="Calibri"/>
                <a:sym typeface="Calibri"/>
              </a:rPr>
              <a:t>Baseline</a:t>
            </a:r>
            <a:endParaRPr sz="1900"/>
          </a:p>
        </p:txBody>
      </p:sp>
      <p:sp>
        <p:nvSpPr>
          <p:cNvPr id="570" name="Google Shape;570;g3d18d3d8234_0_451"/>
          <p:cNvSpPr txBox="1"/>
          <p:nvPr/>
        </p:nvSpPr>
        <p:spPr>
          <a:xfrm>
            <a:off x="2374537" y="1827349"/>
            <a:ext cx="41148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2C2C2C"/>
                </a:solidFill>
                <a:latin typeface="Calibri"/>
                <a:ea typeface="Calibri"/>
                <a:cs typeface="Calibri"/>
                <a:sym typeface="Calibri"/>
              </a:rPr>
              <a:t>s_beta = 2.5,  s_tau = 1.0  (Half-Normal)</a:t>
            </a:r>
            <a:endParaRPr sz="1900"/>
          </a:p>
        </p:txBody>
      </p:sp>
      <p:sp>
        <p:nvSpPr>
          <p:cNvPr id="571" name="Google Shape;571;g3d18d3d8234_0_451"/>
          <p:cNvSpPr txBox="1"/>
          <p:nvPr/>
        </p:nvSpPr>
        <p:spPr>
          <a:xfrm>
            <a:off x="1185817" y="2119957"/>
            <a:ext cx="10974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3A7CA5"/>
                </a:solidFill>
                <a:latin typeface="Calibri"/>
                <a:ea typeface="Calibri"/>
                <a:cs typeface="Calibri"/>
                <a:sym typeface="Calibri"/>
              </a:rPr>
              <a:t>A1</a:t>
            </a:r>
            <a:endParaRPr sz="1900"/>
          </a:p>
        </p:txBody>
      </p:sp>
      <p:sp>
        <p:nvSpPr>
          <p:cNvPr id="572" name="Google Shape;572;g3d18d3d8234_0_451"/>
          <p:cNvSpPr txBox="1"/>
          <p:nvPr/>
        </p:nvSpPr>
        <p:spPr>
          <a:xfrm>
            <a:off x="2374526" y="2119950"/>
            <a:ext cx="66540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2C2C2C"/>
                </a:solidFill>
                <a:latin typeface="Calibri"/>
                <a:ea typeface="Calibri"/>
                <a:cs typeface="Calibri"/>
                <a:sym typeface="Calibri"/>
              </a:rPr>
              <a:t>s_beta = 5.0  </a:t>
            </a:r>
            <a:r>
              <a:rPr lang="en-US" sz="1900">
                <a:solidFill>
                  <a:srgbClr val="2C2C2C"/>
                </a:solidFill>
                <a:latin typeface="Calibri"/>
                <a:ea typeface="Calibri"/>
                <a:cs typeface="Calibri"/>
                <a:sym typeface="Calibri"/>
              </a:rPr>
              <a:t>(fixed-effect prior standard deviation doubled)</a:t>
            </a:r>
            <a:endParaRPr sz="1900">
              <a:solidFill>
                <a:srgbClr val="2C2C2C"/>
              </a:solidFill>
              <a:latin typeface="Calibri"/>
              <a:ea typeface="Calibri"/>
              <a:cs typeface="Calibri"/>
              <a:sym typeface="Calibri"/>
            </a:endParaRPr>
          </a:p>
        </p:txBody>
      </p:sp>
      <p:sp>
        <p:nvSpPr>
          <p:cNvPr id="573" name="Google Shape;573;g3d18d3d8234_0_451"/>
          <p:cNvSpPr txBox="1"/>
          <p:nvPr/>
        </p:nvSpPr>
        <p:spPr>
          <a:xfrm>
            <a:off x="1185817" y="2412565"/>
            <a:ext cx="10974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3A7CA5"/>
                </a:solidFill>
                <a:latin typeface="Calibri"/>
                <a:ea typeface="Calibri"/>
                <a:cs typeface="Calibri"/>
                <a:sym typeface="Calibri"/>
              </a:rPr>
              <a:t>B1</a:t>
            </a:r>
            <a:endParaRPr sz="1900"/>
          </a:p>
        </p:txBody>
      </p:sp>
      <p:sp>
        <p:nvSpPr>
          <p:cNvPr id="574" name="Google Shape;574;g3d18d3d8234_0_451"/>
          <p:cNvSpPr txBox="1"/>
          <p:nvPr/>
        </p:nvSpPr>
        <p:spPr>
          <a:xfrm>
            <a:off x="2374526" y="2412575"/>
            <a:ext cx="71202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2C2C2C"/>
                </a:solidFill>
                <a:latin typeface="Calibri"/>
                <a:ea typeface="Calibri"/>
                <a:cs typeface="Calibri"/>
                <a:sym typeface="Calibri"/>
              </a:rPr>
              <a:t>s_tau = 2.5  (</a:t>
            </a:r>
            <a:r>
              <a:rPr lang="en-US" sz="1900">
                <a:solidFill>
                  <a:srgbClr val="2C2C2C"/>
                </a:solidFill>
                <a:latin typeface="Calibri"/>
                <a:ea typeface="Calibri"/>
                <a:cs typeface="Calibri"/>
                <a:sym typeface="Calibri"/>
              </a:rPr>
              <a:t>widen the tau hyperprior to </a:t>
            </a:r>
            <a:r>
              <a:rPr lang="en-US" sz="1900" b="0" i="0" u="none" strike="noStrike" cap="none">
                <a:solidFill>
                  <a:srgbClr val="2C2C2C"/>
                </a:solidFill>
                <a:latin typeface="Calibri"/>
                <a:ea typeface="Calibri"/>
                <a:cs typeface="Calibri"/>
                <a:sym typeface="Calibri"/>
              </a:rPr>
              <a:t>Half-Normal, wider)</a:t>
            </a:r>
            <a:endParaRPr sz="1900"/>
          </a:p>
        </p:txBody>
      </p:sp>
      <p:sp>
        <p:nvSpPr>
          <p:cNvPr id="575" name="Google Shape;575;g3d18d3d8234_0_451"/>
          <p:cNvSpPr txBox="1"/>
          <p:nvPr/>
        </p:nvSpPr>
        <p:spPr>
          <a:xfrm>
            <a:off x="1185817" y="2705173"/>
            <a:ext cx="10974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3A7CA5"/>
                </a:solidFill>
                <a:latin typeface="Calibri"/>
                <a:ea typeface="Calibri"/>
                <a:cs typeface="Calibri"/>
                <a:sym typeface="Calibri"/>
              </a:rPr>
              <a:t>B2</a:t>
            </a:r>
            <a:endParaRPr sz="1900"/>
          </a:p>
        </p:txBody>
      </p:sp>
      <p:sp>
        <p:nvSpPr>
          <p:cNvPr id="576" name="Google Shape;576;g3d18d3d8234_0_451"/>
          <p:cNvSpPr txBox="1"/>
          <p:nvPr/>
        </p:nvSpPr>
        <p:spPr>
          <a:xfrm>
            <a:off x="2374525" y="2705175"/>
            <a:ext cx="77382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2C2C2C"/>
                </a:solidFill>
                <a:latin typeface="Calibri"/>
                <a:ea typeface="Calibri"/>
                <a:cs typeface="Calibri"/>
                <a:sym typeface="Calibri"/>
              </a:rPr>
              <a:t>s_tau = 2.5  (</a:t>
            </a:r>
            <a:r>
              <a:rPr lang="en-US" sz="1900">
                <a:solidFill>
                  <a:srgbClr val="2C2C2C"/>
                </a:solidFill>
                <a:latin typeface="Calibri"/>
                <a:ea typeface="Calibri"/>
                <a:cs typeface="Calibri"/>
                <a:sym typeface="Calibri"/>
              </a:rPr>
              <a:t>switch the tau hyperprior to </a:t>
            </a:r>
            <a:r>
              <a:rPr lang="en-US" sz="1900" b="0" i="0" u="none" strike="noStrike" cap="none">
                <a:solidFill>
                  <a:srgbClr val="2C2C2C"/>
                </a:solidFill>
                <a:latin typeface="Calibri"/>
                <a:ea typeface="Calibri"/>
                <a:cs typeface="Calibri"/>
                <a:sym typeface="Calibri"/>
              </a:rPr>
              <a:t>Half-Cauchy, heavier tails)</a:t>
            </a:r>
            <a:endParaRPr sz="19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g3d18d3d8234_0_497"/>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2" name="Google Shape;582;g3d18d3d8234_0_497"/>
          <p:cNvSpPr txBox="1"/>
          <p:nvPr/>
        </p:nvSpPr>
        <p:spPr>
          <a:xfrm>
            <a:off x="548640" y="137160"/>
            <a:ext cx="109728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Sensitivity Analysis — Prior Robustness</a:t>
            </a:r>
            <a:endParaRPr/>
          </a:p>
        </p:txBody>
      </p:sp>
      <p:sp>
        <p:nvSpPr>
          <p:cNvPr id="583" name="Google Shape;583;g3d18d3d8234_0_497"/>
          <p:cNvSpPr txBox="1"/>
          <p:nvPr/>
        </p:nvSpPr>
        <p:spPr>
          <a:xfrm>
            <a:off x="1217519" y="3896615"/>
            <a:ext cx="9512700" cy="11451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2C2C2C"/>
                </a:solidFill>
                <a:latin typeface="Calibri"/>
                <a:ea typeface="Calibri"/>
                <a:cs typeface="Calibri"/>
                <a:sym typeface="Calibri"/>
              </a:rPr>
              <a:t>tau range across configs:  &lt; 0.05</a:t>
            </a:r>
            <a:endParaRPr sz="1900" b="0" i="0" u="none" strike="noStrike" cap="none">
              <a:solidFill>
                <a:srgbClr val="2C2C2C"/>
              </a:solidFill>
              <a:latin typeface="Calibri"/>
              <a:ea typeface="Calibri"/>
              <a:cs typeface="Calibri"/>
              <a:sym typeface="Calibri"/>
            </a:endParaRPr>
          </a:p>
          <a:p>
            <a:pPr marL="0" lvl="0" indent="0" algn="l" rtl="0">
              <a:lnSpc>
                <a:spcPct val="130000"/>
              </a:lnSpc>
              <a:spcBef>
                <a:spcPts val="0"/>
              </a:spcBef>
              <a:spcAft>
                <a:spcPts val="0"/>
              </a:spcAft>
              <a:buNone/>
            </a:pPr>
            <a:r>
              <a:rPr lang="en-US" sz="1900">
                <a:solidFill>
                  <a:srgbClr val="2C2C2C"/>
                </a:solidFill>
                <a:latin typeface="Calibri"/>
                <a:ea typeface="Calibri"/>
                <a:cs typeface="Calibri"/>
                <a:sym typeface="Calibri"/>
              </a:rPr>
              <a:t>Beta variation:  &lt; 0.02 for top predictors</a:t>
            </a:r>
            <a:endParaRPr sz="1900">
              <a:solidFill>
                <a:srgbClr val="2C2C2C"/>
              </a:solidFill>
              <a:latin typeface="Calibri"/>
              <a:ea typeface="Calibri"/>
              <a:cs typeface="Calibri"/>
              <a:sym typeface="Calibri"/>
            </a:endParaRPr>
          </a:p>
          <a:p>
            <a:pPr marL="0" lvl="0" indent="0" algn="l" rtl="0">
              <a:lnSpc>
                <a:spcPct val="130000"/>
              </a:lnSpc>
              <a:spcBef>
                <a:spcPts val="0"/>
              </a:spcBef>
              <a:spcAft>
                <a:spcPts val="0"/>
              </a:spcAft>
              <a:buNone/>
            </a:pPr>
            <a:r>
              <a:rPr lang="en-US" sz="1900">
                <a:solidFill>
                  <a:srgbClr val="2C2C2C"/>
                </a:solidFill>
                <a:latin typeface="Calibri"/>
                <a:ea typeface="Calibri"/>
                <a:cs typeface="Calibri"/>
                <a:sym typeface="Calibri"/>
              </a:rPr>
              <a:t>Specialty ranking:  Spearman rho &gt; 0.95</a:t>
            </a:r>
            <a:endParaRPr sz="1900">
              <a:solidFill>
                <a:srgbClr val="2C2C2C"/>
              </a:solidFill>
              <a:latin typeface="Calibri"/>
              <a:ea typeface="Calibri"/>
              <a:cs typeface="Calibri"/>
              <a:sym typeface="Calibri"/>
            </a:endParaRPr>
          </a:p>
        </p:txBody>
      </p:sp>
      <p:sp>
        <p:nvSpPr>
          <p:cNvPr id="584" name="Google Shape;584;g3d18d3d8234_0_497"/>
          <p:cNvSpPr txBox="1"/>
          <p:nvPr/>
        </p:nvSpPr>
        <p:spPr>
          <a:xfrm>
            <a:off x="1217519" y="5118848"/>
            <a:ext cx="95127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chemeClr val="dk2"/>
                </a:solidFill>
                <a:latin typeface="Calibri"/>
                <a:ea typeface="Calibri"/>
                <a:cs typeface="Calibri"/>
                <a:sym typeface="Calibri"/>
              </a:rPr>
              <a:t>Posterior is likelihood-dominated </a:t>
            </a:r>
            <a:r>
              <a:rPr lang="en-US" sz="1900" b="1">
                <a:solidFill>
                  <a:schemeClr val="dk2"/>
                </a:solidFill>
                <a:latin typeface="Calibri"/>
                <a:ea typeface="Calibri"/>
                <a:cs typeface="Calibri"/>
                <a:sym typeface="Calibri"/>
              </a:rPr>
              <a:t>for key parameters. Results are robust to prior choice.</a:t>
            </a:r>
            <a:endParaRPr sz="1900" b="1">
              <a:solidFill>
                <a:schemeClr val="dk2"/>
              </a:solidFill>
              <a:latin typeface="Calibri"/>
              <a:ea typeface="Calibri"/>
              <a:cs typeface="Calibri"/>
              <a:sym typeface="Calibri"/>
            </a:endParaRPr>
          </a:p>
        </p:txBody>
      </p:sp>
      <p:sp>
        <p:nvSpPr>
          <p:cNvPr id="585" name="Google Shape;585;g3d18d3d8234_0_497"/>
          <p:cNvSpPr txBox="1"/>
          <p:nvPr/>
        </p:nvSpPr>
        <p:spPr>
          <a:xfrm>
            <a:off x="877138" y="3432541"/>
            <a:ext cx="45720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000" b="1">
                <a:solidFill>
                  <a:srgbClr val="233D6B"/>
                </a:solidFill>
                <a:latin typeface="Calibri"/>
                <a:ea typeface="Calibri"/>
                <a:cs typeface="Calibri"/>
                <a:sym typeface="Calibri"/>
              </a:rPr>
              <a:t>Conclusion</a:t>
            </a:r>
            <a:endParaRPr sz="2000"/>
          </a:p>
        </p:txBody>
      </p:sp>
      <p:sp>
        <p:nvSpPr>
          <p:cNvPr id="586" name="Google Shape;586;g3d18d3d8234_0_497"/>
          <p:cNvSpPr txBox="1"/>
          <p:nvPr/>
        </p:nvSpPr>
        <p:spPr>
          <a:xfrm>
            <a:off x="911497" y="1370149"/>
            <a:ext cx="45720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000" b="1" i="0" u="none" strike="noStrike" cap="none">
                <a:solidFill>
                  <a:srgbClr val="233D6B"/>
                </a:solidFill>
                <a:latin typeface="Calibri"/>
                <a:ea typeface="Calibri"/>
                <a:cs typeface="Calibri"/>
                <a:sym typeface="Calibri"/>
              </a:rPr>
              <a:t>Alternative Prior Configurations</a:t>
            </a:r>
            <a:endParaRPr sz="2000"/>
          </a:p>
        </p:txBody>
      </p:sp>
      <p:sp>
        <p:nvSpPr>
          <p:cNvPr id="587" name="Google Shape;587;g3d18d3d8234_0_497"/>
          <p:cNvSpPr txBox="1"/>
          <p:nvPr/>
        </p:nvSpPr>
        <p:spPr>
          <a:xfrm>
            <a:off x="1185817" y="1827349"/>
            <a:ext cx="10974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3A7CA5"/>
                </a:solidFill>
                <a:latin typeface="Calibri"/>
                <a:ea typeface="Calibri"/>
                <a:cs typeface="Calibri"/>
                <a:sym typeface="Calibri"/>
              </a:rPr>
              <a:t>Baseline</a:t>
            </a:r>
            <a:endParaRPr sz="1900"/>
          </a:p>
        </p:txBody>
      </p:sp>
      <p:sp>
        <p:nvSpPr>
          <p:cNvPr id="588" name="Google Shape;588;g3d18d3d8234_0_497"/>
          <p:cNvSpPr txBox="1"/>
          <p:nvPr/>
        </p:nvSpPr>
        <p:spPr>
          <a:xfrm>
            <a:off x="2374537" y="1827349"/>
            <a:ext cx="41148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2C2C2C"/>
                </a:solidFill>
                <a:latin typeface="Calibri"/>
                <a:ea typeface="Calibri"/>
                <a:cs typeface="Calibri"/>
                <a:sym typeface="Calibri"/>
              </a:rPr>
              <a:t>s_beta = 2.5,  s_tau = 1.0  (Half-Normal)</a:t>
            </a:r>
            <a:endParaRPr sz="1900"/>
          </a:p>
        </p:txBody>
      </p:sp>
      <p:sp>
        <p:nvSpPr>
          <p:cNvPr id="589" name="Google Shape;589;g3d18d3d8234_0_497"/>
          <p:cNvSpPr txBox="1"/>
          <p:nvPr/>
        </p:nvSpPr>
        <p:spPr>
          <a:xfrm>
            <a:off x="1185817" y="2119957"/>
            <a:ext cx="10974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3A7CA5"/>
                </a:solidFill>
                <a:latin typeface="Calibri"/>
                <a:ea typeface="Calibri"/>
                <a:cs typeface="Calibri"/>
                <a:sym typeface="Calibri"/>
              </a:rPr>
              <a:t>A1</a:t>
            </a:r>
            <a:endParaRPr sz="1900"/>
          </a:p>
        </p:txBody>
      </p:sp>
      <p:sp>
        <p:nvSpPr>
          <p:cNvPr id="590" name="Google Shape;590;g3d18d3d8234_0_497"/>
          <p:cNvSpPr txBox="1"/>
          <p:nvPr/>
        </p:nvSpPr>
        <p:spPr>
          <a:xfrm>
            <a:off x="1185817" y="2412565"/>
            <a:ext cx="10974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3A7CA5"/>
                </a:solidFill>
                <a:latin typeface="Calibri"/>
                <a:ea typeface="Calibri"/>
                <a:cs typeface="Calibri"/>
                <a:sym typeface="Calibri"/>
              </a:rPr>
              <a:t>B1</a:t>
            </a:r>
            <a:endParaRPr sz="1900"/>
          </a:p>
        </p:txBody>
      </p:sp>
      <p:sp>
        <p:nvSpPr>
          <p:cNvPr id="591" name="Google Shape;591;g3d18d3d8234_0_497"/>
          <p:cNvSpPr txBox="1"/>
          <p:nvPr/>
        </p:nvSpPr>
        <p:spPr>
          <a:xfrm>
            <a:off x="1185817" y="2705173"/>
            <a:ext cx="10974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3A7CA5"/>
                </a:solidFill>
                <a:latin typeface="Calibri"/>
                <a:ea typeface="Calibri"/>
                <a:cs typeface="Calibri"/>
                <a:sym typeface="Calibri"/>
              </a:rPr>
              <a:t>B2</a:t>
            </a:r>
            <a:endParaRPr sz="1900"/>
          </a:p>
        </p:txBody>
      </p:sp>
      <p:sp>
        <p:nvSpPr>
          <p:cNvPr id="592" name="Google Shape;592;g3d18d3d8234_0_497"/>
          <p:cNvSpPr txBox="1"/>
          <p:nvPr/>
        </p:nvSpPr>
        <p:spPr>
          <a:xfrm>
            <a:off x="2374526" y="2119950"/>
            <a:ext cx="66540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2C2C2C"/>
                </a:solidFill>
                <a:latin typeface="Calibri"/>
                <a:ea typeface="Calibri"/>
                <a:cs typeface="Calibri"/>
                <a:sym typeface="Calibri"/>
              </a:rPr>
              <a:t>s_beta = 5.0  </a:t>
            </a:r>
            <a:r>
              <a:rPr lang="en-US" sz="1900">
                <a:solidFill>
                  <a:srgbClr val="2C2C2C"/>
                </a:solidFill>
                <a:latin typeface="Calibri"/>
                <a:ea typeface="Calibri"/>
                <a:cs typeface="Calibri"/>
                <a:sym typeface="Calibri"/>
              </a:rPr>
              <a:t>(fixed-effect prior standard deviation doubled)</a:t>
            </a:r>
            <a:endParaRPr sz="1900">
              <a:solidFill>
                <a:srgbClr val="2C2C2C"/>
              </a:solidFill>
              <a:latin typeface="Calibri"/>
              <a:ea typeface="Calibri"/>
              <a:cs typeface="Calibri"/>
              <a:sym typeface="Calibri"/>
            </a:endParaRPr>
          </a:p>
        </p:txBody>
      </p:sp>
      <p:sp>
        <p:nvSpPr>
          <p:cNvPr id="593" name="Google Shape;593;g3d18d3d8234_0_497"/>
          <p:cNvSpPr txBox="1"/>
          <p:nvPr/>
        </p:nvSpPr>
        <p:spPr>
          <a:xfrm>
            <a:off x="2374526" y="2412575"/>
            <a:ext cx="71202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2C2C2C"/>
                </a:solidFill>
                <a:latin typeface="Calibri"/>
                <a:ea typeface="Calibri"/>
                <a:cs typeface="Calibri"/>
                <a:sym typeface="Calibri"/>
              </a:rPr>
              <a:t>s_tau = 2.5  (</a:t>
            </a:r>
            <a:r>
              <a:rPr lang="en-US" sz="1900">
                <a:solidFill>
                  <a:srgbClr val="2C2C2C"/>
                </a:solidFill>
                <a:latin typeface="Calibri"/>
                <a:ea typeface="Calibri"/>
                <a:cs typeface="Calibri"/>
                <a:sym typeface="Calibri"/>
              </a:rPr>
              <a:t>widen the tau hyperprior to </a:t>
            </a:r>
            <a:r>
              <a:rPr lang="en-US" sz="1900" b="0" i="0" u="none" strike="noStrike" cap="none">
                <a:solidFill>
                  <a:srgbClr val="2C2C2C"/>
                </a:solidFill>
                <a:latin typeface="Calibri"/>
                <a:ea typeface="Calibri"/>
                <a:cs typeface="Calibri"/>
                <a:sym typeface="Calibri"/>
              </a:rPr>
              <a:t>Half-Normal, wider)</a:t>
            </a:r>
            <a:endParaRPr sz="1900"/>
          </a:p>
        </p:txBody>
      </p:sp>
      <p:sp>
        <p:nvSpPr>
          <p:cNvPr id="594" name="Google Shape;594;g3d18d3d8234_0_497"/>
          <p:cNvSpPr txBox="1"/>
          <p:nvPr/>
        </p:nvSpPr>
        <p:spPr>
          <a:xfrm>
            <a:off x="2374525" y="2705175"/>
            <a:ext cx="77382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0" i="0" u="none" strike="noStrike" cap="none">
                <a:solidFill>
                  <a:srgbClr val="2C2C2C"/>
                </a:solidFill>
                <a:latin typeface="Calibri"/>
                <a:ea typeface="Calibri"/>
                <a:cs typeface="Calibri"/>
                <a:sym typeface="Calibri"/>
              </a:rPr>
              <a:t>s_tau = 2.5  (</a:t>
            </a:r>
            <a:r>
              <a:rPr lang="en-US" sz="1900">
                <a:solidFill>
                  <a:srgbClr val="2C2C2C"/>
                </a:solidFill>
                <a:latin typeface="Calibri"/>
                <a:ea typeface="Calibri"/>
                <a:cs typeface="Calibri"/>
                <a:sym typeface="Calibri"/>
              </a:rPr>
              <a:t>switch the tau hyperprior to </a:t>
            </a:r>
            <a:r>
              <a:rPr lang="en-US" sz="1900" b="0" i="0" u="none" strike="noStrike" cap="none">
                <a:solidFill>
                  <a:srgbClr val="2C2C2C"/>
                </a:solidFill>
                <a:latin typeface="Calibri"/>
                <a:ea typeface="Calibri"/>
                <a:cs typeface="Calibri"/>
                <a:sym typeface="Calibri"/>
              </a:rPr>
              <a:t>Half-Cauchy, heavier tails)</a:t>
            </a:r>
            <a:endParaRPr sz="19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29"/>
          <p:cNvSpPr/>
          <p:nvPr/>
        </p:nvSpPr>
        <p:spPr>
          <a:xfrm>
            <a:off x="0" y="0"/>
            <a:ext cx="12191695" cy="6858000"/>
          </a:xfrm>
          <a:prstGeom prst="rect">
            <a:avLst/>
          </a:prstGeom>
          <a:solidFill>
            <a:srgbClr val="233D6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0" name="Google Shape;600;p29"/>
          <p:cNvSpPr/>
          <p:nvPr/>
        </p:nvSpPr>
        <p:spPr>
          <a:xfrm>
            <a:off x="1371600" y="2834640"/>
            <a:ext cx="1828800" cy="54864"/>
          </a:xfrm>
          <a:prstGeom prst="rect">
            <a:avLst/>
          </a:prstGeom>
          <a:solidFill>
            <a:srgbClr val="3A7CA5"/>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1" name="Google Shape;601;p29"/>
          <p:cNvSpPr txBox="1"/>
          <p:nvPr/>
        </p:nvSpPr>
        <p:spPr>
          <a:xfrm>
            <a:off x="1371600" y="3108960"/>
            <a:ext cx="9144000" cy="109728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600" b="1" i="0" u="none" strike="noStrike" cap="none">
                <a:solidFill>
                  <a:srgbClr val="FFFFFF"/>
                </a:solidFill>
                <a:latin typeface="Calibri"/>
                <a:ea typeface="Calibri"/>
                <a:cs typeface="Calibri"/>
                <a:sym typeface="Calibri"/>
              </a:rPr>
              <a:t>Part 8</a:t>
            </a:r>
            <a:endParaRPr/>
          </a:p>
        </p:txBody>
      </p:sp>
      <p:sp>
        <p:nvSpPr>
          <p:cNvPr id="602" name="Google Shape;602;p29"/>
          <p:cNvSpPr txBox="1"/>
          <p:nvPr/>
        </p:nvSpPr>
        <p:spPr>
          <a:xfrm>
            <a:off x="1371600" y="4023360"/>
            <a:ext cx="91440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3000" b="0" i="0" u="none" strike="noStrike" cap="none">
                <a:solidFill>
                  <a:srgbClr val="3A7CA5"/>
                </a:solidFill>
                <a:latin typeface="Calibri"/>
                <a:ea typeface="Calibri"/>
                <a:cs typeface="Calibri"/>
                <a:sym typeface="Calibri"/>
              </a:rPr>
              <a:t>Conclusion</a:t>
            </a:r>
            <a:endParaRPr sz="3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g3d18d3d8234_0_434"/>
          <p:cNvSpPr/>
          <p:nvPr/>
        </p:nvSpPr>
        <p:spPr>
          <a:xfrm>
            <a:off x="950925" y="2704550"/>
            <a:ext cx="10485000" cy="9198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608" name="Google Shape;608;g3d18d3d8234_0_434"/>
          <p:cNvSpPr/>
          <p:nvPr/>
        </p:nvSpPr>
        <p:spPr>
          <a:xfrm>
            <a:off x="950925" y="3790975"/>
            <a:ext cx="10485000" cy="10761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609" name="Google Shape;609;g3d18d3d8234_0_434"/>
          <p:cNvSpPr/>
          <p:nvPr/>
        </p:nvSpPr>
        <p:spPr>
          <a:xfrm>
            <a:off x="950925" y="5033700"/>
            <a:ext cx="10485000" cy="10761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610" name="Google Shape;610;g3d18d3d8234_0_434"/>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1" name="Google Shape;611;g3d18d3d8234_0_434"/>
          <p:cNvSpPr txBox="1"/>
          <p:nvPr/>
        </p:nvSpPr>
        <p:spPr>
          <a:xfrm>
            <a:off x="548640" y="137160"/>
            <a:ext cx="109728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a:solidFill>
                  <a:srgbClr val="FFFFFF"/>
                </a:solidFill>
                <a:latin typeface="Calibri"/>
                <a:ea typeface="Calibri"/>
                <a:cs typeface="Calibri"/>
                <a:sym typeface="Calibri"/>
              </a:rPr>
              <a:t>Main Findings</a:t>
            </a:r>
            <a:endParaRPr sz="2800" b="1">
              <a:solidFill>
                <a:srgbClr val="FFFFFF"/>
              </a:solidFill>
              <a:latin typeface="Calibri"/>
              <a:ea typeface="Calibri"/>
              <a:cs typeface="Calibri"/>
              <a:sym typeface="Calibri"/>
            </a:endParaRPr>
          </a:p>
        </p:txBody>
      </p:sp>
      <p:sp>
        <p:nvSpPr>
          <p:cNvPr id="612" name="Google Shape;612;g3d18d3d8234_0_434"/>
          <p:cNvSpPr/>
          <p:nvPr/>
        </p:nvSpPr>
        <p:spPr>
          <a:xfrm>
            <a:off x="853425" y="1584950"/>
            <a:ext cx="10485000" cy="919800"/>
          </a:xfrm>
          <a:prstGeom prst="rect">
            <a:avLst/>
          </a:prstGeom>
          <a:solidFill>
            <a:srgbClr val="FFFFFF"/>
          </a:solidFill>
          <a:ln>
            <a:noFill/>
          </a:ln>
          <a:effectLst>
            <a:outerShdw blurRad="67732" dist="33866" dir="8100000" algn="bl" rotWithShape="0">
              <a:srgbClr val="000000">
                <a:alpha val="102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613" name="Google Shape;613;g3d18d3d8234_0_434"/>
          <p:cNvSpPr/>
          <p:nvPr/>
        </p:nvSpPr>
        <p:spPr>
          <a:xfrm>
            <a:off x="1341092" y="1664922"/>
            <a:ext cx="9509400" cy="280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C74B3"/>
              </a:buClr>
              <a:buSzPts val="2100"/>
              <a:buFont typeface="Calibri"/>
              <a:buNone/>
            </a:pPr>
            <a:r>
              <a:rPr lang="en-US" sz="2100" b="1">
                <a:solidFill>
                  <a:schemeClr val="dk2"/>
                </a:solidFill>
                <a:latin typeface="Calibri"/>
                <a:ea typeface="Calibri"/>
                <a:cs typeface="Calibri"/>
                <a:sym typeface="Calibri"/>
              </a:rPr>
              <a:t>Specialty matters        τ = 0.437 (CrI [0.298, 0.644]</a:t>
            </a:r>
            <a:r>
              <a:rPr lang="en-US" sz="1900">
                <a:solidFill>
                  <a:schemeClr val="dk1"/>
                </a:solidFill>
                <a:latin typeface="Calibri"/>
                <a:ea typeface="Calibri"/>
                <a:cs typeface="Calibri"/>
                <a:sym typeface="Calibri"/>
              </a:rPr>
              <a:t>) </a:t>
            </a:r>
            <a:endParaRPr sz="2100" b="0" i="0" u="none" strike="noStrike" cap="none">
              <a:solidFill>
                <a:schemeClr val="dk2"/>
              </a:solidFill>
              <a:latin typeface="Calibri"/>
              <a:ea typeface="Calibri"/>
              <a:cs typeface="Calibri"/>
              <a:sym typeface="Calibri"/>
            </a:endParaRPr>
          </a:p>
        </p:txBody>
      </p:sp>
      <p:sp>
        <p:nvSpPr>
          <p:cNvPr id="614" name="Google Shape;614;g3d18d3d8234_0_434"/>
          <p:cNvSpPr/>
          <p:nvPr/>
        </p:nvSpPr>
        <p:spPr>
          <a:xfrm>
            <a:off x="1341092" y="1944823"/>
            <a:ext cx="9509400" cy="47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E293B"/>
              </a:buClr>
              <a:buSzPts val="1600"/>
              <a:buFont typeface="Calibri"/>
              <a:buNone/>
            </a:pPr>
            <a:endParaRPr sz="1900">
              <a:solidFill>
                <a:schemeClr val="dk1"/>
              </a:solidFill>
              <a:latin typeface="Calibri"/>
              <a:ea typeface="Calibri"/>
              <a:cs typeface="Calibri"/>
              <a:sym typeface="Calibri"/>
            </a:endParaRPr>
          </a:p>
          <a:p>
            <a:pPr marL="0" lvl="0" indent="0" algn="l" rtl="0">
              <a:spcBef>
                <a:spcPts val="0"/>
              </a:spcBef>
              <a:spcAft>
                <a:spcPts val="0"/>
              </a:spcAft>
              <a:buClr>
                <a:srgbClr val="1E293B"/>
              </a:buClr>
              <a:buSzPts val="1600"/>
              <a:buFont typeface="Calibri"/>
              <a:buNone/>
            </a:pPr>
            <a:r>
              <a:rPr lang="en-US" sz="1900">
                <a:solidFill>
                  <a:schemeClr val="dk1"/>
                </a:solidFill>
                <a:latin typeface="Calibri"/>
                <a:ea typeface="Calibri"/>
                <a:cs typeface="Calibri"/>
                <a:sym typeface="Calibri"/>
              </a:rPr>
              <a:t>meaningful heterogeneity beyond patient covariates </a:t>
            </a:r>
            <a:endParaRPr sz="1900">
              <a:solidFill>
                <a:schemeClr val="dk1"/>
              </a:solidFill>
              <a:latin typeface="Calibri"/>
              <a:ea typeface="Calibri"/>
              <a:cs typeface="Calibri"/>
              <a:sym typeface="Calibri"/>
            </a:endParaRPr>
          </a:p>
          <a:p>
            <a:pPr marL="0" marR="0" lvl="0" indent="0" algn="l" rtl="0">
              <a:spcBef>
                <a:spcPts val="0"/>
              </a:spcBef>
              <a:spcAft>
                <a:spcPts val="0"/>
              </a:spcAft>
              <a:buClr>
                <a:srgbClr val="4A5568"/>
              </a:buClr>
              <a:buSzPts val="1600"/>
              <a:buFont typeface="Calibri"/>
              <a:buNone/>
            </a:pPr>
            <a:endParaRPr sz="1900">
              <a:solidFill>
                <a:schemeClr val="dk1"/>
              </a:solidFill>
              <a:latin typeface="Calibri"/>
              <a:ea typeface="Calibri"/>
              <a:cs typeface="Calibri"/>
              <a:sym typeface="Calibri"/>
            </a:endParaRPr>
          </a:p>
        </p:txBody>
      </p:sp>
      <p:sp>
        <p:nvSpPr>
          <p:cNvPr id="615" name="Google Shape;615;g3d18d3d8234_0_434"/>
          <p:cNvSpPr/>
          <p:nvPr/>
        </p:nvSpPr>
        <p:spPr>
          <a:xfrm>
            <a:off x="853425" y="4957632"/>
            <a:ext cx="10485000" cy="11595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1E293B"/>
              </a:buClr>
              <a:buSzPts val="1600"/>
              <a:buFont typeface="Calibri"/>
              <a:buNone/>
            </a:pPr>
            <a:endParaRPr sz="1900">
              <a:solidFill>
                <a:schemeClr val="dk1"/>
              </a:solidFill>
              <a:latin typeface="Calibri"/>
              <a:ea typeface="Calibri"/>
              <a:cs typeface="Calibri"/>
              <a:sym typeface="Calibri"/>
            </a:endParaRPr>
          </a:p>
        </p:txBody>
      </p:sp>
      <p:sp>
        <p:nvSpPr>
          <p:cNvPr id="616" name="Google Shape;616;g3d18d3d8234_0_434"/>
          <p:cNvSpPr/>
          <p:nvPr/>
        </p:nvSpPr>
        <p:spPr>
          <a:xfrm>
            <a:off x="1341092" y="5037597"/>
            <a:ext cx="9509400" cy="280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C74B3"/>
              </a:buClr>
              <a:buSzPts val="2100"/>
              <a:buFont typeface="Calibri"/>
              <a:buNone/>
            </a:pPr>
            <a:r>
              <a:rPr lang="en-US" sz="2100" b="1">
                <a:solidFill>
                  <a:schemeClr val="dk2"/>
                </a:solidFill>
                <a:latin typeface="Calibri"/>
                <a:ea typeface="Calibri"/>
                <a:cs typeface="Calibri"/>
                <a:sym typeface="Calibri"/>
              </a:rPr>
              <a:t>Partial pooling</a:t>
            </a:r>
            <a:endParaRPr sz="2100" b="1">
              <a:solidFill>
                <a:schemeClr val="dk2"/>
              </a:solidFill>
              <a:latin typeface="Calibri"/>
              <a:ea typeface="Calibri"/>
              <a:cs typeface="Calibri"/>
              <a:sym typeface="Calibri"/>
            </a:endParaRPr>
          </a:p>
        </p:txBody>
      </p:sp>
      <p:sp>
        <p:nvSpPr>
          <p:cNvPr id="617" name="Google Shape;617;g3d18d3d8234_0_434"/>
          <p:cNvSpPr/>
          <p:nvPr/>
        </p:nvSpPr>
        <p:spPr>
          <a:xfrm>
            <a:off x="1341092" y="5411317"/>
            <a:ext cx="9509400" cy="60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600"/>
              <a:buFont typeface="Calibri"/>
              <a:buNone/>
            </a:pPr>
            <a:r>
              <a:rPr lang="en-US" sz="1900">
                <a:solidFill>
                  <a:schemeClr val="dk1"/>
                </a:solidFill>
                <a:latin typeface="Calibri"/>
                <a:ea typeface="Calibri"/>
                <a:cs typeface="Calibri"/>
                <a:sym typeface="Calibri"/>
              </a:rPr>
              <a:t>Hierarchical model stabilizes estimates for small specialties via shrinkage toward the population mean</a:t>
            </a:r>
            <a:endParaRPr sz="1900">
              <a:solidFill>
                <a:schemeClr val="dk1"/>
              </a:solidFill>
              <a:latin typeface="Calibri"/>
              <a:ea typeface="Calibri"/>
              <a:cs typeface="Calibri"/>
              <a:sym typeface="Calibri"/>
            </a:endParaRPr>
          </a:p>
        </p:txBody>
      </p:sp>
      <p:sp>
        <p:nvSpPr>
          <p:cNvPr id="618" name="Google Shape;618;g3d18d3d8234_0_434"/>
          <p:cNvSpPr/>
          <p:nvPr/>
        </p:nvSpPr>
        <p:spPr>
          <a:xfrm>
            <a:off x="853425" y="3744202"/>
            <a:ext cx="97500" cy="10761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solidFill>
                <a:schemeClr val="dk2"/>
              </a:solidFill>
            </a:endParaRPr>
          </a:p>
        </p:txBody>
      </p:sp>
      <p:sp>
        <p:nvSpPr>
          <p:cNvPr id="619" name="Google Shape;619;g3d18d3d8234_0_434"/>
          <p:cNvSpPr/>
          <p:nvPr/>
        </p:nvSpPr>
        <p:spPr>
          <a:xfrm>
            <a:off x="1341092" y="3824162"/>
            <a:ext cx="9509400" cy="280200"/>
          </a:xfrm>
          <a:prstGeom prst="rect">
            <a:avLst/>
          </a:prstGeom>
          <a:noFill/>
          <a:ln>
            <a:noFill/>
          </a:ln>
        </p:spPr>
        <p:txBody>
          <a:bodyPr spcFirstLastPara="1" wrap="square" lIns="0" tIns="0" rIns="0" bIns="0" anchor="ctr" anchorCtr="0">
            <a:noAutofit/>
          </a:bodyPr>
          <a:lstStyle/>
          <a:p>
            <a:pPr marL="0" lvl="0" indent="0" algn="l" rtl="0">
              <a:lnSpc>
                <a:spcPct val="200909"/>
              </a:lnSpc>
              <a:spcBef>
                <a:spcPts val="0"/>
              </a:spcBef>
              <a:spcAft>
                <a:spcPts val="0"/>
              </a:spcAft>
              <a:buClr>
                <a:schemeClr val="dk1"/>
              </a:buClr>
              <a:buSzPts val="1100"/>
              <a:buFont typeface="Arial"/>
              <a:buNone/>
            </a:pPr>
            <a:r>
              <a:rPr lang="en-US" sz="2100" b="1">
                <a:solidFill>
                  <a:schemeClr val="dk2"/>
                </a:solidFill>
                <a:latin typeface="Calibri"/>
                <a:ea typeface="Calibri"/>
                <a:cs typeface="Calibri"/>
                <a:sym typeface="Calibri"/>
              </a:rPr>
              <a:t>Model adequacy</a:t>
            </a:r>
            <a:endParaRPr sz="2100" b="1">
              <a:solidFill>
                <a:schemeClr val="dk2"/>
              </a:solidFill>
              <a:latin typeface="Calibri"/>
              <a:ea typeface="Calibri"/>
              <a:cs typeface="Calibri"/>
              <a:sym typeface="Calibri"/>
            </a:endParaRPr>
          </a:p>
        </p:txBody>
      </p:sp>
      <p:sp>
        <p:nvSpPr>
          <p:cNvPr id="620" name="Google Shape;620;g3d18d3d8234_0_434"/>
          <p:cNvSpPr/>
          <p:nvPr/>
        </p:nvSpPr>
        <p:spPr>
          <a:xfrm>
            <a:off x="1341100" y="4112390"/>
            <a:ext cx="9509400" cy="8016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chemeClr val="dk1"/>
              </a:buClr>
              <a:buSzPts val="1100"/>
              <a:buFont typeface="Arial"/>
              <a:buNone/>
            </a:pPr>
            <a:r>
              <a:rPr lang="en-US" sz="1900">
                <a:solidFill>
                  <a:schemeClr val="dk1"/>
                </a:solidFill>
                <a:latin typeface="Calibri"/>
                <a:ea typeface="Calibri"/>
                <a:cs typeface="Calibri"/>
                <a:sym typeface="Calibri"/>
              </a:rPr>
              <a:t>PPC confirms model captures both mean and variance structure</a:t>
            </a:r>
            <a:endParaRPr sz="190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sz="1900">
                <a:solidFill>
                  <a:schemeClr val="dk1"/>
                </a:solidFill>
                <a:latin typeface="Calibri"/>
                <a:ea typeface="Calibri"/>
                <a:cs typeface="Calibri"/>
                <a:sym typeface="Calibri"/>
              </a:rPr>
              <a:t>DIC favors hierarchical over no-specialty model</a:t>
            </a:r>
            <a:endParaRPr sz="1900">
              <a:solidFill>
                <a:schemeClr val="dk1"/>
              </a:solidFill>
              <a:latin typeface="Calibri"/>
              <a:ea typeface="Calibri"/>
              <a:cs typeface="Calibri"/>
              <a:sym typeface="Calibri"/>
            </a:endParaRPr>
          </a:p>
        </p:txBody>
      </p:sp>
      <p:sp>
        <p:nvSpPr>
          <p:cNvPr id="621" name="Google Shape;621;g3d18d3d8234_0_434"/>
          <p:cNvSpPr/>
          <p:nvPr/>
        </p:nvSpPr>
        <p:spPr>
          <a:xfrm>
            <a:off x="853425" y="1584950"/>
            <a:ext cx="97500" cy="919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solidFill>
                <a:schemeClr val="dk2"/>
              </a:solidFill>
            </a:endParaRPr>
          </a:p>
        </p:txBody>
      </p:sp>
      <p:sp>
        <p:nvSpPr>
          <p:cNvPr id="622" name="Google Shape;622;g3d18d3d8234_0_434"/>
          <p:cNvSpPr/>
          <p:nvPr/>
        </p:nvSpPr>
        <p:spPr>
          <a:xfrm>
            <a:off x="853425" y="4957632"/>
            <a:ext cx="97500" cy="11595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solidFill>
                <a:schemeClr val="dk2"/>
              </a:solidFill>
            </a:endParaRPr>
          </a:p>
        </p:txBody>
      </p:sp>
      <p:sp>
        <p:nvSpPr>
          <p:cNvPr id="623" name="Google Shape;623;g3d18d3d8234_0_434"/>
          <p:cNvSpPr/>
          <p:nvPr/>
        </p:nvSpPr>
        <p:spPr>
          <a:xfrm>
            <a:off x="853425" y="2704540"/>
            <a:ext cx="97500" cy="919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solidFill>
                <a:schemeClr val="dk2"/>
              </a:solidFill>
            </a:endParaRPr>
          </a:p>
        </p:txBody>
      </p:sp>
      <p:sp>
        <p:nvSpPr>
          <p:cNvPr id="624" name="Google Shape;624;g3d18d3d8234_0_434"/>
          <p:cNvSpPr/>
          <p:nvPr/>
        </p:nvSpPr>
        <p:spPr>
          <a:xfrm>
            <a:off x="1341092" y="2784512"/>
            <a:ext cx="9509400" cy="28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2C74B3"/>
              </a:buClr>
              <a:buSzPts val="2100"/>
              <a:buFont typeface="Calibri"/>
              <a:buNone/>
            </a:pPr>
            <a:r>
              <a:rPr lang="en-US" sz="2100" b="1">
                <a:solidFill>
                  <a:schemeClr val="dk2"/>
                </a:solidFill>
                <a:latin typeface="Calibri"/>
                <a:ea typeface="Calibri"/>
                <a:cs typeface="Calibri"/>
                <a:sym typeface="Calibri"/>
              </a:rPr>
              <a:t>Medical complexity drives readmission</a:t>
            </a:r>
            <a:endParaRPr sz="2100" b="1" i="0" u="none" strike="noStrike" cap="none">
              <a:solidFill>
                <a:schemeClr val="dk2"/>
              </a:solidFill>
              <a:latin typeface="Calibri"/>
              <a:ea typeface="Calibri"/>
              <a:cs typeface="Calibri"/>
              <a:sym typeface="Calibri"/>
            </a:endParaRPr>
          </a:p>
        </p:txBody>
      </p:sp>
      <p:sp>
        <p:nvSpPr>
          <p:cNvPr id="625" name="Google Shape;625;g3d18d3d8234_0_434"/>
          <p:cNvSpPr/>
          <p:nvPr/>
        </p:nvSpPr>
        <p:spPr>
          <a:xfrm>
            <a:off x="1341092" y="3064413"/>
            <a:ext cx="9509400" cy="479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E293B"/>
              </a:buClr>
              <a:buSzPts val="1600"/>
              <a:buFont typeface="Calibri"/>
              <a:buNone/>
            </a:pPr>
            <a:r>
              <a:rPr lang="en-US" sz="1900">
                <a:solidFill>
                  <a:schemeClr val="dk1"/>
                </a:solidFill>
                <a:latin typeface="Calibri"/>
                <a:ea typeface="Calibri"/>
                <a:cs typeface="Calibri"/>
                <a:sym typeface="Calibri"/>
              </a:rPr>
              <a:t>Prior inpatient visits, neoplasms, A1C, age, diagnoses are strongest predictors</a:t>
            </a:r>
            <a:endParaRPr sz="19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g3d18d3d8234_0_401"/>
          <p:cNvSpPr/>
          <p:nvPr/>
        </p:nvSpPr>
        <p:spPr>
          <a:xfrm>
            <a:off x="0" y="0"/>
            <a:ext cx="12191700" cy="1005900"/>
          </a:xfrm>
          <a:prstGeom prst="rect">
            <a:avLst/>
          </a:prstGeom>
          <a:solidFill>
            <a:srgbClr val="1B2A4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1" name="Google Shape;631;g3d18d3d8234_0_401"/>
          <p:cNvSpPr txBox="1"/>
          <p:nvPr/>
        </p:nvSpPr>
        <p:spPr>
          <a:xfrm>
            <a:off x="548640" y="137160"/>
            <a:ext cx="109728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800" b="1" i="0" u="none" strike="noStrike" cap="none">
                <a:solidFill>
                  <a:srgbClr val="FFFFFF"/>
                </a:solidFill>
                <a:latin typeface="Calibri"/>
                <a:ea typeface="Calibri"/>
                <a:cs typeface="Calibri"/>
                <a:sym typeface="Calibri"/>
              </a:rPr>
              <a:t>Limitations &amp; Future Work</a:t>
            </a:r>
            <a:endParaRPr/>
          </a:p>
        </p:txBody>
      </p:sp>
      <p:sp>
        <p:nvSpPr>
          <p:cNvPr id="632" name="Google Shape;632;g3d18d3d8234_0_401"/>
          <p:cNvSpPr txBox="1"/>
          <p:nvPr/>
        </p:nvSpPr>
        <p:spPr>
          <a:xfrm>
            <a:off x="731520" y="1371600"/>
            <a:ext cx="45720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000" b="1" i="0" u="none" strike="noStrike" cap="none">
                <a:solidFill>
                  <a:schemeClr val="dk2"/>
                </a:solidFill>
                <a:latin typeface="Calibri"/>
                <a:ea typeface="Calibri"/>
                <a:cs typeface="Calibri"/>
                <a:sym typeface="Calibri"/>
              </a:rPr>
              <a:t>Limitations</a:t>
            </a:r>
            <a:endParaRPr>
              <a:solidFill>
                <a:schemeClr val="dk2"/>
              </a:solidFill>
            </a:endParaRPr>
          </a:p>
        </p:txBody>
      </p:sp>
      <p:sp>
        <p:nvSpPr>
          <p:cNvPr id="633" name="Google Shape;633;g3d18d3d8234_0_401"/>
          <p:cNvSpPr txBox="1"/>
          <p:nvPr/>
        </p:nvSpPr>
        <p:spPr>
          <a:xfrm>
            <a:off x="914400" y="1828800"/>
            <a:ext cx="22860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2C2C2C"/>
                </a:solidFill>
                <a:latin typeface="Calibri"/>
                <a:ea typeface="Calibri"/>
                <a:cs typeface="Calibri"/>
                <a:sym typeface="Calibri"/>
              </a:rPr>
              <a:t>Data vintage</a:t>
            </a:r>
            <a:endParaRPr sz="1900" b="1"/>
          </a:p>
        </p:txBody>
      </p:sp>
      <p:sp>
        <p:nvSpPr>
          <p:cNvPr id="634" name="Google Shape;634;g3d18d3d8234_0_401"/>
          <p:cNvSpPr txBox="1"/>
          <p:nvPr/>
        </p:nvSpPr>
        <p:spPr>
          <a:xfrm>
            <a:off x="3200400" y="1828800"/>
            <a:ext cx="82296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i="0" u="none" strike="noStrike" cap="none">
                <a:solidFill>
                  <a:schemeClr val="dk1"/>
                </a:solidFill>
                <a:latin typeface="Calibri"/>
                <a:ea typeface="Calibri"/>
                <a:cs typeface="Calibri"/>
                <a:sym typeface="Calibri"/>
              </a:rPr>
              <a:t>Dataset from 1999-2008</a:t>
            </a:r>
            <a:r>
              <a:rPr lang="en-US" sz="1900">
                <a:solidFill>
                  <a:schemeClr val="dk1"/>
                </a:solidFill>
                <a:latin typeface="Calibri"/>
                <a:ea typeface="Calibri"/>
                <a:cs typeface="Calibri"/>
                <a:sym typeface="Calibri"/>
              </a:rPr>
              <a:t>, </a:t>
            </a:r>
            <a:r>
              <a:rPr lang="en-US" sz="1900" i="0" u="none" strike="noStrike" cap="none">
                <a:solidFill>
                  <a:schemeClr val="dk1"/>
                </a:solidFill>
                <a:latin typeface="Calibri"/>
                <a:ea typeface="Calibri"/>
                <a:cs typeface="Calibri"/>
                <a:sym typeface="Calibri"/>
              </a:rPr>
              <a:t> ICD-9 has since transitioned to ICD-10</a:t>
            </a:r>
            <a:endParaRPr sz="1900">
              <a:solidFill>
                <a:schemeClr val="dk1"/>
              </a:solidFill>
            </a:endParaRPr>
          </a:p>
        </p:txBody>
      </p:sp>
      <p:sp>
        <p:nvSpPr>
          <p:cNvPr id="635" name="Google Shape;635;g3d18d3d8234_0_401"/>
          <p:cNvSpPr txBox="1"/>
          <p:nvPr/>
        </p:nvSpPr>
        <p:spPr>
          <a:xfrm>
            <a:off x="914400" y="2305169"/>
            <a:ext cx="22860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2C2C2C"/>
                </a:solidFill>
                <a:latin typeface="Calibri"/>
                <a:ea typeface="Calibri"/>
                <a:cs typeface="Calibri"/>
                <a:sym typeface="Calibri"/>
              </a:rPr>
              <a:t>Selection bias</a:t>
            </a:r>
            <a:endParaRPr sz="1900" b="1"/>
          </a:p>
        </p:txBody>
      </p:sp>
      <p:sp>
        <p:nvSpPr>
          <p:cNvPr id="636" name="Google Shape;636;g3d18d3d8234_0_401"/>
          <p:cNvSpPr txBox="1"/>
          <p:nvPr/>
        </p:nvSpPr>
        <p:spPr>
          <a:xfrm>
            <a:off x="3200400" y="2305169"/>
            <a:ext cx="8229600" cy="8526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900" i="0" u="none" strike="noStrike" cap="none">
                <a:solidFill>
                  <a:schemeClr val="dk1"/>
                </a:solidFill>
                <a:latin typeface="Calibri"/>
                <a:ea typeface="Calibri"/>
                <a:cs typeface="Calibri"/>
                <a:sym typeface="Calibri"/>
              </a:rPr>
              <a:t>Excluded 45.7% of encounters with</a:t>
            </a:r>
            <a:r>
              <a:rPr lang="en-US" sz="1900">
                <a:solidFill>
                  <a:schemeClr val="dk1"/>
                </a:solidFill>
                <a:latin typeface="Calibri"/>
                <a:ea typeface="Calibri"/>
                <a:cs typeface="Calibri"/>
                <a:sym typeface="Calibri"/>
              </a:rPr>
              <a:t> unknown specialty, which could introduce selection bias if the missing-specialty mechanism is non-random.</a:t>
            </a:r>
            <a:endParaRPr sz="1900">
              <a:solidFill>
                <a:schemeClr val="dk1"/>
              </a:solidFill>
              <a:latin typeface="Calibri"/>
              <a:ea typeface="Calibri"/>
              <a:cs typeface="Calibri"/>
              <a:sym typeface="Calibri"/>
            </a:endParaRPr>
          </a:p>
          <a:p>
            <a:pPr marL="0" marR="0" lvl="0" indent="0" algn="l" rtl="0">
              <a:lnSpc>
                <a:spcPct val="130000"/>
              </a:lnSpc>
              <a:spcBef>
                <a:spcPts val="0"/>
              </a:spcBef>
              <a:spcAft>
                <a:spcPts val="0"/>
              </a:spcAft>
              <a:buNone/>
            </a:pPr>
            <a:r>
              <a:rPr lang="en-US" sz="1900">
                <a:solidFill>
                  <a:schemeClr val="dk1"/>
                </a:solidFill>
                <a:latin typeface="Calibri"/>
                <a:ea typeface="Calibri"/>
                <a:cs typeface="Calibri"/>
                <a:sym typeface="Calibri"/>
              </a:rPr>
              <a:t> </a:t>
            </a:r>
            <a:endParaRPr sz="1900">
              <a:solidFill>
                <a:schemeClr val="dk1"/>
              </a:solidFill>
            </a:endParaRPr>
          </a:p>
        </p:txBody>
      </p:sp>
      <p:sp>
        <p:nvSpPr>
          <p:cNvPr id="637" name="Google Shape;637;g3d18d3d8234_0_401"/>
          <p:cNvSpPr txBox="1"/>
          <p:nvPr/>
        </p:nvSpPr>
        <p:spPr>
          <a:xfrm>
            <a:off x="914400" y="2837071"/>
            <a:ext cx="22860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b="1" i="0" u="none" strike="noStrike" cap="none">
                <a:solidFill>
                  <a:srgbClr val="2C2C2C"/>
                </a:solidFill>
                <a:latin typeface="Calibri"/>
                <a:ea typeface="Calibri"/>
                <a:cs typeface="Calibri"/>
                <a:sym typeface="Calibri"/>
              </a:rPr>
              <a:t>Model scope</a:t>
            </a:r>
            <a:endParaRPr sz="1900" b="1"/>
          </a:p>
        </p:txBody>
      </p:sp>
      <p:sp>
        <p:nvSpPr>
          <p:cNvPr id="638" name="Google Shape;638;g3d18d3d8234_0_401"/>
          <p:cNvSpPr txBox="1"/>
          <p:nvPr/>
        </p:nvSpPr>
        <p:spPr>
          <a:xfrm>
            <a:off x="3200400" y="2837071"/>
            <a:ext cx="8229600" cy="3849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900" i="0" u="none" strike="noStrike" cap="none">
                <a:solidFill>
                  <a:schemeClr val="dk1"/>
                </a:solidFill>
                <a:latin typeface="Calibri"/>
                <a:ea typeface="Calibri"/>
                <a:cs typeface="Calibri"/>
                <a:sym typeface="Calibri"/>
              </a:rPr>
              <a:t>assumes specialty effect is constant across patient profiles</a:t>
            </a:r>
            <a:endParaRPr sz="1900">
              <a:solidFill>
                <a:schemeClr val="dk1"/>
              </a:solidFill>
            </a:endParaRPr>
          </a:p>
        </p:txBody>
      </p:sp>
      <p:sp>
        <p:nvSpPr>
          <p:cNvPr id="639" name="Google Shape;639;g3d18d3d8234_0_401"/>
          <p:cNvSpPr txBox="1"/>
          <p:nvPr/>
        </p:nvSpPr>
        <p:spPr>
          <a:xfrm>
            <a:off x="731520" y="3591758"/>
            <a:ext cx="45720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2000" b="1">
                <a:solidFill>
                  <a:schemeClr val="dk2"/>
                </a:solidFill>
                <a:latin typeface="Calibri"/>
                <a:ea typeface="Calibri"/>
                <a:cs typeface="Calibri"/>
                <a:sym typeface="Calibri"/>
              </a:rPr>
              <a:t>Conclusion</a:t>
            </a:r>
            <a:endParaRPr sz="2000" b="1">
              <a:solidFill>
                <a:schemeClr val="dk2"/>
              </a:solidFill>
              <a:latin typeface="Calibri"/>
              <a:ea typeface="Calibri"/>
              <a:cs typeface="Calibri"/>
              <a:sym typeface="Calibri"/>
            </a:endParaRPr>
          </a:p>
        </p:txBody>
      </p:sp>
      <p:sp>
        <p:nvSpPr>
          <p:cNvPr id="640" name="Google Shape;640;g3d18d3d8234_0_401"/>
          <p:cNvSpPr txBox="1"/>
          <p:nvPr/>
        </p:nvSpPr>
        <p:spPr>
          <a:xfrm>
            <a:off x="914400" y="4048958"/>
            <a:ext cx="10515600" cy="15546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SzPts val="1900"/>
              <a:buNone/>
            </a:pPr>
            <a:r>
              <a:rPr lang="en-US" sz="1900">
                <a:solidFill>
                  <a:schemeClr val="dk1"/>
                </a:solidFill>
                <a:latin typeface="Calibri"/>
                <a:ea typeface="Calibri"/>
                <a:cs typeface="Calibri"/>
                <a:sym typeface="Calibri"/>
              </a:rPr>
              <a:t>A Bayesian hierarchical logistic regression provides a principled framework for modeling 30-day readmission, capturing both patient-level effects and specialty-level heterogeneity. Compared to fixed-effects models, it enables partial pooling for stable estimates in small specialties, directly quantifies between-specialty variance, and delivers coherent uncertainty. Results are robust to prior choices based on sensitivity analysis.</a:t>
            </a:r>
            <a:endParaRPr sz="1900">
              <a:solidFill>
                <a:schemeClr val="dk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TotalTime>
  <Words>4047</Words>
  <Application>Microsoft Macintosh PowerPoint</Application>
  <PresentationFormat>宽屏</PresentationFormat>
  <Paragraphs>437</Paragraphs>
  <Slides>39</Slides>
  <Notes>39</Notes>
  <HiddenSlides>1</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39</vt:i4>
      </vt:variant>
    </vt:vector>
  </HeadingPairs>
  <TitlesOfParts>
    <vt:vector size="44" baseType="lpstr">
      <vt:lpstr>Arial</vt:lpstr>
      <vt:lpstr>Calibri</vt:lpstr>
      <vt:lpstr>Georgia</vt:lpstr>
      <vt:lpstr>Helvetica Neue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You, XingYu</cp:lastModifiedBy>
  <cp:revision>2</cp:revision>
  <dcterms:created xsi:type="dcterms:W3CDTF">2013-01-27T09:14:16Z</dcterms:created>
  <dcterms:modified xsi:type="dcterms:W3CDTF">2026-04-13T00:15:51Z</dcterms:modified>
</cp:coreProperties>
</file>