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828800"/>
            <a:ext cx="2743200" cy="64008"/>
          </a:xfrm>
          <a:prstGeom prst="rect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680"/>
              </a:lnSpc>
              <a:defRPr sz="3600" b="1">
                <a:solidFill>
                  <a:srgbClr val="FFFFFF"/>
                </a:solidFill>
                <a:latin typeface="Calibri"/>
              </a:defRPr>
            </a:pPr>
            <a:r>
              <a:t>Bayesian Hierarchical Logistic Regression</a:t>
            </a:r>
            <a:br/>
            <a:r>
              <a:t>for 30-Day Hospital Readmission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474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defRPr sz="2200" b="0">
                <a:solidFill>
                  <a:srgbClr val="3A7CA5"/>
                </a:solidFill>
                <a:latin typeface="Calibri"/>
              </a:defRPr>
            </a:pPr>
            <a:r>
              <a:t>The Role of Medical Specialty Among Diabetic Patients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defRPr sz="2000" b="0">
                <a:solidFill>
                  <a:srgbClr val="FFFFFF"/>
                </a:solidFill>
                <a:latin typeface="Calibri"/>
              </a:defRPr>
            </a:pPr>
            <a:r>
              <a:t>Selina You,  Zhouhan Qian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0">
                <a:solidFill>
                  <a:srgbClr val="AABBCC"/>
                </a:solidFill>
                <a:latin typeface="Calibri"/>
              </a:defRPr>
            </a:pPr>
            <a:r>
              <a:t>Introduction to Applied Bayesian Analysis  |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2834640"/>
            <a:ext cx="1828800" cy="54864"/>
          </a:xfrm>
          <a:prstGeom prst="rect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680"/>
              </a:lnSpc>
              <a:defRPr sz="3600" b="1">
                <a:solidFill>
                  <a:srgbClr val="FFFFFF"/>
                </a:solidFill>
                <a:latin typeface="Calibri"/>
              </a:defRPr>
            </a:pPr>
            <a: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defRPr sz="2000" b="0">
                <a:solidFill>
                  <a:srgbClr val="3A7CA5"/>
                </a:solidFill>
                <a:latin typeface="Calibri"/>
              </a:defRPr>
            </a:pPr>
            <a:r>
              <a:t>Motivation &amp; Research Question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Why Study Readmission?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defRPr sz="1800" b="0">
                <a:solidFill>
                  <a:srgbClr val="2C2C2C"/>
                </a:solidFill>
                <a:latin typeface="Calibri"/>
              </a:defRPr>
            </a:pPr>
            <a:r>
              <a:rPr sz="1800">
                <a:solidFill>
                  <a:srgbClr val="2C2C2C"/>
                </a:solidFill>
                <a:latin typeface="Calibri"/>
              </a:rPr>
              <a:t>$26 B+  annual cost of unplanned readmissions in the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1907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defRPr sz="1800" b="0">
                <a:solidFill>
                  <a:srgbClr val="2C2C2C"/>
                </a:solidFill>
                <a:latin typeface="Calibri"/>
              </a:defRPr>
            </a:pPr>
            <a:r>
              <a:rPr sz="1800">
                <a:solidFill>
                  <a:srgbClr val="2C2C2C"/>
                </a:solidFill>
                <a:latin typeface="Calibri"/>
              </a:rPr>
              <a:t>CMS Hospital Readmissions Reduction Program penalizes hospitals with excess readmissions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5798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defRPr sz="1800" b="0">
                <a:solidFill>
                  <a:srgbClr val="2C2C2C"/>
                </a:solidFill>
                <a:latin typeface="Calibri"/>
              </a:defRPr>
            </a:pPr>
            <a:r>
              <a:rPr sz="1800">
                <a:solidFill>
                  <a:srgbClr val="2C2C2C"/>
                </a:solidFill>
                <a:latin typeface="Calibri"/>
              </a:rPr>
              <a:t>30-day readmission rate is a core quality metric tied to Medicare reimbursement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9689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defRPr sz="1800" b="0">
                <a:solidFill>
                  <a:srgbClr val="2C2C2C"/>
                </a:solidFill>
                <a:latin typeface="Calibri"/>
              </a:defRPr>
            </a:pPr>
            <a:r>
              <a:rPr sz="1800">
                <a:solidFill>
                  <a:srgbClr val="2C2C2C"/>
                </a:solidFill>
                <a:latin typeface="Calibri"/>
              </a:rPr>
              <a:t>Diabetic patients are a high-risk group: multiple comorbidities, frequent hospitalizations,
    cross-specialty care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358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defRPr sz="1800" b="0">
                <a:solidFill>
                  <a:srgbClr val="2C2C2C"/>
                </a:solidFill>
                <a:latin typeface="Calibri"/>
              </a:defRPr>
            </a:pPr>
            <a:r>
              <a:rPr sz="1800">
                <a:solidFill>
                  <a:srgbClr val="2C2C2C"/>
                </a:solidFill>
                <a:latin typeface="Calibri"/>
              </a:rPr>
              <a:t>Key question: does the admitting specialty itself affect readmission risk?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Research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332720" cy="1463040"/>
          </a:xfrm>
          <a:prstGeom prst="roundRect">
            <a:avLst/>
          </a:prstGeom>
          <a:solidFill>
            <a:srgbClr val="E8F0FE"/>
          </a:solidFill>
          <a:ln w="254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645920"/>
            <a:ext cx="9601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60"/>
              </a:lnSpc>
              <a:defRPr sz="2200" b="1">
                <a:solidFill>
                  <a:srgbClr val="233D6B"/>
                </a:solidFill>
                <a:latin typeface="Calibri"/>
              </a:defRPr>
            </a:pPr>
            <a:r>
              <a:t>How much specialty-level heterogeneity exists in 30-day</a:t>
            </a:r>
            <a:br/>
            <a:r>
              <a:t>readmission risk, and can we reliably estimate it despite</a:t>
            </a:r>
            <a:br/>
            <a:r>
              <a:t>severe group imbalance?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defRPr sz="2000" b="1">
                <a:solidFill>
                  <a:srgbClr val="2C2C2C"/>
                </a:solidFill>
                <a:latin typeface="Calibri"/>
              </a:defRPr>
            </a:pPr>
            <a:r>
              <a:t>Key observations driving this question: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defRPr sz="1800" b="0">
                <a:solidFill>
                  <a:srgbClr val="2C2C2C"/>
                </a:solidFill>
                <a:latin typeface="Calibri"/>
              </a:defRPr>
            </a:pPr>
            <a:r>
              <a:t>   Raw readmission rates vary widely across specialties: 4.3% to 32.3%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defRPr sz="1800" b="0">
                <a:solidFill>
                  <a:srgbClr val="2C2C2C"/>
                </a:solidFill>
                <a:latin typeface="Calibri"/>
              </a:defRPr>
            </a:pPr>
            <a:r>
              <a:t>   But sample sizes are severely imbalanced: 288 (Phys Med) to 10,975 (Internal Med)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defRPr sz="1800" b="0">
                <a:solidFill>
                  <a:srgbClr val="2C2C2C"/>
                </a:solidFill>
                <a:latin typeface="Calibri"/>
              </a:defRPr>
            </a:pPr>
            <a:r>
              <a:t>   Direct comparison of raw rates is unreliable under such imbalance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defRPr sz="1800" b="0">
                <a:solidFill>
                  <a:srgbClr val="2C2C2C"/>
                </a:solidFill>
                <a:latin typeface="Calibri"/>
              </a:defRPr>
            </a:pPr>
            <a:r>
              <a:t>   We need a framework that borrows strength across groups while quantifying uncertainty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Why Not Standard Logistic Regression?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1188720"/>
          </a:xfrm>
          <a:prstGeom prst="roundRect">
            <a:avLst/>
          </a:prstGeom>
          <a:solidFill>
            <a:srgbClr val="FDEDED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447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defRPr sz="1800" b="1">
                <a:solidFill>
                  <a:srgbClr val="C0392B"/>
                </a:solidFill>
                <a:latin typeface="Calibri"/>
              </a:defRPr>
            </a:pPr>
            <a:r>
              <a:t>Pooled Model (No Specialty)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0">
                <a:solidFill>
                  <a:srgbClr val="2C2C2C"/>
                </a:solidFill>
                <a:latin typeface="Calibri"/>
              </a:defRPr>
            </a:pPr>
            <a:r>
              <a:t>Ignores group structure entirely</a:t>
            </a:r>
            <a:br/>
            <a:r>
              <a:t>Treats all specialties as identical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10515600" cy="1188720"/>
          </a:xfrm>
          <a:prstGeom prst="roundRect">
            <a:avLst/>
          </a:prstGeom>
          <a:solidFill>
            <a:srgbClr val="FDEDED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16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defRPr sz="1800" b="1">
                <a:solidFill>
                  <a:srgbClr val="C0392B"/>
                </a:solidFill>
                <a:latin typeface="Calibri"/>
              </a:defRPr>
            </a:pPr>
            <a:r>
              <a:t>Fixed-Effect Dummies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004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0">
                <a:solidFill>
                  <a:srgbClr val="2C2C2C"/>
                </a:solidFill>
                <a:latin typeface="Calibri"/>
              </a:defRPr>
            </a:pPr>
            <a:r>
              <a:t>Unstable MLE for small groups (n = 288)</a:t>
            </a:r>
            <a:br/>
            <a:r>
              <a:t>No shrinkage toward population mean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10515600" cy="1188720"/>
          </a:xfrm>
          <a:prstGeom prst="roundRect">
            <a:avLst/>
          </a:prstGeom>
          <a:solidFill>
            <a:srgbClr val="FDEDED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1879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defRPr sz="1800" b="1">
                <a:solidFill>
                  <a:srgbClr val="C0392B"/>
                </a:solidFill>
                <a:latin typeface="Calibri"/>
              </a:defRPr>
            </a:pPr>
            <a:r>
              <a:t>Frequentist Mixed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0">
                <a:solidFill>
                  <a:srgbClr val="2C2C2C"/>
                </a:solidFill>
                <a:latin typeface="Calibri"/>
              </a:defRPr>
            </a:pPr>
            <a:r>
              <a:t>Point estimate for variance component</a:t>
            </a:r>
            <a:br/>
            <a:r>
              <a:t>No full uncertainty quantification for heterogeneity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669280"/>
            <a:ext cx="10515600" cy="100584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1E82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80644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70"/>
              </a:lnSpc>
              <a:defRPr sz="1900" b="1">
                <a:solidFill>
                  <a:srgbClr val="1E8249"/>
                </a:solidFill>
                <a:latin typeface="Calibri"/>
              </a:defRPr>
            </a:pPr>
            <a:r>
              <a:t>Bayesian Hierarchical Model:  partial pooling  +  full uncertainty quantification</a:t>
            </a:r>
            <a:br/>
            <a:r>
              <a:t>  +  principled handling of group imbalance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0">
                <a:solidFill>
                  <a:srgbClr val="2C2C2C"/>
                </a:solidFill>
                <a:latin typeface="Calibri"/>
              </a:defRPr>
            </a:pPr>
            <a:r>
              <a:t>   UCI Diabetes 130-US Hospitals dataset (1999-2008, 130 hospitals)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727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0">
                <a:solidFill>
                  <a:srgbClr val="2C2C2C"/>
                </a:solidFill>
                <a:latin typeface="Calibri"/>
              </a:defRPr>
            </a:pPr>
            <a:r>
              <a:t>   After cleaning:  N = 37,964 encounters  |  J = 19 specialties  |  K = 43 covariates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56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0">
                <a:solidFill>
                  <a:srgbClr val="2C2C2C"/>
                </a:solidFill>
                <a:latin typeface="Calibri"/>
              </a:defRPr>
            </a:pPr>
            <a:r>
              <a:t>   Overall 30-day readmission rate:  ~9.6%  (3,652 readmitted)</a:t>
            </a:r>
          </a:p>
        </p:txBody>
      </p:sp>
      <p:pic>
        <p:nvPicPr>
          <p:cNvPr id="7" name="Picture 6" descr="fig1_specialt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560320"/>
            <a:ext cx="5760720" cy="3931920"/>
          </a:xfrm>
          <a:prstGeom prst="rect">
            <a:avLst/>
          </a:prstGeom>
        </p:spPr>
      </p:pic>
      <p:pic>
        <p:nvPicPr>
          <p:cNvPr id="8" name="Picture 7" descr="fig3_raw_readmission_by_special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560320"/>
            <a:ext cx="576072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Processing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80160"/>
            <a:ext cx="10515600" cy="566928"/>
          </a:xfrm>
          <a:prstGeom prst="roundRect">
            <a:avLst/>
          </a:prstGeom>
          <a:solidFill>
            <a:srgbClr val="BBDEFB"/>
          </a:solidFill>
          <a:ln w="127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258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233D6B"/>
                </a:solidFill>
                <a:latin typeface="Calibri"/>
              </a:defRPr>
            </a:pPr>
            <a:r>
              <a:t>Raw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32588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2C2C2C"/>
                </a:solidFill>
                <a:latin typeface="Calibri"/>
              </a:defRPr>
            </a:pPr>
            <a:r>
              <a:t>101,766 encounters, 50 variables</a:t>
            </a:r>
          </a:p>
        </p:txBody>
      </p:sp>
      <p:sp>
        <p:nvSpPr>
          <p:cNvPr id="7" name="Down Arrow 6"/>
          <p:cNvSpPr/>
          <p:nvPr/>
        </p:nvSpPr>
        <p:spPr>
          <a:xfrm>
            <a:off x="5852160" y="1847088"/>
            <a:ext cx="365760" cy="164592"/>
          </a:xfrm>
          <a:prstGeom prst="downArrow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011680"/>
            <a:ext cx="10515600" cy="566928"/>
          </a:xfrm>
          <a:prstGeom prst="roundRect">
            <a:avLst/>
          </a:prstGeom>
          <a:solidFill>
            <a:srgbClr val="C8E6C9"/>
          </a:solidFill>
          <a:ln w="127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574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233D6B"/>
                </a:solidFill>
                <a:latin typeface="Calibri"/>
              </a:defRPr>
            </a:pPr>
            <a:r>
              <a:t>Remove Duplicates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0574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2C2C2C"/>
                </a:solidFill>
                <a:latin typeface="Calibri"/>
              </a:defRPr>
            </a:pPr>
            <a:r>
              <a:t>-30,248 duplicate encounter IDs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852160" y="2578608"/>
            <a:ext cx="365760" cy="164592"/>
          </a:xfrm>
          <a:prstGeom prst="downArrow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2743200"/>
            <a:ext cx="10515600" cy="566928"/>
          </a:xfrm>
          <a:prstGeom prst="roundRect">
            <a:avLst/>
          </a:prstGeom>
          <a:solidFill>
            <a:srgbClr val="C8E6C9"/>
          </a:solidFill>
          <a:ln w="127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7889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233D6B"/>
                </a:solidFill>
                <a:latin typeface="Calibri"/>
              </a:defRPr>
            </a:pPr>
            <a:r>
              <a:t>Exclude Expired / Hospice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7889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2C2C2C"/>
                </a:solidFill>
                <a:latin typeface="Calibri"/>
              </a:defRPr>
            </a:pPr>
            <a:r>
              <a:t>-1,545 (discharge codes 11,13,14,19,20,21)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852160" y="3310128"/>
            <a:ext cx="365760" cy="164592"/>
          </a:xfrm>
          <a:prstGeom prst="downArrow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474720"/>
            <a:ext cx="10515600" cy="566928"/>
          </a:xfrm>
          <a:prstGeom prst="roundRect">
            <a:avLst/>
          </a:prstGeom>
          <a:solidFill>
            <a:srgbClr val="C8E6C9"/>
          </a:solidFill>
          <a:ln w="127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5204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233D6B"/>
                </a:solidFill>
                <a:latin typeface="Calibri"/>
              </a:defRPr>
            </a:pPr>
            <a:r>
              <a:t>Exclude Unknown Specialty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5204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2C2C2C"/>
                </a:solidFill>
                <a:latin typeface="Calibri"/>
              </a:defRPr>
            </a:pPr>
            <a:r>
              <a:t>-32,008 records (45.7%)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852160" y="4041648"/>
            <a:ext cx="365760" cy="164592"/>
          </a:xfrm>
          <a:prstGeom prst="downArrow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4206240"/>
            <a:ext cx="10515600" cy="566928"/>
          </a:xfrm>
          <a:prstGeom prst="roundRect">
            <a:avLst/>
          </a:prstGeom>
          <a:solidFill>
            <a:srgbClr val="C8E6C9"/>
          </a:solidFill>
          <a:ln w="127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251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233D6B"/>
                </a:solidFill>
                <a:latin typeface="Calibri"/>
              </a:defRPr>
            </a:pPr>
            <a:r>
              <a:t>Drop High-Missing Vars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425196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2C2C2C"/>
                </a:solidFill>
                <a:latin typeface="Calibri"/>
              </a:defRPr>
            </a:pPr>
            <a:r>
              <a:t>weight (96.9%), payer_code (39.6%)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852160" y="4773168"/>
            <a:ext cx="365760" cy="164592"/>
          </a:xfrm>
          <a:prstGeom prst="downArrow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4937760"/>
            <a:ext cx="10515600" cy="566928"/>
          </a:xfrm>
          <a:prstGeom prst="roundRect">
            <a:avLst/>
          </a:prstGeom>
          <a:solidFill>
            <a:srgbClr val="FEF9E7"/>
          </a:solidFill>
          <a:ln w="127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9834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233D6B"/>
                </a:solidFill>
                <a:latin typeface="Calibri"/>
              </a:defRPr>
            </a:pPr>
            <a:r>
              <a:t>Specialty Regrouping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498348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2C2C2C"/>
                </a:solidFill>
                <a:latin typeface="Calibri"/>
              </a:defRPr>
            </a:pPr>
            <a:r>
              <a:t>73 raw specialties -&gt; 19 groups (threshold &gt;= 250)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5852160" y="5504688"/>
            <a:ext cx="365760" cy="164592"/>
          </a:xfrm>
          <a:prstGeom prst="downArrow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FEF9E7"/>
          </a:solidFill>
          <a:ln w="127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715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233D6B"/>
                </a:solidFill>
                <a:latin typeface="Calibri"/>
              </a:defRPr>
            </a:pPr>
            <a:r>
              <a:t>Feature Engineering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57150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2C2C2C"/>
                </a:solidFill>
                <a:latin typeface="Calibri"/>
              </a:defRPr>
            </a:pPr>
            <a:r>
              <a:t>10 continuous (z-score) + 33 binary/categorical = K=43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852160" y="6236208"/>
            <a:ext cx="365760" cy="164592"/>
          </a:xfrm>
          <a:prstGeom prst="downArrow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0" y="6400800"/>
            <a:ext cx="10515600" cy="566928"/>
          </a:xfrm>
          <a:prstGeom prst="roundRect">
            <a:avLst/>
          </a:prstGeom>
          <a:solidFill>
            <a:srgbClr val="BBDEFB"/>
          </a:solidFill>
          <a:ln w="127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64465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233D6B"/>
                </a:solidFill>
                <a:latin typeface="Calibri"/>
              </a:defRPr>
            </a:pPr>
            <a:r>
              <a:t>Final Cohort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0" y="64465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2C2C2C"/>
                </a:solidFill>
                <a:latin typeface="Calibri"/>
              </a:defRPr>
            </a:pPr>
            <a:r>
              <a:t>N=37,964  |  J=19  |  K=43  |  Outcome: readmit_30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2834640"/>
            <a:ext cx="1828800" cy="54864"/>
          </a:xfrm>
          <a:prstGeom prst="rect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680"/>
              </a:lnSpc>
              <a:defRPr sz="3600" b="1">
                <a:solidFill>
                  <a:srgbClr val="FFFFFF"/>
                </a:solidFill>
                <a:latin typeface="Calibri"/>
              </a:defRPr>
            </a:pPr>
            <a: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defRPr sz="2000" b="0">
                <a:solidFill>
                  <a:srgbClr val="3A7CA5"/>
                </a:solidFill>
                <a:latin typeface="Calibri"/>
              </a:defRPr>
            </a:pPr>
            <a:r>
              <a:t>Overall Analysis Framework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Analysis Pipeline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1B2A4A"/>
                </a:solidFill>
                <a:latin typeface="Calibri"/>
              </a:defRPr>
            </a:pPr>
            <a:r>
              <a:t>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234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1B2A4A"/>
                </a:solidFill>
                <a:latin typeface="Calibri"/>
              </a:defRPr>
            </a:pPr>
            <a:r>
              <a:t>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234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1B2A4A"/>
                </a:solidFill>
                <a:latin typeface="Calibri"/>
              </a:defRPr>
            </a:pPr>
            <a:r>
              <a:t>Key Output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10972800" cy="27432"/>
          </a:xfrm>
          <a:prstGeom prst="rect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2C2C2C"/>
                </a:solidFill>
                <a:latin typeface="Calibri"/>
              </a:defRPr>
            </a:pPr>
            <a:r>
              <a:t>1. Data Cleaning &amp; Cohort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783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01_clean_data.py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783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3A7CA5"/>
                </a:solidFill>
                <a:latin typeface="Calibri"/>
              </a:defRPr>
            </a:pPr>
            <a:r>
              <a:t>N = 37,964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86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2C2C2C"/>
                </a:solidFill>
                <a:latin typeface="Calibri"/>
              </a:defRPr>
            </a:pPr>
            <a:r>
              <a:t>2. Feature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286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02_feature_engineering.py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286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3A7CA5"/>
                </a:solidFill>
                <a:latin typeface="Calibri"/>
              </a:defRPr>
            </a:pPr>
            <a:r>
              <a:t>K=43, J=19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788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2C2C2C"/>
                </a:solidFill>
                <a:latin typeface="Calibri"/>
              </a:defRPr>
            </a:pPr>
            <a:r>
              <a:t>3. Exploratory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788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03_eda_tables_figures.py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788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3A7CA5"/>
                </a:solidFill>
                <a:latin typeface="Calibri"/>
              </a:defRPr>
            </a:pPr>
            <a:r>
              <a:t>Tables &amp; Figures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91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2C2C2C"/>
                </a:solidFill>
                <a:latin typeface="Calibri"/>
              </a:defRPr>
            </a:pPr>
            <a:r>
              <a:t>4. Model Specification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291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Hierarchical logistic regression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291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3A7CA5"/>
                </a:solidFill>
                <a:latin typeface="Calibri"/>
              </a:defRPr>
            </a:pPr>
            <a:r>
              <a:t>Priors + Likelihood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94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2C2C2C"/>
                </a:solidFill>
                <a:latin typeface="Calibri"/>
              </a:defRPr>
            </a:pPr>
            <a:r>
              <a:t>5. Posterior Derivation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3794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Log-posterior (non-conjugate)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3794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3A7CA5"/>
                </a:solidFill>
                <a:latin typeface="Calibri"/>
              </a:defRPr>
            </a:pPr>
            <a:r>
              <a:t>Reparameterization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2C2C2C"/>
                </a:solidFill>
                <a:latin typeface="Calibri"/>
              </a:defRPr>
            </a:pPr>
            <a:r>
              <a:t>6. MCMC Sampling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297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05_mwg_sampler.py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297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3A7CA5"/>
                </a:solidFill>
                <a:latin typeface="Calibri"/>
              </a:defRPr>
            </a:pPr>
            <a:r>
              <a:t>4 chains x 30K iter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800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2C2C2C"/>
                </a:solidFill>
                <a:latin typeface="Calibri"/>
              </a:defRPr>
            </a:pPr>
            <a:r>
              <a:t>7. Convergence Diagnostics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800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Split-Rhat, ESS, trace plots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800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3A7CA5"/>
                </a:solidFill>
                <a:latin typeface="Calibri"/>
              </a:defRPr>
            </a:pPr>
            <a:r>
              <a:t>All Rhat &lt; 1.05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2C2C2C"/>
                </a:solidFill>
                <a:latin typeface="Calibri"/>
              </a:defRPr>
            </a:pPr>
            <a:r>
              <a:t>8. Posterior Inference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5303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Fixed effects, random effects, tau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5303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3A7CA5"/>
                </a:solidFill>
                <a:latin typeface="Calibri"/>
              </a:defRPr>
            </a:pPr>
            <a:r>
              <a:t>Core findings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806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2C2C2C"/>
                </a:solidFill>
                <a:latin typeface="Calibri"/>
              </a:defRPr>
            </a:pPr>
            <a:r>
              <a:t>9. Model Evaluation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0" y="5806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DIC, PPC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5806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3A7CA5"/>
                </a:solidFill>
                <a:latin typeface="Calibri"/>
              </a:defRPr>
            </a:pPr>
            <a:r>
              <a:t>Model adequacy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309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2C2C2C"/>
                </a:solidFill>
                <a:latin typeface="Calibri"/>
              </a:defRPr>
            </a:pPr>
            <a:r>
              <a:t>10. Sensitivity Analysis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0" y="6309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Alternative priors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6309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3A7CA5"/>
                </a:solidFill>
                <a:latin typeface="Calibri"/>
              </a:defRPr>
            </a:pPr>
            <a:r>
              <a:t>Robustness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2834640"/>
            <a:ext cx="1828800" cy="54864"/>
          </a:xfrm>
          <a:prstGeom prst="rect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680"/>
              </a:lnSpc>
              <a:defRPr sz="3600" b="1">
                <a:solidFill>
                  <a:srgbClr val="FFFFFF"/>
                </a:solidFill>
                <a:latin typeface="Calibri"/>
              </a:defRPr>
            </a:pPr>
            <a: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defRPr sz="2000" b="0">
                <a:solidFill>
                  <a:srgbClr val="3A7CA5"/>
                </a:solidFill>
                <a:latin typeface="Calibri"/>
              </a:defRPr>
            </a:pPr>
            <a:r>
              <a:t>Model Structure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Model Specification — Likelihood</a:t>
            </a:r>
          </a:p>
        </p:txBody>
      </p:sp>
      <p:pic>
        <p:nvPicPr>
          <p:cNvPr id="4" name="Picture 3" descr="eq_lik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7315200" cy="640080"/>
          </a:xfrm>
          <a:prstGeom prst="rect">
            <a:avLst/>
          </a:prstGeom>
        </p:spPr>
      </p:pic>
      <p:pic>
        <p:nvPicPr>
          <p:cNvPr id="5" name="Picture 4" descr="eq_lik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286000"/>
            <a:ext cx="7315200" cy="640080"/>
          </a:xfrm>
          <a:prstGeom prst="rect">
            <a:avLst/>
          </a:prstGeom>
        </p:spPr>
      </p:pic>
      <p:pic>
        <p:nvPicPr>
          <p:cNvPr id="6" name="Picture 5" descr="eq_lik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3200400"/>
            <a:ext cx="7315200" cy="640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4206240"/>
            <a:ext cx="10332720" cy="64008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q_c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0" y="4251960"/>
            <a:ext cx="685800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1206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0">
                <a:solidFill>
                  <a:srgbClr val="2C2C2C"/>
                </a:solidFill>
                <a:latin typeface="Calibri"/>
              </a:defRPr>
            </a:pPr>
            <a:r>
              <a:t>   where: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0">
                <a:solidFill>
                  <a:srgbClr val="2C2C2C"/>
                </a:solidFill>
                <a:latin typeface="Calibri"/>
              </a:defRPr>
            </a:pPr>
            <a:r>
              <a:t>   alpha = global intercept    |    beta = K=43 fixed effects    |    u_j = J=19 specialty random intercepts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Prior Specification</a:t>
            </a:r>
          </a:p>
        </p:txBody>
      </p:sp>
      <p:pic>
        <p:nvPicPr>
          <p:cNvPr id="4" name="Picture 3" descr="eq_prior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02920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1389888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666666"/>
                </a:solidFill>
                <a:latin typeface="Calibri"/>
              </a:defRPr>
            </a:pPr>
            <a:r>
              <a:t>Weakly informative on log-odds scale;</a:t>
            </a:r>
            <a:br/>
            <a:r>
              <a:t>covers plausible baseline readmission rates</a:t>
            </a:r>
          </a:p>
        </p:txBody>
      </p:sp>
      <p:pic>
        <p:nvPicPr>
          <p:cNvPr id="6" name="Picture 5" descr="eq_prior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68880"/>
            <a:ext cx="502920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2487168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666666"/>
                </a:solidFill>
                <a:latin typeface="Calibri"/>
              </a:defRPr>
            </a:pPr>
            <a:r>
              <a:t>Allows OR up to exp(5) ~ 150;</a:t>
            </a:r>
            <a:br/>
            <a:r>
              <a:t>prevents extreme inflation without over-constraining</a:t>
            </a:r>
          </a:p>
        </p:txBody>
      </p:sp>
      <p:pic>
        <p:nvPicPr>
          <p:cNvPr id="8" name="Picture 7" descr="eq_prior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566160"/>
            <a:ext cx="502920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0" y="3584448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666666"/>
                </a:solidFill>
                <a:latin typeface="Calibri"/>
              </a:defRPr>
            </a:pPr>
            <a:r>
              <a:t>Exchangeable random intercepts;</a:t>
            </a:r>
            <a:br/>
            <a:r>
              <a:t>enables partial pooling across specialties</a:t>
            </a:r>
          </a:p>
        </p:txBody>
      </p:sp>
      <p:pic>
        <p:nvPicPr>
          <p:cNvPr id="10" name="Picture 9" descr="eq_prior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663440"/>
            <a:ext cx="502920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43600" y="4681728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666666"/>
                </a:solidFill>
                <a:latin typeface="Calibri"/>
              </a:defRPr>
            </a:pPr>
            <a:r>
              <a:t>Hyperprior on between-group SD;</a:t>
            </a:r>
            <a:br/>
            <a:r>
              <a:t>controls degree of shrinkage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6035040"/>
            <a:ext cx="10515600" cy="731520"/>
          </a:xfrm>
          <a:prstGeom prst="roundRect">
            <a:avLst/>
          </a:prstGeom>
          <a:solidFill>
            <a:srgbClr val="E8F0FE"/>
          </a:solidFill>
          <a:ln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61264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80"/>
              </a:lnSpc>
              <a:defRPr sz="1600" b="1">
                <a:solidFill>
                  <a:srgbClr val="233D6B"/>
                </a:solidFill>
                <a:latin typeface="Calibri"/>
              </a:defRPr>
            </a:pPr>
            <a:r>
              <a:t>The key mechanism: u_j | tau ~ N(0, tau^2) induces partial pooling.</a:t>
            </a:r>
            <a:br/>
            <a:r>
              <a:t>Small groups are shrunk toward the population mean; tau controls shrinkage strength.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Model Hierarchy (DAG)</a:t>
            </a:r>
          </a:p>
        </p:txBody>
      </p:sp>
      <p:pic>
        <p:nvPicPr>
          <p:cNvPr id="4" name="Picture 3" descr="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2834640"/>
            <a:ext cx="1828800" cy="54864"/>
          </a:xfrm>
          <a:prstGeom prst="rect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680"/>
              </a:lnSpc>
              <a:defRPr sz="3600" b="1">
                <a:solidFill>
                  <a:srgbClr val="FFFFFF"/>
                </a:solidFill>
                <a:latin typeface="Calibri"/>
              </a:defRPr>
            </a:pPr>
            <a: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defRPr sz="2000" b="0">
                <a:solidFill>
                  <a:srgbClr val="3A7CA5"/>
                </a:solidFill>
                <a:latin typeface="Calibri"/>
              </a:defRPr>
            </a:pPr>
            <a:r>
              <a:t>Key Derivation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Joint Posterior Distribution</a:t>
            </a:r>
          </a:p>
        </p:txBody>
      </p:sp>
      <p:pic>
        <p:nvPicPr>
          <p:cNvPr id="4" name="Picture 3" descr="eq_joint_p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097280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2560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1">
                <a:solidFill>
                  <a:srgbClr val="233D6B"/>
                </a:solidFill>
                <a:latin typeface="Calibri"/>
              </a:defRPr>
            </a:pPr>
            <a:r>
              <a:t>Likelihood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5603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0">
                <a:solidFill>
                  <a:srgbClr val="666666"/>
                </a:solidFill>
                <a:latin typeface="Calibri"/>
              </a:defRPr>
            </a:pPr>
            <a:r>
              <a:t>Logistic link, data-dependent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99923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1">
                <a:solidFill>
                  <a:srgbClr val="233D6B"/>
                </a:solidFill>
                <a:latin typeface="Calibri"/>
              </a:defRPr>
            </a:pPr>
            <a:r>
              <a:t>Intercept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99923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0">
                <a:solidFill>
                  <a:srgbClr val="666666"/>
                </a:solidFill>
                <a:latin typeface="Calibri"/>
              </a:defRPr>
            </a:pPr>
            <a:r>
              <a:t>N(0, 25)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43814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1">
                <a:solidFill>
                  <a:srgbClr val="233D6B"/>
                </a:solidFill>
                <a:latin typeface="Calibri"/>
              </a:defRPr>
            </a:pPr>
            <a:r>
              <a:t>Fixed-effect priors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343814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0">
                <a:solidFill>
                  <a:srgbClr val="666666"/>
                </a:solidFill>
                <a:latin typeface="Calibri"/>
              </a:defRPr>
            </a:pPr>
            <a:r>
              <a:t>N(0, 6.25) each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87705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1">
                <a:solidFill>
                  <a:srgbClr val="233D6B"/>
                </a:solidFill>
                <a:latin typeface="Calibri"/>
              </a:defRPr>
            </a:pPr>
            <a:r>
              <a:t>Hierarchical prior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877056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0">
                <a:solidFill>
                  <a:srgbClr val="666666"/>
                </a:solidFill>
                <a:latin typeface="Calibri"/>
              </a:defRPr>
            </a:pPr>
            <a:r>
              <a:t>u_j | tau ~ N(0, tau^2)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3159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1">
                <a:solidFill>
                  <a:srgbClr val="233D6B"/>
                </a:solidFill>
                <a:latin typeface="Calibri"/>
              </a:defRPr>
            </a:pPr>
            <a:r>
              <a:t>Hyperprior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31596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0">
                <a:solidFill>
                  <a:srgbClr val="666666"/>
                </a:solidFill>
                <a:latin typeface="Calibri"/>
              </a:defRPr>
            </a:pPr>
            <a:r>
              <a:t>Half-Normal(0, 1)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937760"/>
            <a:ext cx="10332720" cy="1097280"/>
          </a:xfrm>
          <a:prstGeom prst="roundRect">
            <a:avLst/>
          </a:prstGeom>
          <a:solidFill>
            <a:srgbClr val="FDEDED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507492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70"/>
              </a:lnSpc>
              <a:defRPr sz="1900" b="1">
                <a:solidFill>
                  <a:srgbClr val="C0392B"/>
                </a:solidFill>
                <a:latin typeface="Calibri"/>
              </a:defRPr>
            </a:pPr>
            <a:r>
              <a:t>The posterior is non-conjugate due to the logistic likelihood.</a:t>
            </a:r>
            <a:br/>
            <a:r>
              <a:t>No closed-form solution exists --&gt; This motivates MCMC sampling.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Log-Posterior Decomposition</a:t>
            </a:r>
          </a:p>
        </p:txBody>
      </p:sp>
      <p:pic>
        <p:nvPicPr>
          <p:cNvPr id="4" name="Picture 3" descr="eq_logpos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11430000" cy="731520"/>
          </a:xfrm>
          <a:prstGeom prst="rect">
            <a:avLst/>
          </a:prstGeom>
        </p:spPr>
      </p:pic>
      <p:pic>
        <p:nvPicPr>
          <p:cNvPr id="5" name="Picture 4" descr="eq_logpos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103120"/>
            <a:ext cx="1143000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3A7CA5"/>
                </a:solidFill>
                <a:latin typeface="Calibri"/>
              </a:defRPr>
            </a:pPr>
            <a:r>
              <a:t>(I)  Log-likelihood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3108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2C2C2C"/>
                </a:solidFill>
                <a:latin typeface="Calibri"/>
              </a:defRPr>
            </a:pPr>
            <a:r>
              <a:t>Data-dependent: logistic log-likelihood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9300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666666"/>
                </a:solidFill>
                <a:latin typeface="Calibri"/>
              </a:defRPr>
            </a:pPr>
            <a:r>
              <a:t>(II) Prior on alpha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349300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2C2C2C"/>
                </a:solidFill>
                <a:latin typeface="Calibri"/>
              </a:defRPr>
            </a:pPr>
            <a:r>
              <a:t>Gaussian regularization on intercept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7705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666666"/>
                </a:solidFill>
                <a:latin typeface="Calibri"/>
              </a:defRPr>
            </a:pPr>
            <a:r>
              <a:t>(III) Prior on beta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877056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2C2C2C"/>
                </a:solidFill>
                <a:latin typeface="Calibri"/>
              </a:defRPr>
            </a:pPr>
            <a:r>
              <a:t>Independent Gaussian on each fixed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6110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C0392B"/>
                </a:solidFill>
                <a:latin typeface="Calibri"/>
              </a:defRPr>
            </a:pPr>
            <a:r>
              <a:t>(IV) Prior on u | tau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4261104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2C2C2C"/>
                </a:solidFill>
                <a:latin typeface="Calibri"/>
              </a:defRPr>
            </a:pPr>
            <a:r>
              <a:t>Hierarchical: tau controls shrinkage;  tau only here, NOT in (I)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451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666666"/>
                </a:solidFill>
                <a:latin typeface="Calibri"/>
              </a:defRPr>
            </a:pPr>
            <a:r>
              <a:t>(V) Prior on tau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64515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2C2C2C"/>
                </a:solidFill>
                <a:latin typeface="Calibri"/>
              </a:defRPr>
            </a:pPr>
            <a:r>
              <a:t>Half-Normal hyperprior on group-level SD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03520"/>
            <a:ext cx="10515600" cy="914400"/>
          </a:xfrm>
          <a:prstGeom prst="roundRect">
            <a:avLst/>
          </a:prstGeom>
          <a:solidFill>
            <a:srgbClr val="E8F0FE"/>
          </a:solidFill>
          <a:ln w="254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94960"/>
            <a:ext cx="9784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50"/>
              </a:lnSpc>
              <a:defRPr sz="1500" b="1">
                <a:solidFill>
                  <a:srgbClr val="233D6B"/>
                </a:solidFill>
                <a:latin typeface="Calibri"/>
              </a:defRPr>
            </a:pPr>
            <a:r>
              <a:t>Key insight:  tau appears ONLY in terms (IV) and (V), not in the likelihood.</a:t>
            </a:r>
            <a:br/>
            <a:r>
              <a:t>tau is informed by data only indirectly through posterior draws of u_j.</a:t>
            </a:r>
            <a:br/>
            <a:r>
              <a:t>This means the tau MCMC update does NOT require likelihood evaluation --&gt; O(J) cost.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Reparameterization:  phi = log(tau)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defRPr sz="2200" b="1">
                <a:solidFill>
                  <a:srgbClr val="233D6B"/>
                </a:solidFill>
                <a:latin typeface="Calibri"/>
              </a:defRPr>
            </a:pPr>
            <a:r>
              <a:t>Why reparameterize?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0">
                <a:solidFill>
                  <a:srgbClr val="2C2C2C"/>
                </a:solidFill>
                <a:latin typeface="Calibri"/>
              </a:defRPr>
            </a:pPr>
            <a:r>
              <a:t>   tau &gt; 0  constraint makes random walk on tau inefficient near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40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0">
                <a:solidFill>
                  <a:srgbClr val="2C2C2C"/>
                </a:solidFill>
                <a:latin typeface="Calibri"/>
              </a:defRPr>
            </a:pPr>
            <a:r>
              <a:t>   phi = log(tau) maps to unconstrained R, enabling standard Gaussian proposals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0">
                <a:solidFill>
                  <a:srgbClr val="2C2C2C"/>
                </a:solidFill>
                <a:latin typeface="Calibri"/>
              </a:defRPr>
            </a:pPr>
            <a:r>
              <a:t>   Requires Jacobian correction:  + phi  (from |d(tau)/d(phi)| = exp(phi))</a:t>
            </a:r>
          </a:p>
        </p:txBody>
      </p:sp>
      <p:pic>
        <p:nvPicPr>
          <p:cNvPr id="8" name="Picture 7" descr="eq_repa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74720"/>
            <a:ext cx="9144000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71600" y="4572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0">
                <a:solidFill>
                  <a:srgbClr val="666666"/>
                </a:solidFill>
                <a:latin typeface="Calibri"/>
              </a:defRPr>
            </a:pPr>
            <a:r>
              <a:t>   -J phi :  from  -J log(tau)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983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0">
                <a:solidFill>
                  <a:srgbClr val="666666"/>
                </a:solidFill>
                <a:latin typeface="Calibri"/>
              </a:defRPr>
            </a:pPr>
            <a:r>
              <a:t>   + phi :  Jacobian correction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394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0">
                <a:solidFill>
                  <a:srgbClr val="666666"/>
                </a:solidFill>
                <a:latin typeface="Calibri"/>
              </a:defRPr>
            </a:pPr>
            <a:r>
              <a:t>   exp(-2 phi) :  tau^{-2}  in random-effect variance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806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0">
                <a:solidFill>
                  <a:srgbClr val="666666"/>
                </a:solidFill>
                <a:latin typeface="Calibri"/>
              </a:defRPr>
            </a:pPr>
            <a:r>
              <a:t>   Does NOT involve the likelihood  --&gt;  O(J) cost per update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2834640"/>
            <a:ext cx="1828800" cy="54864"/>
          </a:xfrm>
          <a:prstGeom prst="rect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680"/>
              </a:lnSpc>
              <a:defRPr sz="3600" b="1">
                <a:solidFill>
                  <a:srgbClr val="FFFFFF"/>
                </a:solidFill>
                <a:latin typeface="Calibri"/>
              </a:defRPr>
            </a:pPr>
            <a:r>
              <a:t>Part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defRPr sz="2000" b="0">
                <a:solidFill>
                  <a:srgbClr val="3A7CA5"/>
                </a:solidFill>
                <a:latin typeface="Calibri"/>
              </a:defRPr>
            </a:pPr>
            <a:r>
              <a:t>Sampling Strategy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Metropolis-within-Gibbs:  Block 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10972800" cy="868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1">
                <a:solidFill>
                  <a:srgbClr val="233D6B"/>
                </a:solidFill>
                <a:latin typeface="Calibri"/>
              </a:defRPr>
            </a:pPr>
            <a:r>
              <a:t>Block 1:  alpha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Symmetric random walk;  incremental update  delta_eta = alpha* - alpha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1508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50"/>
              </a:lnSpc>
              <a:defRPr sz="1500" b="1">
                <a:solidFill>
                  <a:srgbClr val="3A7CA5"/>
                </a:solidFill>
                <a:latin typeface="Calibri"/>
              </a:defRPr>
            </a:pPr>
            <a:r>
              <a:t>O(N)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10972800" cy="868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1">
                <a:solidFill>
                  <a:srgbClr val="233D6B"/>
                </a:solidFill>
                <a:latin typeface="Calibri"/>
              </a:defRPr>
            </a:pPr>
            <a:r>
              <a:t>Block 2:  beta_k  (k = 1..43)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97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Component-wise update;  delta_eta = (beta_k* - beta_k) * X[:,k]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2514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50"/>
              </a:lnSpc>
              <a:defRPr sz="1500" b="1">
                <a:solidFill>
                  <a:srgbClr val="3A7CA5"/>
                </a:solidFill>
                <a:latin typeface="Calibri"/>
              </a:defRPr>
            </a:pPr>
            <a:r>
              <a:t>O(N) each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91840"/>
            <a:ext cx="10972800" cy="868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337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1">
                <a:solidFill>
                  <a:srgbClr val="233D6B"/>
                </a:solidFill>
                <a:latin typeface="Calibri"/>
              </a:defRPr>
            </a:pPr>
            <a:r>
              <a:t>Block 3:  u_j  (j = 1..19)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703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Component-wise;  likelihood uses only group-j observations (n_j &lt;&lt; 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352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50"/>
              </a:lnSpc>
              <a:defRPr sz="1500" b="1">
                <a:solidFill>
                  <a:srgbClr val="3A7CA5"/>
                </a:solidFill>
                <a:latin typeface="Calibri"/>
              </a:defRPr>
            </a:pPr>
            <a:r>
              <a:t>O(n_j) each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97680"/>
            <a:ext cx="10972800" cy="868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1">
                <a:solidFill>
                  <a:srgbClr val="233D6B"/>
                </a:solidFill>
                <a:latin typeface="Calibri"/>
              </a:defRPr>
            </a:pPr>
            <a:r>
              <a:t>Block 4:  log(tau)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709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Does not involve likelihood;  only depends on current u_j draws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4526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50"/>
              </a:lnSpc>
              <a:defRPr sz="1500" b="1">
                <a:solidFill>
                  <a:srgbClr val="3A7CA5"/>
                </a:solidFill>
                <a:latin typeface="Calibri"/>
              </a:defRPr>
            </a:pPr>
            <a:r>
              <a:t>O(J)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0972800" cy="868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349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1">
                <a:solidFill>
                  <a:srgbClr val="233D6B"/>
                </a:solidFill>
                <a:latin typeface="Calibri"/>
              </a:defRPr>
            </a:pPr>
            <a:r>
              <a:t>Block 5:  Translation Move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715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Joint alpha-u update exploiting non-identifiability (see next slide)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5532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50"/>
              </a:lnSpc>
              <a:defRPr sz="1500" b="1">
                <a:solidFill>
                  <a:srgbClr val="3A7CA5"/>
                </a:solidFill>
                <a:latin typeface="Calibri"/>
              </a:defRPr>
            </a:pPr>
            <a:r>
              <a:t>O(J) x 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340"/>
              </a:lnSpc>
              <a:defRPr sz="1800" b="1">
                <a:solidFill>
                  <a:srgbClr val="1E8249"/>
                </a:solidFill>
                <a:latin typeface="Calibri"/>
              </a:defRPr>
            </a:pPr>
            <a:r>
              <a:t>Overall:  each iteration scales linearly in N, not N x 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Joint alpha-u Translation Move</a:t>
            </a:r>
          </a:p>
        </p:txBody>
      </p:sp>
      <p:pic>
        <p:nvPicPr>
          <p:cNvPr id="4" name="Picture 3" descr="eq_t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058400" cy="640080"/>
          </a:xfrm>
          <a:prstGeom prst="rect">
            <a:avLst/>
          </a:prstGeom>
        </p:spPr>
      </p:pic>
      <p:pic>
        <p:nvPicPr>
          <p:cNvPr id="5" name="Picture 4" descr="eq_tm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03120"/>
            <a:ext cx="10058400" cy="6400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14400" y="2926080"/>
            <a:ext cx="10332720" cy="6400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1E82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01752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340"/>
              </a:lnSpc>
              <a:defRPr sz="1800" b="1">
                <a:solidFill>
                  <a:srgbClr val="1E8249"/>
                </a:solidFill>
                <a:latin typeface="Calibri"/>
              </a:defRPr>
            </a:pPr>
            <a:r>
              <a:t>Likelihood invariant!  Acceptance ratio depends only on priors --&gt; O(J) cost</a:t>
            </a:r>
          </a:p>
        </p:txBody>
      </p:sp>
      <p:pic>
        <p:nvPicPr>
          <p:cNvPr id="8" name="Picture 7" descr="eq_tm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40480"/>
            <a:ext cx="10058400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" y="48463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0">
                <a:solidFill>
                  <a:srgbClr val="2C2C2C"/>
                </a:solidFill>
                <a:latin typeface="Calibri"/>
              </a:defRPr>
            </a:pPr>
            <a:r>
              <a:t>   Exploits the non-identifiability between alpha and u_j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23036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0">
                <a:solidFill>
                  <a:srgbClr val="2C2C2C"/>
                </a:solidFill>
                <a:latin typeface="Calibri"/>
              </a:defRPr>
            </a:pPr>
            <a:r>
              <a:t>   Repeated 10 times per iteration to maximize mixing benefit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614416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0">
                <a:solidFill>
                  <a:srgbClr val="2C2C2C"/>
                </a:solidFill>
                <a:latin typeface="Calibri"/>
              </a:defRPr>
            </a:pPr>
            <a:r>
              <a:t>   Dramatically improves exploration of the alpha-u ridge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MCMC Settings &amp; Convergence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4 chains  |  30,000 iterations  |  Burn-in: 8,000  |  Thin by 5  --&gt;  4,400 saved samples /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Adaptive per-coordinate proposal tuning:  target acceptance rate 20% - 50%</a:t>
            </a:r>
          </a:p>
        </p:txBody>
      </p:sp>
      <p:pic>
        <p:nvPicPr>
          <p:cNvPr id="6" name="Picture 5" descr="fig2_trace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7772400" cy="4389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03920" y="2286000"/>
            <a:ext cx="3383280" cy="3657600"/>
          </a:xfrm>
          <a:prstGeom prst="roundRect">
            <a:avLst/>
          </a:prstGeom>
          <a:solidFill>
            <a:srgbClr val="F5F7FA"/>
          </a:solidFill>
          <a:ln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2377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233D6B"/>
                </a:solidFill>
                <a:latin typeface="Calibri"/>
              </a:defRPr>
            </a:pPr>
            <a:r>
              <a:t>Diagnostics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834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Split-Rhat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28346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1E8249"/>
                </a:solidFill>
                <a:latin typeface="Calibri"/>
              </a:defRPr>
            </a:pPr>
            <a:r>
              <a:t>All &lt; 1.05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18211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ESS (alpha)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318211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1E8249"/>
                </a:solidFill>
                <a:latin typeface="Calibri"/>
              </a:defRPr>
            </a:pPr>
            <a:r>
              <a:t>~306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52958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ESS (beta, mean)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352958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1E8249"/>
                </a:solidFill>
                <a:latin typeface="Calibri"/>
              </a:defRPr>
            </a:pPr>
            <a:r>
              <a:t>~1,200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87705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ESS (u_j, mean)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387705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1E8249"/>
                </a:solidFill>
                <a:latin typeface="Calibri"/>
              </a:defRPr>
            </a:pPr>
            <a:r>
              <a:t>~3,400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224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ESS (tau)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422452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1E8249"/>
                </a:solidFill>
                <a:latin typeface="Calibri"/>
              </a:defRPr>
            </a:pPr>
            <a:r>
              <a:t>~2,412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2834640"/>
            <a:ext cx="1828800" cy="54864"/>
          </a:xfrm>
          <a:prstGeom prst="rect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680"/>
              </a:lnSpc>
              <a:defRPr sz="3600" b="1">
                <a:solidFill>
                  <a:srgbClr val="FFFFFF"/>
                </a:solidFill>
                <a:latin typeface="Calibri"/>
              </a:defRPr>
            </a:pPr>
            <a:r>
              <a:t>Part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defRPr sz="2000" b="0">
                <a:solidFill>
                  <a:srgbClr val="3A7CA5"/>
                </a:solidFill>
                <a:latin typeface="Calibri"/>
              </a:defRPr>
            </a:pPr>
            <a:r>
              <a:t>Inferential Findings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9" name="Rectangle 68"/>
          <p:cNvSpPr/>
          <p:nvPr/>
        </p:nvSpPr>
        <p:spPr>
          <a:xfrm>
            <a:off x="457200" y="5742432"/>
            <a:ext cx="11155680" cy="347472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57200" y="5394960"/>
            <a:ext cx="11155680" cy="347472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" y="5047488"/>
            <a:ext cx="11155680" cy="347472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57200" y="4700016"/>
            <a:ext cx="11155680" cy="34747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4352544"/>
            <a:ext cx="11155680" cy="347472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4005072"/>
            <a:ext cx="11155680" cy="34747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657600"/>
            <a:ext cx="111556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3310128"/>
            <a:ext cx="11155680" cy="347472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2962656"/>
            <a:ext cx="11155680" cy="347472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2615184"/>
            <a:ext cx="11155680" cy="347472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267712"/>
            <a:ext cx="11155680" cy="347472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920240"/>
            <a:ext cx="11155680" cy="347472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36192"/>
            <a:ext cx="11155680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Fixed Effects — Key Predictors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666666"/>
                </a:solidFill>
                <a:latin typeface="Calibri"/>
              </a:defRPr>
            </a:pPr>
            <a:r>
              <a:t>Effects on log-odds scale; interpretable as multiplicative changes in odds (OR = exp(beta))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FFFFFF"/>
                </a:solidFill>
                <a:latin typeface="Calibri"/>
              </a:defRPr>
            </a:pPr>
            <a:r>
              <a:t>Variable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554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FFFFFF"/>
                </a:solidFill>
                <a:latin typeface="Calibri"/>
              </a:defRPr>
            </a:pPr>
            <a:r>
              <a:t>Post. Mean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554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FFFFFF"/>
                </a:solidFill>
                <a:latin typeface="Calibri"/>
              </a:defRPr>
            </a:pPr>
            <a:r>
              <a:t>95% CrI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5544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FFFFFF"/>
                </a:solidFill>
                <a:latin typeface="Calibri"/>
              </a:defRPr>
            </a:pPr>
            <a:r>
              <a:t>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FFFFFF"/>
                </a:solidFill>
                <a:latin typeface="Calibri"/>
              </a:defRPr>
            </a:pPr>
            <a:r>
              <a:t>Variable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554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FFFFFF"/>
                </a:solidFill>
                <a:latin typeface="Calibri"/>
              </a:defRPr>
            </a:pPr>
            <a:r>
              <a:t>Post. Mean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554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FFFFFF"/>
                </a:solidFill>
                <a:latin typeface="Calibri"/>
              </a:defRPr>
            </a:pPr>
            <a:r>
              <a:t>95% CrI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15544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FFFFFF"/>
                </a:solidFill>
                <a:latin typeface="Calibri"/>
              </a:defRPr>
            </a:pPr>
            <a:r>
              <a:t>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9202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diag1 Neoplasms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19202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-0.507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920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[-0.792, -0.217]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19202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0.602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26771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comorbid neoplasms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226771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+0.415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26771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[0.198, 0.631]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26771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1.514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61518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diag1 Respiratory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261518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-0.360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61518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[-0.519, -0.200]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61518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0.698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2962656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A1C 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96265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+0.352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96265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[0.154, 0.552]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296265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1.422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31012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diag1 Other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0" y="331012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-0.347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33101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[-0.515, -0.181]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33101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0.707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36576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0">
                <a:solidFill>
                  <a:srgbClr val="666666"/>
                </a:solidFill>
                <a:latin typeface="Calibri"/>
              </a:defRPr>
            </a:pPr>
            <a:r>
              <a:t>glu 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36576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0">
                <a:solidFill>
                  <a:srgbClr val="666666"/>
                </a:solidFill>
                <a:latin typeface="Calibri"/>
              </a:defRPr>
            </a:pPr>
            <a:r>
              <a:t>+0.228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3657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0">
                <a:solidFill>
                  <a:srgbClr val="666666"/>
                </a:solidFill>
                <a:latin typeface="Calibri"/>
              </a:defRPr>
            </a:pPr>
            <a:r>
              <a:t>[-0.109, 0.559]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3657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0">
                <a:solidFill>
                  <a:srgbClr val="666666"/>
                </a:solidFill>
                <a:latin typeface="Calibri"/>
              </a:defRPr>
            </a:pPr>
            <a:r>
              <a:t>1.256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400507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0">
                <a:solidFill>
                  <a:srgbClr val="666666"/>
                </a:solidFill>
                <a:latin typeface="Calibri"/>
              </a:defRPr>
            </a:pPr>
            <a:r>
              <a:t>diag1 Digestive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0" y="400507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0">
                <a:solidFill>
                  <a:srgbClr val="666666"/>
                </a:solidFill>
                <a:latin typeface="Calibri"/>
              </a:defRPr>
            </a:pPr>
            <a:r>
              <a:t>-0.217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40050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0">
                <a:solidFill>
                  <a:srgbClr val="666666"/>
                </a:solidFill>
                <a:latin typeface="Calibri"/>
              </a:defRPr>
            </a:pPr>
            <a:r>
              <a:t>[-0.435, 0.003]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0" y="40050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0">
                <a:solidFill>
                  <a:srgbClr val="666666"/>
                </a:solidFill>
                <a:latin typeface="Calibri"/>
              </a:defRPr>
            </a:pPr>
            <a:r>
              <a:t>0.805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435254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number inpatient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03520" y="435254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+0.201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0" y="435254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[0.175, 0.227]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0" y="43525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1.222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4700016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0">
                <a:solidFill>
                  <a:srgbClr val="666666"/>
                </a:solidFill>
                <a:latin typeface="Calibri"/>
              </a:defRPr>
            </a:pPr>
            <a:r>
              <a:t>diag1 Mental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0" y="470001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0">
                <a:solidFill>
                  <a:srgbClr val="666666"/>
                </a:solidFill>
                <a:latin typeface="Calibri"/>
              </a:defRPr>
            </a:pPr>
            <a:r>
              <a:t>-0.194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470001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0">
                <a:solidFill>
                  <a:srgbClr val="666666"/>
                </a:solidFill>
                <a:latin typeface="Calibri"/>
              </a:defRPr>
            </a:pPr>
            <a:r>
              <a:t>[-0.549, 0.156]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01200" y="47000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0">
                <a:solidFill>
                  <a:srgbClr val="666666"/>
                </a:solidFill>
                <a:latin typeface="Calibri"/>
              </a:defRPr>
            </a:pPr>
            <a:r>
              <a:t>0.824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504748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diabetes med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03520" y="50474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+0.168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0" y="504748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[0.057, 0.277]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01200" y="50474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1.183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53949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age numeric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03520" y="539496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+0.165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5394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[0.123, 0.208]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01200" y="5394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1.179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574243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number diagnoses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03520" y="574243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+0.154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0" y="57424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[0.111, 0.199]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01200" y="57424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C2C2C"/>
                </a:solidFill>
                <a:latin typeface="Calibri"/>
              </a:defRPr>
            </a:pPr>
            <a:r>
              <a:t>1.167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640" y="6181344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0">
                <a:solidFill>
                  <a:srgbClr val="C0392B"/>
                </a:solidFill>
                <a:latin typeface="Calibri"/>
              </a:defRPr>
            </a:pPr>
            <a:r>
              <a:t>Highlighted rows: 95% credible interval excludes zero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Specialty Random Effects &amp; Shrinkage</a:t>
            </a:r>
          </a:p>
        </p:txBody>
      </p:sp>
      <p:pic>
        <p:nvPicPr>
          <p:cNvPr id="4" name="Picture 3" descr="fig4_specialty_random_eff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31520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0" y="1371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1">
                <a:solidFill>
                  <a:srgbClr val="233D6B"/>
                </a:solidFill>
                <a:latin typeface="Calibri"/>
              </a:defRPr>
            </a:pPr>
            <a:r>
              <a:t>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64592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u_j = deviation from</a:t>
            </a:r>
            <a:br/>
            <a:r>
              <a:t>population-average</a:t>
            </a:r>
            <a:br/>
            <a:r>
              <a:t>log-odds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2377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1">
                <a:solidFill>
                  <a:srgbClr val="233D6B"/>
                </a:solidFill>
                <a:latin typeface="Calibri"/>
              </a:defRPr>
            </a:pPr>
            <a:r>
              <a:t>Highest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6517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Physical Med &amp; Rehab</a:t>
            </a:r>
            <a:br/>
            <a:r>
              <a:t>(u ~ +0.5)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3383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1">
                <a:solidFill>
                  <a:srgbClr val="233D6B"/>
                </a:solidFill>
                <a:latin typeface="Calibri"/>
              </a:defRPr>
            </a:pPr>
            <a:r>
              <a:t>Lowest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65760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Pediatrics, OB/Gyn</a:t>
            </a:r>
            <a:br/>
            <a:r>
              <a:t>(u ~ -0.5 to -1.0)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43891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1">
                <a:solidFill>
                  <a:srgbClr val="233D6B"/>
                </a:solidFill>
                <a:latin typeface="Calibri"/>
              </a:defRPr>
            </a:pPr>
            <a:r>
              <a:t>Shrinkage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466344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Small-sample groups</a:t>
            </a:r>
            <a:br/>
            <a:r>
              <a:t>pulled toward the</a:t>
            </a:r>
            <a:br/>
            <a:r>
              <a:t>population mean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5394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1">
                <a:solidFill>
                  <a:srgbClr val="233D6B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566928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666666"/>
                </a:solidFill>
                <a:latin typeface="Calibri"/>
              </a:defRPr>
            </a:pPr>
            <a:r>
              <a:t>Partial pooling</a:t>
            </a:r>
            <a:br/>
            <a:r>
              <a:t>stabilizes estimates</a:t>
            </a:r>
            <a:br/>
            <a:r>
              <a:t>for rare specialties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Heterogeneity Scale tau  —  Core Finding</a:t>
            </a:r>
          </a:p>
        </p:txBody>
      </p:sp>
      <p:pic>
        <p:nvPicPr>
          <p:cNvPr id="4" name="Picture 3" descr="fig_tau_pos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4008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1371600"/>
            <a:ext cx="4389120" cy="3200400"/>
          </a:xfrm>
          <a:prstGeom prst="roundRect">
            <a:avLst/>
          </a:prstGeom>
          <a:solidFill>
            <a:srgbClr val="E8F0FE"/>
          </a:solidFill>
          <a:ln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5544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defRPr sz="1800" b="1">
                <a:solidFill>
                  <a:srgbClr val="233D6B"/>
                </a:solidFill>
                <a:latin typeface="Calibri"/>
              </a:defRPr>
            </a:pPr>
            <a:r>
              <a:t>tau Posterior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0116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0">
                <a:solidFill>
                  <a:srgbClr val="666666"/>
                </a:solidFill>
                <a:latin typeface="Calibri"/>
              </a:defRPr>
            </a:pPr>
            <a:r>
              <a:t>Posterior mean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2011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233D6B"/>
                </a:solidFill>
                <a:latin typeface="Calibri"/>
              </a:defRPr>
            </a:pPr>
            <a:r>
              <a:t>0.437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377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0">
                <a:solidFill>
                  <a:srgbClr val="666666"/>
                </a:solidFill>
                <a:latin typeface="Calibri"/>
              </a:defRPr>
            </a:pPr>
            <a:r>
              <a:t>Posterior SD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2377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233D6B"/>
                </a:solidFill>
                <a:latin typeface="Calibri"/>
              </a:defRPr>
            </a:pPr>
            <a:r>
              <a:t>0.090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743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0">
                <a:solidFill>
                  <a:srgbClr val="666666"/>
                </a:solidFill>
                <a:latin typeface="Calibri"/>
              </a:defRPr>
            </a:pPr>
            <a:r>
              <a:t>95% CrI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2743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233D6B"/>
                </a:solidFill>
                <a:latin typeface="Calibri"/>
              </a:defRPr>
            </a:pPr>
            <a:r>
              <a:t>[0.298, 0.644]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486400"/>
            <a:ext cx="10515600" cy="9144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1E82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577840"/>
            <a:ext cx="9784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80"/>
              </a:lnSpc>
              <a:defRPr sz="1600" b="1">
                <a:solidFill>
                  <a:srgbClr val="1E8249"/>
                </a:solidFill>
                <a:latin typeface="Calibri"/>
              </a:defRPr>
            </a:pPr>
            <a:r>
              <a:t>Posterior mass clearly away from zero --&gt; strong evidence of between-specialty heterogeneity.</a:t>
            </a:r>
            <a:br/>
            <a:r>
              <a:t>Answer: Specialty heterogeneity exists and is reliably estimated,</a:t>
            </a:r>
            <a:br/>
            <a:r>
              <a:t>but patient-level covariates remain the primary driver of readmission.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Posterior Predictive Check &amp; Model Comparison</a:t>
            </a:r>
          </a:p>
        </p:txBody>
      </p:sp>
      <p:pic>
        <p:nvPicPr>
          <p:cNvPr id="4" name="Picture 3" descr="fig5_posterior_predi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8580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498079" y="1188720"/>
            <a:ext cx="4389120" cy="2743200"/>
          </a:xfrm>
          <a:prstGeom prst="roundRect">
            <a:avLst/>
          </a:prstGeom>
          <a:solidFill>
            <a:srgbClr val="F5F7FA"/>
          </a:solidFill>
          <a:ln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12801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233D6B"/>
                </a:solidFill>
                <a:latin typeface="Calibri"/>
              </a:defRPr>
            </a:pPr>
            <a:r>
              <a:t>Model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737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33D6B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737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33D6B"/>
                </a:solidFill>
                <a:latin typeface="Calibri"/>
              </a:defRPr>
            </a:pPr>
            <a:r>
              <a:t>AUC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1737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233D6B"/>
                </a:solidFill>
                <a:latin typeface="Calibri"/>
              </a:defRPr>
            </a:pPr>
            <a:r>
              <a:t>Brier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0299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0">
                <a:solidFill>
                  <a:srgbClr val="2C2C2C"/>
                </a:solidFill>
                <a:latin typeface="Calibri"/>
              </a:defRPr>
            </a:pPr>
            <a:r>
              <a:t>No Specialty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20299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0">
                <a:solidFill>
                  <a:srgbClr val="2C2C2C"/>
                </a:solidFill>
                <a:latin typeface="Calibri"/>
              </a:defRPr>
            </a:pPr>
            <a:r>
              <a:t>0.629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20299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0">
                <a:solidFill>
                  <a:srgbClr val="2C2C2C"/>
                </a:solidFill>
                <a:latin typeface="Calibri"/>
              </a:defRPr>
            </a:pPr>
            <a:r>
              <a:t>0.085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32257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0">
                <a:solidFill>
                  <a:srgbClr val="2C2C2C"/>
                </a:solidFill>
                <a:latin typeface="Calibri"/>
              </a:defRPr>
            </a:pPr>
            <a:r>
              <a:t>Fixed Effects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32257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0">
                <a:solidFill>
                  <a:srgbClr val="2C2C2C"/>
                </a:solidFill>
                <a:latin typeface="Calibri"/>
              </a:defRPr>
            </a:pPr>
            <a:r>
              <a:t>0.641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232257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0">
                <a:solidFill>
                  <a:srgbClr val="2C2C2C"/>
                </a:solidFill>
                <a:latin typeface="Calibri"/>
              </a:defRPr>
            </a:pPr>
            <a:r>
              <a:t>0.085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61518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1E8249"/>
                </a:solidFill>
                <a:latin typeface="Calibri"/>
              </a:defRPr>
            </a:pPr>
            <a:r>
              <a:t>Hierarchical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61518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1E8249"/>
                </a:solidFill>
                <a:latin typeface="Calibri"/>
              </a:defRPr>
            </a:pPr>
            <a:r>
              <a:t>0.641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261518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defRPr sz="1300" b="1">
                <a:solidFill>
                  <a:srgbClr val="1E8249"/>
                </a:solidFill>
                <a:latin typeface="Calibri"/>
              </a:defRPr>
            </a:pPr>
            <a:r>
              <a:t>0.085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090672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233D6B"/>
                </a:solidFill>
                <a:latin typeface="Calibri"/>
              </a:defRPr>
            </a:pPr>
            <a:r>
              <a:t>DIC = 23,254</a:t>
            </a:r>
            <a:br/>
            <a:r>
              <a:t>(Hierarchical &lt; No-specialty)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486400"/>
            <a:ext cx="10515600" cy="822960"/>
          </a:xfrm>
          <a:prstGeom prst="roundRect">
            <a:avLst/>
          </a:prstGeom>
          <a:solidFill>
            <a:srgbClr val="E8F0FE"/>
          </a:solidFill>
          <a:ln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577840"/>
            <a:ext cx="9784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80"/>
              </a:lnSpc>
              <a:defRPr sz="1600" b="1">
                <a:solidFill>
                  <a:srgbClr val="233D6B"/>
                </a:solidFill>
                <a:latin typeface="Calibri"/>
              </a:defRPr>
            </a:pPr>
            <a:r>
              <a:t>Model captures both first-order (mean readmission rate) and second-order (specialty variance) structure.</a:t>
            </a:r>
            <a:br/>
            <a:r>
              <a:t>PPC confirms model adequacy: replicated statistics consistent with observed data.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2834640"/>
            <a:ext cx="1828800" cy="54864"/>
          </a:xfrm>
          <a:prstGeom prst="rect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680"/>
              </a:lnSpc>
              <a:defRPr sz="3600" b="1">
                <a:solidFill>
                  <a:srgbClr val="FFFFFF"/>
                </a:solidFill>
                <a:latin typeface="Calibri"/>
              </a:defRPr>
            </a:pPr>
            <a:r>
              <a:t>Part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defRPr sz="2000" b="0">
                <a:solidFill>
                  <a:srgbClr val="3A7CA5"/>
                </a:solidFill>
                <a:latin typeface="Calibri"/>
              </a:defRPr>
            </a:pPr>
            <a:r>
              <a:t>Sensitivity &amp; Robustness Analysis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Sensitivity Analysis — Prior 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1">
                <a:solidFill>
                  <a:srgbClr val="233D6B"/>
                </a:solidFill>
                <a:latin typeface="Calibri"/>
              </a:defRPr>
            </a:pPr>
            <a:r>
              <a:t>Alternative Prior Configurations: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3A7CA5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645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2C2C2C"/>
                </a:solidFill>
                <a:latin typeface="Calibri"/>
              </a:defRPr>
            </a:pPr>
            <a:r>
              <a:t>s_beta = 2.5,  s_tau = 1.0  (Half-Normal)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38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3A7CA5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9385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2C2C2C"/>
                </a:solidFill>
                <a:latin typeface="Calibri"/>
              </a:defRPr>
            </a:pPr>
            <a:r>
              <a:t>s_beta = 5.0  (doubled)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311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3A7CA5"/>
                </a:solidFill>
                <a:latin typeface="Calibri"/>
              </a:defRPr>
            </a:pPr>
            <a:r>
              <a:t>B1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23113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2C2C2C"/>
                </a:solidFill>
                <a:latin typeface="Calibri"/>
              </a:defRPr>
            </a:pPr>
            <a:r>
              <a:t>s_tau = 2.5  (Half-Normal, wider)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237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1">
                <a:solidFill>
                  <a:srgbClr val="3A7CA5"/>
                </a:solidFill>
                <a:latin typeface="Calibri"/>
              </a:defRPr>
            </a:pPr>
            <a:r>
              <a:t>B2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52374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2C2C2C"/>
                </a:solidFill>
                <a:latin typeface="Calibri"/>
              </a:defRPr>
            </a:pPr>
            <a:r>
              <a:t>s_tau = 2.5  (Half-Cauchy, heavier tails)</a:t>
            </a:r>
          </a:p>
        </p:txBody>
      </p:sp>
      <p:pic>
        <p:nvPicPr>
          <p:cNvPr id="13" name="Picture 12" descr="fig6_sensitivity_t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00400"/>
            <a:ext cx="5943600" cy="32004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583680" y="3200400"/>
            <a:ext cx="5303520" cy="3200400"/>
          </a:xfrm>
          <a:prstGeom prst="roundRect">
            <a:avLst/>
          </a:prstGeom>
          <a:solidFill>
            <a:srgbClr val="E8F5E9"/>
          </a:solidFill>
          <a:ln>
            <a:solidFill>
              <a:srgbClr val="1E82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33832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2C2C2C"/>
                </a:solidFill>
                <a:latin typeface="Calibri"/>
              </a:defRPr>
            </a:pPr>
            <a:r>
              <a:t>tau range across configs:  &lt; 0.05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7033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2C2C2C"/>
                </a:solidFill>
                <a:latin typeface="Calibri"/>
              </a:defRPr>
            </a:pPr>
            <a:r>
              <a:t>Beta variation:  &lt; 0.02 for top predictors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0233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2C2C2C"/>
                </a:solidFill>
                <a:latin typeface="Calibri"/>
              </a:defRPr>
            </a:pPr>
            <a:r>
              <a:t>Specialty ranking:  Spearman rho &gt; 0.95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43434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2C2C2C"/>
                </a:solidFill>
                <a:latin typeface="Calibri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858000" y="46634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1">
                <a:solidFill>
                  <a:srgbClr val="1E8249"/>
                </a:solidFill>
                <a:latin typeface="Calibri"/>
              </a:defRPr>
            </a:pPr>
            <a:r>
              <a:t>Conclusion: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49834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1">
                <a:solidFill>
                  <a:srgbClr val="1E8249"/>
                </a:solidFill>
                <a:latin typeface="Calibri"/>
              </a:defRPr>
            </a:pPr>
            <a:r>
              <a:t>Posterior is likelihood-dominated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53035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1">
                <a:solidFill>
                  <a:srgbClr val="1E8249"/>
                </a:solidFill>
                <a:latin typeface="Calibri"/>
              </a:defRPr>
            </a:pPr>
            <a:r>
              <a:t>for key parameters.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5623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1">
                <a:solidFill>
                  <a:srgbClr val="1E8249"/>
                </a:solidFill>
                <a:latin typeface="Calibri"/>
              </a:defRPr>
            </a:pPr>
            <a:r>
              <a:t>Results are robust to prior choice.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2834640"/>
            <a:ext cx="1828800" cy="54864"/>
          </a:xfrm>
          <a:prstGeom prst="rect">
            <a:avLst/>
          </a:prstGeom>
          <a:solidFill>
            <a:srgbClr val="3A7C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680"/>
              </a:lnSpc>
              <a:defRPr sz="3600" b="1">
                <a:solidFill>
                  <a:srgbClr val="FFFFFF"/>
                </a:solidFill>
                <a:latin typeface="Calibri"/>
              </a:defRPr>
            </a:pPr>
            <a:r>
              <a:t>Part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defRPr sz="2000" b="0">
                <a:solidFill>
                  <a:srgbClr val="3A7CA5"/>
                </a:solidFill>
                <a:latin typeface="Calibri"/>
              </a:defRPr>
            </a:pPr>
            <a:r>
              <a:t>Conclusion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10972800" cy="9144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1">
                <a:solidFill>
                  <a:srgbClr val="233D6B"/>
                </a:solidFill>
                <a:latin typeface="Calibri"/>
              </a:defRPr>
            </a:pPr>
            <a:r>
              <a:t>Specialty heterogeneity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2C2C2C"/>
                </a:solidFill>
                <a:latin typeface="Calibri"/>
              </a:defRPr>
            </a:pPr>
            <a:r>
              <a:t>tau posterior clearly away from zero (95% CrI [0.30, 0.64])</a:t>
            </a:r>
            <a:br/>
            <a:r>
              <a:t>--&gt; Strong evidence of between-specialty variation in readmission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10972800" cy="9144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1">
                <a:solidFill>
                  <a:srgbClr val="233D6B"/>
                </a:solidFill>
                <a:latin typeface="Calibri"/>
              </a:defRPr>
            </a:pPr>
            <a:r>
              <a:t>Patient-level drivers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2C2C2C"/>
                </a:solidFill>
                <a:latin typeface="Calibri"/>
              </a:defRPr>
            </a:pPr>
            <a:r>
              <a:t>Prior inpatient visits, comorbid neoplasms, diabetes medication, number of diagnoses</a:t>
            </a:r>
            <a:br/>
            <a:r>
              <a:t>are the primary predictors of readmission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83280"/>
            <a:ext cx="10972800" cy="9144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29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1">
                <a:solidFill>
                  <a:srgbClr val="233D6B"/>
                </a:solidFill>
                <a:latin typeface="Calibri"/>
              </a:defRPr>
            </a:pPr>
            <a:r>
              <a:t>Partial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490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2C2C2C"/>
                </a:solidFill>
                <a:latin typeface="Calibri"/>
              </a:defRPr>
            </a:pPr>
            <a:r>
              <a:t>Hierarchical model stabilizes estimates for small specialties via shrinkage</a:t>
            </a:r>
            <a:br/>
            <a:r>
              <a:t>toward the population mean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34840"/>
            <a:ext cx="10972800" cy="9144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480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1">
                <a:solidFill>
                  <a:srgbClr val="233D6B"/>
                </a:solidFill>
                <a:latin typeface="Calibri"/>
              </a:defRPr>
            </a:pPr>
            <a:r>
              <a:t>Model adequacy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8006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2C2C2C"/>
                </a:solidFill>
                <a:latin typeface="Calibri"/>
              </a:defRPr>
            </a:pPr>
            <a:r>
              <a:t>PPC confirms model captures both mean and variance structure;</a:t>
            </a:r>
            <a:br/>
            <a:r>
              <a:t>DIC favors hierarchical over no-specialty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86400"/>
            <a:ext cx="10972800" cy="9144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3A7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532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1">
                <a:solidFill>
                  <a:srgbClr val="233D6B"/>
                </a:solidFill>
                <a:latin typeface="Calibri"/>
              </a:defRPr>
            </a:pPr>
            <a:r>
              <a:t>Robustness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521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defRPr sz="1400" b="0">
                <a:solidFill>
                  <a:srgbClr val="2C2C2C"/>
                </a:solidFill>
                <a:latin typeface="Calibri"/>
              </a:defRPr>
            </a:pPr>
            <a:r>
              <a:t>Conclusions stable across alternative prior specifications;</a:t>
            </a:r>
            <a:br/>
            <a:r>
              <a:t>posterior is likelihood-dominated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defRPr sz="2800" b="1">
                <a:solidFill>
                  <a:srgbClr val="FFFFFF"/>
                </a:solidFill>
                <a:latin typeface="Calibri"/>
              </a:defRPr>
            </a:pPr>
            <a:r>
              <a:t>Limitations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defRPr sz="2000" b="1">
                <a:solidFill>
                  <a:srgbClr val="C0392B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2C2C2C"/>
                </a:solidFill>
                <a:latin typeface="Calibri"/>
              </a:defRPr>
            </a:pPr>
            <a:r>
              <a:t>Data vintage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8288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666666"/>
                </a:solidFill>
                <a:latin typeface="Calibri"/>
              </a:defRPr>
            </a:pPr>
            <a:r>
              <a:t>Dataset from 1999-2008;  ICD-9 has since transitioned to ICD-10;</a:t>
            </a:r>
            <a:br/>
            <a:r>
              <a:t>clinical practices may have evolved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2C2C2C"/>
                </a:solidFill>
                <a:latin typeface="Calibri"/>
              </a:defRPr>
            </a:pPr>
            <a:r>
              <a:t>Selection bias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68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666666"/>
                </a:solidFill>
                <a:latin typeface="Calibri"/>
              </a:defRPr>
            </a:pPr>
            <a:r>
              <a:t>Excluded 45.7% of encounters with unknown specialty;</a:t>
            </a:r>
            <a:br/>
            <a:r>
              <a:t>remaining cohort may not be fully representative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2C2C2C"/>
                </a:solidFill>
                <a:latin typeface="Calibri"/>
              </a:defRPr>
            </a:pPr>
            <a:r>
              <a:t>Model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1089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666666"/>
                </a:solidFill>
                <a:latin typeface="Calibri"/>
              </a:defRPr>
            </a:pPr>
            <a:r>
              <a:t>Random intercepts only (no random slopes);</a:t>
            </a:r>
            <a:br/>
            <a:r>
              <a:t>assumes specialty effect is constant across patient profiles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defRPr sz="2000" b="1">
                <a:solidFill>
                  <a:srgbClr val="1E8249"/>
                </a:solidFill>
                <a:latin typeface="Calibri"/>
              </a:defRPr>
            </a:pPr>
            <a:r>
              <a:t>Future Directions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80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Add temporal effects (year/season) to capture time trends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92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Incorporate hospital-level hierarchy (patients nested in hospitals nested in specialties)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Extend to random slopes for key covariates (e.g., age x specialty interaction)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715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Apply to modern datasets with ICD-10 coding and broader demographic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00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40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Thank you!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